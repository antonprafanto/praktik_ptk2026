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6" r:id="rId17"/>
    <p:sldId id="277" r:id="rId18"/>
    <p:sldId id="273" r:id="rId19"/>
    <p:sldId id="274" r:id="rId20"/>
    <p:sldId id="275" r:id="rId21"/>
    <p:sldId id="271" r:id="rId22"/>
    <p:sldId id="272" r:id="rId2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109728" cy="68580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Oval 6"/>
          <p:cNvSpPr/>
          <p:nvPr/>
        </p:nvSpPr>
        <p:spPr>
          <a:xfrm>
            <a:off x="8531352" y="-457200"/>
            <a:ext cx="3657600" cy="36576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Oval 7"/>
          <p:cNvSpPr/>
          <p:nvPr/>
        </p:nvSpPr>
        <p:spPr>
          <a:xfrm>
            <a:off x="9445752" y="457200"/>
            <a:ext cx="2743200" cy="27432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777240" y="320040"/>
            <a:ext cx="9144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  <a:latin typeface="Calibri"/>
              </a:rPr>
              <a:t>FAKULTAS PETERNAKAN  |  UNIVERSITAS MULAWARMAN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914400"/>
            <a:ext cx="8229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6FBF73"/>
                </a:solidFill>
                <a:latin typeface="Segoe UI Emoji"/>
              </a:rPr>
              <a:t>🌐  📡  🐄  💻  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554480"/>
            <a:ext cx="9144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 i="0">
                <a:solidFill>
                  <a:srgbClr val="FFFFFF"/>
                </a:solidFill>
                <a:latin typeface="Calibri"/>
              </a:rPr>
              <a:t>INTERNET of THINGS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14600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5A623"/>
                </a:solidFill>
                <a:latin typeface="Calibri"/>
              </a:rPr>
              <a:t>(IoT)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9144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 dirty="0" err="1">
                <a:solidFill>
                  <a:srgbClr val="6FBF73"/>
                </a:solidFill>
                <a:latin typeface="Calibri"/>
              </a:rPr>
              <a:t>Teknologi</a:t>
            </a:r>
            <a:r>
              <a:rPr sz="3200" b="0" i="0" dirty="0">
                <a:solidFill>
                  <a:srgbClr val="6FBF73"/>
                </a:solidFill>
                <a:latin typeface="Calibri"/>
              </a:rPr>
              <a:t> Pintar </a:t>
            </a:r>
            <a:r>
              <a:rPr sz="3200" b="0" i="0" dirty="0" err="1">
                <a:solidFill>
                  <a:srgbClr val="6FBF73"/>
                </a:solidFill>
                <a:latin typeface="Calibri"/>
              </a:rPr>
              <a:t>untuk</a:t>
            </a:r>
            <a:r>
              <a:rPr sz="32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3200" b="0" i="0" dirty="0" err="1">
                <a:solidFill>
                  <a:srgbClr val="6FBF73"/>
                </a:solidFill>
                <a:latin typeface="Calibri"/>
              </a:rPr>
              <a:t>Peternakan</a:t>
            </a:r>
            <a:r>
              <a:rPr sz="3200" b="0" i="0" dirty="0">
                <a:solidFill>
                  <a:srgbClr val="6FBF73"/>
                </a:solidFill>
                <a:latin typeface="Calibri"/>
              </a:rPr>
              <a:t> Modern </a:t>
            </a:r>
            <a:r>
              <a:rPr sz="3200" b="0" i="0" dirty="0" err="1">
                <a:solidFill>
                  <a:srgbClr val="6FBF73"/>
                </a:solidFill>
                <a:latin typeface="Calibri"/>
              </a:rPr>
              <a:t>Kaltim</a:t>
            </a:r>
            <a:endParaRPr sz="3200" b="0" i="0" dirty="0">
              <a:solidFill>
                <a:srgbClr val="6FBF73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77240" y="3886200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777240" y="4005072"/>
            <a:ext cx="9144000" cy="6976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b="0">
                <a:solidFill>
                  <a:srgbClr val="F5F5F0"/>
                </a:solidFill>
                <a:latin typeface="Calibri"/>
              </a:rPr>
              <a:t>Materi Pengenalan Praktis &amp; Populer untuk Mahasiswa</a:t>
            </a:r>
          </a:p>
          <a:p>
            <a:pPr algn="l">
              <a:spcAft>
                <a:spcPts val="400"/>
              </a:spcAft>
            </a:pPr>
            <a:r>
              <a:rPr b="0">
                <a:solidFill>
                  <a:srgbClr val="F5F5F0"/>
                </a:solidFill>
                <a:latin typeface="Calibri"/>
              </a:rPr>
              <a:t>TIDAK memerlukan latar belakang IT, coding, atau elektronika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217920"/>
            <a:ext cx="2743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>
                <a:solidFill>
                  <a:srgbClr val="F5A623"/>
                </a:solidFill>
                <a:latin typeface="Calibri"/>
              </a:rPr>
              <a:t>Samarinda</a:t>
            </a:r>
            <a:r>
              <a:rPr sz="2400" b="1" i="0" dirty="0">
                <a:solidFill>
                  <a:srgbClr val="F5A623"/>
                </a:solidFill>
                <a:latin typeface="Calibri"/>
              </a:rPr>
              <a:t>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📋  Agenda Materi Kuliah — IoT untuk Peternakan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600" y="1361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Rounded Rectangle 7"/>
          <p:cNvSpPr/>
          <p:nvPr/>
        </p:nvSpPr>
        <p:spPr>
          <a:xfrm>
            <a:off x="211328" y="14711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TextBox 8"/>
          <p:cNvSpPr txBox="1"/>
          <p:nvPr/>
        </p:nvSpPr>
        <p:spPr>
          <a:xfrm>
            <a:off x="211328" y="1498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6592" y="145288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🛡️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960" y="1489456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Mitos vs Fakta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960" y="1928368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Mahasiswa Fapet
harus bisa coding?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34104" y="1361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Rounded Rectangle 13"/>
          <p:cNvSpPr/>
          <p:nvPr/>
        </p:nvSpPr>
        <p:spPr>
          <a:xfrm>
            <a:off x="4243832" y="14711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4243832" y="1498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9096" y="145288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8464" y="1489456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Apa itu IoT?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28464" y="1928368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Sensor → Cloud
→ HP kamu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6608" y="1361440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Rounded Rectangle 19"/>
          <p:cNvSpPr/>
          <p:nvPr/>
        </p:nvSpPr>
        <p:spPr>
          <a:xfrm>
            <a:off x="8276336" y="14711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TextBox 20"/>
          <p:cNvSpPr txBox="1"/>
          <p:nvPr/>
        </p:nvSpPr>
        <p:spPr>
          <a:xfrm>
            <a:off x="8276336" y="14986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31600" y="145288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60968" y="1489456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IoT di Peternakan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0968" y="1928368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6 aplikasi nyata
di kandang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600" y="2888488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211328" y="2998216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211328" y="302564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66592" y="2979928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🗺️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960" y="3016504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Studi Kasus Kaltim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5960" y="3455416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SISKA, GPS Collar
Sapi Bali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34104" y="2888488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2" name="Rounded Rectangle 31"/>
          <p:cNvSpPr/>
          <p:nvPr/>
        </p:nvSpPr>
        <p:spPr>
          <a:xfrm>
            <a:off x="4243832" y="2998216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TextBox 32"/>
          <p:cNvSpPr txBox="1"/>
          <p:nvPr/>
        </p:nvSpPr>
        <p:spPr>
          <a:xfrm>
            <a:off x="4243832" y="302564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9096" y="2979928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8464" y="3016504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Kuis Interaktif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8464" y="3455416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Tebak yang pakai
IoT vs bukan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66608" y="2888488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8" name="Rounded Rectangle 37"/>
          <p:cNvSpPr/>
          <p:nvPr/>
        </p:nvSpPr>
        <p:spPr>
          <a:xfrm>
            <a:off x="8276336" y="2998216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9" name="TextBox 38"/>
          <p:cNvSpPr txBox="1"/>
          <p:nvPr/>
        </p:nvSpPr>
        <p:spPr>
          <a:xfrm>
            <a:off x="8276336" y="3025648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531600" y="2979928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60968" y="3016504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Peluang Karir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60968" y="3455416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Profesi baru
lulusan Fapet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600" y="441553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4" name="Rounded Rectangle 43"/>
          <p:cNvSpPr/>
          <p:nvPr/>
        </p:nvSpPr>
        <p:spPr>
          <a:xfrm>
            <a:off x="211328" y="4525264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5" name="TextBox 44"/>
          <p:cNvSpPr txBox="1"/>
          <p:nvPr/>
        </p:nvSpPr>
        <p:spPr>
          <a:xfrm>
            <a:off x="211328" y="45526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66592" y="450697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960" y="4543552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249EDA"/>
                </a:solidFill>
                <a:latin typeface="Calibri"/>
              </a:rPr>
              <a:t>Telegram Bot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5960" y="4982464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HP = Dashboard
kandang 24 jam!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11328" y="5531104"/>
            <a:ext cx="868680" cy="228600"/>
          </a:xfrm>
          <a:prstGeom prst="roundRect">
            <a:avLst>
              <a:gd name="adj" fmla="val 4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0" name="TextBox 49"/>
          <p:cNvSpPr txBox="1"/>
          <p:nvPr/>
        </p:nvSpPr>
        <p:spPr>
          <a:xfrm>
            <a:off x="211328" y="5540248"/>
            <a:ext cx="85039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82828"/>
                </a:solidFill>
                <a:latin typeface="Calibri"/>
              </a:rPr>
              <a:t>✨ BARU!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34104" y="441553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2" name="Rounded Rectangle 51"/>
          <p:cNvSpPr/>
          <p:nvPr/>
        </p:nvSpPr>
        <p:spPr>
          <a:xfrm>
            <a:off x="4243832" y="4525264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3" name="TextBox 52"/>
          <p:cNvSpPr txBox="1"/>
          <p:nvPr/>
        </p:nvSpPr>
        <p:spPr>
          <a:xfrm>
            <a:off x="4243832" y="45526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9096" y="450697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🧪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8464" y="4543552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249EDA"/>
                </a:solidFill>
                <a:latin typeface="Calibri"/>
              </a:rPr>
              <a:t>Praktikum Wokwi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728464" y="4982464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Simulasi IoT
tanpa hardware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243832" y="5531104"/>
            <a:ext cx="868680" cy="228600"/>
          </a:xfrm>
          <a:prstGeom prst="roundRect">
            <a:avLst>
              <a:gd name="adj" fmla="val 4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8" name="TextBox 57"/>
          <p:cNvSpPr txBox="1"/>
          <p:nvPr/>
        </p:nvSpPr>
        <p:spPr>
          <a:xfrm>
            <a:off x="4243832" y="5540248"/>
            <a:ext cx="85039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82828"/>
                </a:solidFill>
                <a:latin typeface="Calibri"/>
              </a:rPr>
              <a:t>✨ BARU!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166608" y="4415536"/>
            <a:ext cx="3931920" cy="14173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0" name="Rounded Rectangle 59"/>
          <p:cNvSpPr/>
          <p:nvPr/>
        </p:nvSpPr>
        <p:spPr>
          <a:xfrm>
            <a:off x="8276336" y="4525264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1" name="TextBox 60"/>
          <p:cNvSpPr txBox="1"/>
          <p:nvPr/>
        </p:nvSpPr>
        <p:spPr>
          <a:xfrm>
            <a:off x="8276336" y="4552696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F14"/>
                </a:solidFill>
                <a:latin typeface="Calibri"/>
              </a:rPr>
              <a:t>09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531600" y="450697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💡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60968" y="4543552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FFFF"/>
                </a:solidFill>
                <a:latin typeface="Calibri"/>
              </a:rPr>
              <a:t>Kesimpulan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60968" y="4982464"/>
            <a:ext cx="3200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Poin penting &amp;
langkah selanjutnya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6" name="TextBox 65"/>
          <p:cNvSpPr txBox="1"/>
          <p:nvPr/>
        </p:nvSpPr>
        <p:spPr>
          <a:xfrm>
            <a:off x="457200" y="6519672"/>
            <a:ext cx="11247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F14"/>
                </a:solidFill>
                <a:latin typeface="Calibri"/>
              </a:rPr>
              <a:t>📊 Total: 22 Slide  |  🧪 Termasuk Wokwi Simulator  |  📱 Termasuk Telegram Bot Monitoring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01 |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Penting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Apakah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Mahasiswa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Peternakan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Harus Bisa IT?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1663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5120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623"/>
                </a:solidFill>
                <a:latin typeface="Segoe UI Emoji"/>
              </a:rPr>
              <a:t>❌  Mitos yang Salah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5120640" cy="216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Harus </a:t>
            </a:r>
            <a:r>
              <a:rPr dirty="0" err="1">
                <a:solidFill>
                  <a:srgbClr val="F5F5F0"/>
                </a:solidFill>
                <a:latin typeface="Calibri"/>
              </a:rPr>
              <a:t>jago</a:t>
            </a:r>
            <a:r>
              <a:rPr dirty="0">
                <a:solidFill>
                  <a:srgbClr val="F5F5F0"/>
                </a:solidFill>
                <a:latin typeface="Calibri"/>
              </a:rPr>
              <a:t> coding program </a:t>
            </a:r>
            <a:r>
              <a:rPr dirty="0" err="1">
                <a:solidFill>
                  <a:srgbClr val="F5F5F0"/>
                </a:solidFill>
                <a:latin typeface="Calibri"/>
              </a:rPr>
              <a:t>komputer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rumit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Harus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mengerti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elektronika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menyolder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kabel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Harus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membuat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merakit</a:t>
            </a:r>
            <a:r>
              <a:rPr dirty="0">
                <a:solidFill>
                  <a:srgbClr val="F5F5F0"/>
                </a:solidFill>
                <a:latin typeface="Calibri"/>
              </a:rPr>
              <a:t> sensor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sendiri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nol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Hanya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anak</a:t>
            </a:r>
            <a:r>
              <a:rPr dirty="0">
                <a:solidFill>
                  <a:srgbClr val="F5F5F0"/>
                </a:solidFill>
                <a:latin typeface="Calibri"/>
              </a:rPr>
              <a:t> Teknik Elektro/IT yang </a:t>
            </a:r>
            <a:r>
              <a:rPr dirty="0" err="1">
                <a:solidFill>
                  <a:srgbClr val="F5F5F0"/>
                </a:solidFill>
                <a:latin typeface="Calibri"/>
              </a:rPr>
              <a:t>bisa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memakai</a:t>
            </a:r>
            <a:r>
              <a:rPr dirty="0">
                <a:solidFill>
                  <a:srgbClr val="F5F5F0"/>
                </a:solidFill>
                <a:latin typeface="Calibri"/>
              </a:rPr>
              <a:t> IoT</a:t>
            </a: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Mengoperasikan</a:t>
            </a:r>
            <a:r>
              <a:rPr dirty="0">
                <a:solidFill>
                  <a:srgbClr val="F5F5F0"/>
                </a:solidFill>
                <a:latin typeface="Calibri"/>
              </a:rPr>
              <a:t> IoT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itu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pusing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banyak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tombol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43600" cy="51663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6126480" y="1508760"/>
            <a:ext cx="55778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5A623"/>
                </a:solidFill>
                <a:latin typeface="Segoe UI Emoji"/>
              </a:rPr>
              <a:t>✅  Fakta Sebenarnya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7280" y="2194560"/>
            <a:ext cx="5577840" cy="2718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IoT modern </a:t>
            </a:r>
            <a:r>
              <a:rPr dirty="0" err="1">
                <a:solidFill>
                  <a:srgbClr val="F5F5F0"/>
                </a:solidFill>
                <a:latin typeface="Calibri"/>
              </a:rPr>
              <a:t>sifatnya</a:t>
            </a:r>
            <a:r>
              <a:rPr dirty="0">
                <a:solidFill>
                  <a:srgbClr val="F5F5F0"/>
                </a:solidFill>
                <a:latin typeface="Calibri"/>
              </a:rPr>
              <a:t> 'Plug and Play' (Tinggal Pakai)</a:t>
            </a: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Sudah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disediakan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pabrik</a:t>
            </a:r>
            <a:r>
              <a:rPr dirty="0">
                <a:solidFill>
                  <a:srgbClr val="F5F5F0"/>
                </a:solidFill>
                <a:latin typeface="Calibri"/>
              </a:rPr>
              <a:t>, </a:t>
            </a:r>
            <a:r>
              <a:rPr dirty="0" err="1">
                <a:solidFill>
                  <a:srgbClr val="F5F5F0"/>
                </a:solidFill>
                <a:latin typeface="Calibri"/>
              </a:rPr>
              <a:t>tidak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perlu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merakit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kabel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Memakainya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semudah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menggunakan</a:t>
            </a:r>
            <a:r>
              <a:rPr dirty="0">
                <a:solidFill>
                  <a:srgbClr val="F5F5F0"/>
                </a:solidFill>
                <a:latin typeface="Calibri"/>
              </a:rPr>
              <a:t> WhatsApp/TikTok di HP</a:t>
            </a: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Tugas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utama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kamu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adalah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memahami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membaca</a:t>
            </a:r>
            <a:r>
              <a:rPr dirty="0">
                <a:solidFill>
                  <a:srgbClr val="F5F5F0"/>
                </a:solidFill>
                <a:latin typeface="Calibri"/>
              </a:rPr>
              <a:t> data di HP</a:t>
            </a:r>
          </a:p>
          <a:p>
            <a:pPr>
              <a:spcAft>
                <a:spcPts val="8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Anak IT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membuat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alatnya</a:t>
            </a:r>
            <a:r>
              <a:rPr dirty="0">
                <a:solidFill>
                  <a:srgbClr val="F5F5F0"/>
                </a:solidFill>
                <a:latin typeface="Calibri"/>
              </a:rPr>
              <a:t>,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Peternakan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menggunakannya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untuk</a:t>
            </a:r>
            <a:r>
              <a:rPr dirty="0">
                <a:solidFill>
                  <a:srgbClr val="F5F5F0"/>
                </a:solidFill>
                <a:latin typeface="Calibri"/>
              </a:rPr>
              <a:t> profit!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02  |  Apa itu IoT?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371600"/>
            <a:ext cx="11521440" cy="13716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972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5A623"/>
                </a:solidFill>
                <a:latin typeface="Calibri"/>
              </a:rPr>
              <a:t>IoT = Internet of Things  ( "Internet dari Benda-Benda" 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110642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 err="1">
                <a:solidFill>
                  <a:srgbClr val="F5F5F0"/>
                </a:solidFill>
                <a:latin typeface="Calibri"/>
              </a:rPr>
              <a:t>Teknologi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yang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memasang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sensor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pintar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pada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benda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fisik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(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seperti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kalung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tempat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)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sehingga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benda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tersebut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bisa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mengirim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data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HP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kamu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2000" b="0" i="0" dirty="0" err="1">
                <a:solidFill>
                  <a:srgbClr val="F5F5F0"/>
                </a:solidFill>
                <a:latin typeface="Calibri"/>
              </a:rPr>
              <a:t>lewat</a:t>
            </a:r>
            <a:r>
              <a:rPr sz="2000" b="0" i="0" dirty="0">
                <a:solidFill>
                  <a:srgbClr val="F5F5F0"/>
                </a:solidFill>
                <a:latin typeface="Calibri"/>
              </a:rPr>
              <a:t> internet.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880360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562E"/>
                </a:solidFill>
                <a:latin typeface="Calibri"/>
              </a:rPr>
              <a:t>Analogi Termometer Kandang Sapi: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320040" y="3337560"/>
            <a:ext cx="35661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931920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Termometer Tradisional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389120"/>
            <a:ext cx="3346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Peternak harus jalan ke
kandang, melihat angka,
lalu mencatat manual di kertas.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4160520" y="3337560"/>
            <a:ext cx="35661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931920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Termometer IoT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4389120"/>
            <a:ext cx="3346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Sensor kirim data suhu otomatis
lewat internet ke server/HP kamu
setiap 5 menit sekali.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246120"/>
            <a:ext cx="3566160" cy="32461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001000" y="3337560"/>
            <a:ext cx="35661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3931920"/>
            <a:ext cx="3566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Keuntungan Nyata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0728" y="4389120"/>
            <a:ext cx="33467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dirty="0">
                <a:solidFill>
                  <a:srgbClr val="F5F5F0"/>
                </a:solidFill>
                <a:latin typeface="Calibri"/>
              </a:rPr>
              <a:t>Kamu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bisa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pantau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lewat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HP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di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rumah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kuliah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
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di mana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saja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05072" y="4572000"/>
            <a:ext cx="2560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4572000"/>
            <a:ext cx="25603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TextBox 24"/>
          <p:cNvSpPr txBox="1"/>
          <p:nvPr/>
        </p:nvSpPr>
        <p:spPr>
          <a:xfrm>
            <a:off x="365760" y="6547104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 Emoji"/>
              </a:rPr>
              <a:t>💡  Benda Biasa  +  Sensor Pintar  +  Koneksi Internet  =  Benda 'Pintar' Pelapor Data!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02 | Bagaimana Alur Kerja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6FBF73"/>
                </a:solidFill>
                <a:latin typeface="Calibri"/>
              </a:rPr>
              <a:t>Alur data bekerja otomatis tanpa perlu campur tangan peternak setiap saat: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274320" y="2011680"/>
            <a:ext cx="2788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Emoji"/>
              </a:rPr>
              <a:t>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5A623"/>
                </a:solidFill>
                <a:latin typeface="Calibri"/>
              </a:rPr>
              <a:t>1. SENSOR
(</a:t>
            </a:r>
            <a:r>
              <a:rPr sz="2000" b="1" i="0" dirty="0" err="1">
                <a:solidFill>
                  <a:srgbClr val="F5A623"/>
                </a:solidFill>
                <a:latin typeface="Calibri"/>
              </a:rPr>
              <a:t>Mengukur</a:t>
            </a:r>
            <a:r>
              <a:rPr sz="2000" b="1" i="0" dirty="0">
                <a:solidFill>
                  <a:srgbClr val="F5A623"/>
                </a:solidFill>
                <a:latin typeface="Calibri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11480" y="3593592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Mengambil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data di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.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Contoh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: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mengukur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udara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,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detak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jantung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,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sisa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72384" y="3977639"/>
            <a:ext cx="91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36392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3136392" y="2011680"/>
            <a:ext cx="2788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2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2. KONEKSI
(Mengirim)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10712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3273552" y="3593592"/>
            <a:ext cx="25146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Mengirimkan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data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.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Menggunakan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Wi-Fi,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kartu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SIM
4G/5G,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gelombang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LoRa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internet.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4456" y="3977639"/>
            <a:ext cx="91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98464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5998464" y="2011680"/>
            <a:ext cx="2788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Emoji"/>
              </a:rPr>
              <a:t>☁️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8464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3. CLOUD / SERVER
(Mengolah)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72784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6135624" y="3593592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Pusat penyimpanan pintar.
Data disimpan, dianalisis,
dan disiapkan untuk dikirim
ke smartphone.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3977639"/>
            <a:ext cx="914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0536" y="1920240"/>
            <a:ext cx="2788920" cy="4572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TextBox 25"/>
          <p:cNvSpPr txBox="1"/>
          <p:nvPr/>
        </p:nvSpPr>
        <p:spPr>
          <a:xfrm>
            <a:off x="8860536" y="2011680"/>
            <a:ext cx="27889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2834640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4. APLIKASI / HP
(Menampilkan)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34856" y="3502152"/>
            <a:ext cx="224028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8997696" y="3593592"/>
            <a:ext cx="251460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Tampilan untuk peternak.
Memunculkan data, grafik,
dan notifikasi bahaya secara
langsung di HP.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457200" y="6547104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Segoe UI Emoji"/>
              </a:rPr>
              <a:t>Sensor (Kandang)  →  Sinyal (Kirim)  →  Server (Simpan)  →  HP Peternak (Baca)  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03  |  IoT di Kehidupan Sehari-Hari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1B562E"/>
                </a:solidFill>
                <a:latin typeface="Calibri"/>
              </a:rPr>
              <a:t>Kalian kemungkinan besar sudah menggunakan IoT tanpa menyadarinya: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TextBox 7"/>
          <p:cNvSpPr txBox="1"/>
          <p:nvPr/>
        </p:nvSpPr>
        <p:spPr>
          <a:xfrm>
            <a:off x="320040" y="192024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514600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Smartwatch / Jam Pintar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9718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Mendeteksi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denyut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jantung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&amp;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langkah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kaki,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kemudian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mengirim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laporannya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HP.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1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4233671" y="192024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33671" y="2514600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Lampu Pintar (Smart Bulb)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399" y="29718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Lampu kamar yang bisa dimatikan lewat HP
atau menyala otomatis saat jam 6 sore.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2" y="1828800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8147302" y="192024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🌤️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2" y="2514600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Aplikasi Cuaca di HP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0" y="2971800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 err="1">
                <a:solidFill>
                  <a:srgbClr val="F5F5F0"/>
                </a:solidFill>
                <a:latin typeface="Calibri"/>
              </a:rPr>
              <a:t>Mengambil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data real-time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ribuan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sensor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cuaca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luar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ruangan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untuk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HP Anda.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0" name="TextBox 19"/>
          <p:cNvSpPr txBox="1"/>
          <p:nvPr/>
        </p:nvSpPr>
        <p:spPr>
          <a:xfrm>
            <a:off x="320040" y="432511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 dirty="0">
                <a:solidFill>
                  <a:srgbClr val="FFFFFF"/>
                </a:solidFill>
                <a:latin typeface="Segoe UI Emoji"/>
              </a:rPr>
              <a:t>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4919472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Pelacak GPS Kendaraan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37667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Mengirimkan koordinat lokasi motor/mobil
sehingga Anda bisa melacaknya dari jauh.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33671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4" name="TextBox 23"/>
          <p:cNvSpPr txBox="1"/>
          <p:nvPr/>
        </p:nvSpPr>
        <p:spPr>
          <a:xfrm>
            <a:off x="4233671" y="432511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3671" y="4919472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Pelacak Kurir Online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399" y="537667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Melihat lokasi kurir Shopee/Gojek secara
real-time bergerak mendekati rumah.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7302" y="4233672"/>
            <a:ext cx="3749039" cy="224028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8" name="TextBox 27"/>
          <p:cNvSpPr txBox="1"/>
          <p:nvPr/>
        </p:nvSpPr>
        <p:spPr>
          <a:xfrm>
            <a:off x="8147302" y="432511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47302" y="4919472"/>
            <a:ext cx="374903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5A623"/>
                </a:solidFill>
                <a:latin typeface="Calibri"/>
              </a:rPr>
              <a:t>Pompa Air Otomatis Rumah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0" y="5376672"/>
            <a:ext cx="352958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5F5F0"/>
                </a:solidFill>
                <a:latin typeface="Calibri"/>
              </a:rPr>
              <a:t>Tandon air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mati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sendiri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penuh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dan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hidup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sendiri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kosong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400" b="0" i="0" dirty="0" err="1">
                <a:solidFill>
                  <a:srgbClr val="F5F5F0"/>
                </a:solidFill>
                <a:latin typeface="Calibri"/>
              </a:rPr>
              <a:t>menggunakan</a:t>
            </a:r>
            <a:r>
              <a:rPr sz="1400" b="0" i="0" dirty="0">
                <a:solidFill>
                  <a:srgbClr val="F5F5F0"/>
                </a:solidFill>
                <a:latin typeface="Calibri"/>
              </a:rPr>
              <a:t> sensor air.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04 |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Perbandingan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Peternakan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Tradisional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vs Smart Farming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4068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  <a:latin typeface="Calibri"/>
              </a:rPr>
              <a:t>❌  Cara Tradisional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57400"/>
            <a:ext cx="507492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Cek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setiap</a:t>
            </a:r>
            <a:r>
              <a:rPr dirty="0">
                <a:solidFill>
                  <a:srgbClr val="F5F5F0"/>
                </a:solidFill>
                <a:latin typeface="Calibri"/>
              </a:rPr>
              <a:t> jam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secara</a:t>
            </a:r>
            <a:r>
              <a:rPr dirty="0">
                <a:solidFill>
                  <a:srgbClr val="F5F5F0"/>
                </a:solidFill>
                <a:latin typeface="Calibri"/>
              </a:rPr>
              <a:t> manual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Penyakit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terdeteksi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hanya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setelah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parah</a:t>
            </a:r>
            <a:r>
              <a:rPr dirty="0">
                <a:solidFill>
                  <a:srgbClr val="F5F5F0"/>
                </a:solidFill>
                <a:latin typeface="Calibri"/>
              </a:rPr>
              <a:t> / </a:t>
            </a:r>
            <a:r>
              <a:rPr dirty="0" err="1">
                <a:solidFill>
                  <a:srgbClr val="F5F5F0"/>
                </a:solidFill>
                <a:latin typeface="Calibri"/>
              </a:rPr>
              <a:t>mati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Hewan </a:t>
            </a:r>
            <a:r>
              <a:rPr dirty="0" err="1">
                <a:solidFill>
                  <a:srgbClr val="F5F5F0"/>
                </a:solidFill>
                <a:latin typeface="Calibri"/>
              </a:rPr>
              <a:t>lepas</a:t>
            </a:r>
            <a:r>
              <a:rPr dirty="0">
                <a:solidFill>
                  <a:srgbClr val="F5F5F0"/>
                </a:solidFill>
                <a:latin typeface="Calibri"/>
              </a:rPr>
              <a:t> /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dicuri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tidak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ketahuan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langsung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Pakan &amp; air </a:t>
            </a:r>
            <a:r>
              <a:rPr dirty="0" err="1">
                <a:solidFill>
                  <a:srgbClr val="F5F5F0"/>
                </a:solidFill>
                <a:latin typeface="Calibri"/>
              </a:rPr>
              <a:t>sering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kosong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karena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lupa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cek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Mencatat</a:t>
            </a:r>
            <a:r>
              <a:rPr dirty="0">
                <a:solidFill>
                  <a:srgbClr val="F5F5F0"/>
                </a:solidFill>
                <a:latin typeface="Calibri"/>
              </a:rPr>
              <a:t> data </a:t>
            </a:r>
            <a:r>
              <a:rPr dirty="0" err="1">
                <a:solidFill>
                  <a:srgbClr val="F5F5F0"/>
                </a:solidFill>
                <a:latin typeface="Calibri"/>
              </a:rPr>
              <a:t>bobot</a:t>
            </a:r>
            <a:r>
              <a:rPr dirty="0">
                <a:solidFill>
                  <a:srgbClr val="F5F5F0"/>
                </a:solidFill>
                <a:latin typeface="Calibri"/>
              </a:rPr>
              <a:t> di </a:t>
            </a:r>
            <a:r>
              <a:rPr dirty="0" err="1">
                <a:solidFill>
                  <a:srgbClr val="F5F5F0"/>
                </a:solidFill>
                <a:latin typeface="Calibri"/>
              </a:rPr>
              <a:t>buku</a:t>
            </a:r>
            <a:r>
              <a:rPr dirty="0">
                <a:solidFill>
                  <a:srgbClr val="F5F5F0"/>
                </a:solidFill>
                <a:latin typeface="Calibri"/>
              </a:rPr>
              <a:t> (</a:t>
            </a:r>
            <a:r>
              <a:rPr dirty="0" err="1">
                <a:solidFill>
                  <a:srgbClr val="F5F5F0"/>
                </a:solidFill>
                <a:latin typeface="Calibri"/>
              </a:rPr>
              <a:t>mudah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robek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hilang</a:t>
            </a:r>
            <a:r>
              <a:rPr dirty="0">
                <a:solidFill>
                  <a:srgbClr val="F5F5F0"/>
                </a:solidFill>
                <a:latin typeface="Calibri"/>
              </a:rPr>
              <a:t>)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Keputusan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beternak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berdasarkan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intuisi</a:t>
            </a:r>
            <a:r>
              <a:rPr dirty="0">
                <a:solidFill>
                  <a:srgbClr val="F5F5F0"/>
                </a:solidFill>
                <a:latin typeface="Calibri"/>
              </a:rPr>
              <a:t>/</a:t>
            </a:r>
            <a:r>
              <a:rPr dirty="0" err="1">
                <a:solidFill>
                  <a:srgbClr val="F5F5F0"/>
                </a:solidFill>
                <a:latin typeface="Calibri"/>
              </a:rPr>
              <a:t>perkiraan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✗  Risiko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kematian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tinggi</a:t>
            </a:r>
            <a:r>
              <a:rPr dirty="0">
                <a:solidFill>
                  <a:srgbClr val="F5F5F0"/>
                </a:solidFill>
                <a:latin typeface="Calibri"/>
              </a:rPr>
              <a:t> di </a:t>
            </a:r>
            <a:r>
              <a:rPr dirty="0" err="1">
                <a:solidFill>
                  <a:srgbClr val="F5F5F0"/>
                </a:solidFill>
                <a:latin typeface="Calibri"/>
              </a:rPr>
              <a:t>musim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pancaroba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  <a:latin typeface="Calibri"/>
              </a:rPr>
              <a:t>✅  Dengan IoT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057400"/>
            <a:ext cx="5623560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terpantau</a:t>
            </a:r>
            <a:r>
              <a:rPr dirty="0">
                <a:solidFill>
                  <a:srgbClr val="F5F5F0"/>
                </a:solidFill>
                <a:latin typeface="Calibri"/>
              </a:rPr>
              <a:t> 24/7 di </a:t>
            </a:r>
            <a:r>
              <a:rPr dirty="0" err="1">
                <a:solidFill>
                  <a:srgbClr val="F5F5F0"/>
                </a:solidFill>
                <a:latin typeface="Calibri"/>
              </a:rPr>
              <a:t>layar</a:t>
            </a:r>
            <a:r>
              <a:rPr dirty="0">
                <a:solidFill>
                  <a:srgbClr val="F5F5F0"/>
                </a:solidFill>
                <a:latin typeface="Calibri"/>
              </a:rPr>
              <a:t> HP Anda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dirty="0">
                <a:solidFill>
                  <a:srgbClr val="F5F5F0"/>
                </a:solidFill>
                <a:latin typeface="Calibri"/>
              </a:rPr>
              <a:t>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detak</a:t>
            </a:r>
            <a:r>
              <a:rPr dirty="0">
                <a:solidFill>
                  <a:srgbClr val="F5F5F0"/>
                </a:solidFill>
                <a:latin typeface="Calibri"/>
              </a:rPr>
              <a:t> abnormal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kirim</a:t>
            </a:r>
            <a:r>
              <a:rPr dirty="0">
                <a:solidFill>
                  <a:srgbClr val="F5F5F0"/>
                </a:solidFill>
                <a:latin typeface="Calibri"/>
              </a:rPr>
              <a:t> alert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dini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GPS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mendeteksi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keluar</a:t>
            </a:r>
            <a:r>
              <a:rPr dirty="0">
                <a:solidFill>
                  <a:srgbClr val="F5F5F0"/>
                </a:solidFill>
                <a:latin typeface="Calibri"/>
              </a:rPr>
              <a:t> batas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pagar</a:t>
            </a:r>
            <a:r>
              <a:rPr dirty="0">
                <a:solidFill>
                  <a:srgbClr val="F5F5F0"/>
                </a:solidFill>
                <a:latin typeface="Calibri"/>
              </a:rPr>
              <a:t> virtual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Dispenser air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mengisi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jika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habis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Timbangan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rekam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berat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harian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dirty="0">
                <a:solidFill>
                  <a:srgbClr val="F5F5F0"/>
                </a:solidFill>
                <a:latin typeface="Calibri"/>
              </a:rPr>
              <a:t> server</a:t>
            </a: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Manajemen</a:t>
            </a:r>
            <a:r>
              <a:rPr dirty="0">
                <a:solidFill>
                  <a:srgbClr val="F5F5F0"/>
                </a:solidFill>
                <a:latin typeface="Calibri"/>
              </a:rPr>
              <a:t> farm </a:t>
            </a:r>
            <a:r>
              <a:rPr dirty="0" err="1">
                <a:solidFill>
                  <a:srgbClr val="F5F5F0"/>
                </a:solidFill>
                <a:latin typeface="Calibri"/>
              </a:rPr>
              <a:t>presisi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berdasarkan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grafik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riwayat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✓  </a:t>
            </a:r>
            <a:r>
              <a:rPr dirty="0" err="1">
                <a:solidFill>
                  <a:srgbClr val="F5F5F0"/>
                </a:solidFill>
                <a:latin typeface="Calibri"/>
              </a:rPr>
              <a:t>Respons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kilat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mengurangi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kerugian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finansial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550408" y="3566160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5550408" y="3611880"/>
            <a:ext cx="6583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B562E"/>
                </a:solidFill>
                <a:latin typeface="Calibri"/>
              </a:rPr>
              <a:t>VS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05  |  6 Aplikasi IoT Paling Populer di Peternakan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103120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Smart Thermostat Kandang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560320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5F5F0"/>
                </a:solidFill>
                <a:latin typeface="Calibri"/>
              </a:rPr>
              <a:t>Sensor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menghidupkan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kipas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blow-up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jika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melewati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30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derajat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Celsius.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🏷️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9663" y="2103120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Ear-Tag / Kalung Ternak Pintar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9391" y="2560320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Tag di telinga/leher mendeteksi gerakan ruminasi,
detak jantung, &amp; mendeteksi masa berahi sapi.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🍽️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6" y="2103120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Automatic Feeder (Pakan Pintar)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4" y="2560320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5F5F0"/>
                </a:solidFill>
                <a:latin typeface="Calibri"/>
              </a:rPr>
              <a:t>Alat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menimbang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sisa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di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wadah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dan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menuangkan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baru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sesuai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jadwal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porsi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274320" y="400507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4599432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Pagar Virtual (Geofencing)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5056632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F5F5F0"/>
                </a:solidFill>
                <a:latin typeface="Calibri"/>
              </a:rPr>
              <a:t>GPS pada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mengirimkan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alarm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HP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peternak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jika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menyeberang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keluar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batas area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kebun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4169663" y="400507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663" y="4599432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Smart Milking (Perah Otomatis)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1" y="5056632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Mendeteksi volume, warna, &amp; kualitas susu sapi
secara otomatis saat sapi sedang diperah.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913632"/>
            <a:ext cx="3749039" cy="2331720"/>
          </a:xfrm>
          <a:prstGeom prst="roundRect">
            <a:avLst>
              <a:gd name="adj" fmla="val 5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8065006" y="4005072"/>
            <a:ext cx="374903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65006" y="4599432"/>
            <a:ext cx="3749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5A623"/>
                </a:solidFill>
                <a:latin typeface="Calibri"/>
              </a:rPr>
              <a:t>Automatic Water Tank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4" y="5056632"/>
            <a:ext cx="35295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F5F0"/>
                </a:solidFill>
                <a:latin typeface="Calibri"/>
              </a:rPr>
              <a:t>Memonitor sisa volume air minum di bak kandang
dan menyalakan pompa air secara otomatis.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06 | Kasus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Nyata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Kaltim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Melacak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Sapi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Bali (SISKA) via GPS Collar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612880" cy="7772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5A623"/>
                </a:solidFill>
                <a:latin typeface="Segoe UI Emoji"/>
              </a:rPr>
              <a:t>🌴  Skenario: Integrasi Sapi di Kebun Kelapa Sawit (SISKA) Kutai Kartanegara / Paser Kaltim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274320" y="2514600"/>
            <a:ext cx="3749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A623"/>
                </a:solidFill>
                <a:latin typeface="Calibri"/>
              </a:rPr>
              <a:t>📍 Masalah Utama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457200" y="3246120"/>
            <a:ext cx="338327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Bali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dilepasliarkan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di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kebun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sawit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yang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luasnya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ratusan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hektar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.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Peternak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kesulitan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mencari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posisi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saat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sore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hari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sering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terjadi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pencurian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ternak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, dan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sapi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masuk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b="0" i="0" dirty="0" err="1">
                <a:solidFill>
                  <a:srgbClr val="F5F5F0"/>
                </a:solidFill>
                <a:latin typeface="Calibri"/>
              </a:rPr>
              <a:t>kebun</a:t>
            </a:r>
            <a:r>
              <a:rPr b="0" i="0" dirty="0">
                <a:solidFill>
                  <a:srgbClr val="F5F5F0"/>
                </a:solidFill>
                <a:latin typeface="Calibri"/>
              </a:rPr>
              <a:t> orang lain.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9935" y="4114800"/>
            <a:ext cx="109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39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4206239" y="2514600"/>
            <a:ext cx="3749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A623"/>
                </a:solidFill>
                <a:latin typeface="Calibri"/>
              </a:rPr>
              <a:t>📡 Solusi IoT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1999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6" name="TextBox 15"/>
          <p:cNvSpPr txBox="1"/>
          <p:nvPr/>
        </p:nvSpPr>
        <p:spPr>
          <a:xfrm>
            <a:off x="4389119" y="3246120"/>
            <a:ext cx="338327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F5F5F0"/>
                </a:solidFill>
                <a:latin typeface="Calibri"/>
              </a:rPr>
              <a:t>Sapi dipasangi kalung GPS tahan air (solar powered). Peternak membuat 'pagar virtual' (Geofencing) lewat aplikasi HP. Jika sapi ditarik pencuri keluar kebun sawit, HP peternak akan berbunyi keras.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1854" y="4114800"/>
            <a:ext cx="1097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5A623"/>
                </a:solidFill>
                <a:latin typeface="Calibr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8" y="233172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138158" y="2514600"/>
            <a:ext cx="374903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A623"/>
                </a:solidFill>
                <a:latin typeface="Calibri"/>
              </a:rPr>
              <a:t>📊 Hasil Nyata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18" y="3063240"/>
            <a:ext cx="3017519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TextBox 20"/>
          <p:cNvSpPr txBox="1"/>
          <p:nvPr/>
        </p:nvSpPr>
        <p:spPr>
          <a:xfrm>
            <a:off x="8321038" y="3246120"/>
            <a:ext cx="33832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>
                <a:solidFill>
                  <a:srgbClr val="F5F5F0"/>
                </a:solidFill>
                <a:latin typeface="Calibri"/>
              </a:rPr>
              <a:t>Waktu pencarian sapi berkurang dari 3 jam menjadi 10 menit saja lewat panduan peta GPS di HP. Angka kehilangan ternak turun menjadi 0% dan produktivitas sapi terpantau stabil.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457200" y="6519672"/>
            <a:ext cx="11247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💡 Peternak Cukup Memantau Lewat HP Sambil Mengerjakan Hal Lain — Sangat Hemat Waktu &amp; Tenaga!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06  |  Dampak Penerapan IoT di Peternakan — Data Global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274320" y="1508760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📉 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33172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Penurunan Kematian Ternak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953512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Kematian pedet/anak sapi berkurang berkat sensor suhu kandang &amp; alarm dini.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4169663" y="1508760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📈 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3" y="233172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Kenaikan Produksi Susu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3" y="2953512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Hasil perahan sapi perah meningkat berkat monitoring pakan presisi otomatis.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6" y="1417320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8065006" y="1508760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💰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6446" y="233172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Efisiensi Pakan (FCR)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2166" y="2953512"/>
            <a:ext cx="34747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Mengurangi pakan tercecer &amp; terbuang sia-sia dengan tempat pakan pintar.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274320" y="3959352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⏱️ 60%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78231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Menghemat Waktu Kerja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5404104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Peternak tidak perlu keliling kandang berjam-jam untuk pengecekan rutin harian.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9663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4169663" y="3959352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🌍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3" y="478231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Investasi Smart Farm Naik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06823" y="5404104"/>
            <a:ext cx="347471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Semua perusahaan peternakan besar di dunia mulai bermigrasi penuh ke IoT.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6" y="3867912"/>
            <a:ext cx="3749039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8065006" y="3959352"/>
            <a:ext cx="374903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5A623"/>
                </a:solidFill>
                <a:latin typeface="Calibri"/>
              </a:rPr>
              <a:t>🇮🇩 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6446" y="478231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Peluang Kaltim / IKN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02166" y="5404104"/>
            <a:ext cx="34747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Sebagai penyangga pangan IKN, Kaltim dituntut memproduksi ternak dengan cepat.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07 | Apa Saja Tantangan IoT &amp; Bagaimana Solusinya?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417320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274320" y="146304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Koneksi Internet Minim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313432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Banyak kebun sawit/lahan gembala
di Kaltim belum memiliki sinyal 4G.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384048" y="2990088"/>
            <a:ext cx="3529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5A623"/>
                </a:solidFill>
                <a:latin typeface="Calibri"/>
              </a:rPr>
              <a:t>Solusi: Pakai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sinyal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LoRa (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alat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khusus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
yang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memancar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sinyal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sendiri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s/d 10 km).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69663" y="1417320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3" name="TextBox 12"/>
          <p:cNvSpPr txBox="1"/>
          <p:nvPr/>
        </p:nvSpPr>
        <p:spPr>
          <a:xfrm>
            <a:off x="4169663" y="146304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3" y="192024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Biaya Investasi Awal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9391" y="2313432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Harga sensor pintar impor dinilai
terlalu mahal untuk peternak kecil.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52543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TextBox 16"/>
          <p:cNvSpPr txBox="1"/>
          <p:nvPr/>
        </p:nvSpPr>
        <p:spPr>
          <a:xfrm>
            <a:off x="4279391" y="2990088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A623"/>
                </a:solidFill>
                <a:latin typeface="Calibri"/>
              </a:rPr>
              <a:t>Solusi: Beli secara kelompok/koperasi,
mulai dari 1 sensor utama di kandang.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5006" y="1417319"/>
            <a:ext cx="3749039" cy="2403765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8065006" y="1463040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6" y="1920240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Gagap Teknologi (Gaptek)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4" y="2313432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Peternak senior kesulitan memakai
aplikasi di HP pintar.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7886" y="2926080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8174734" y="2990088"/>
            <a:ext cx="3529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5A623"/>
                </a:solidFill>
                <a:latin typeface="Calibri"/>
              </a:rPr>
              <a:t>Solusi: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Mahasiswa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UNMUL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mendampingi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
&amp;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aplikasi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dibuat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sangat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sederhana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" y="3913632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5" name="TextBox 24"/>
          <p:cNvSpPr txBox="1"/>
          <p:nvPr/>
        </p:nvSpPr>
        <p:spPr>
          <a:xfrm>
            <a:off x="274320" y="395935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41655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Ketiadaan Listrik PLN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809744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Kandang di tengah kebun sawit tidak
punya colokan listrik.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9" name="TextBox 28"/>
          <p:cNvSpPr txBox="1"/>
          <p:nvPr/>
        </p:nvSpPr>
        <p:spPr>
          <a:xfrm>
            <a:off x="384048" y="5486400"/>
            <a:ext cx="3529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A623"/>
                </a:solidFill>
                <a:latin typeface="Calibri"/>
              </a:rPr>
              <a:t>Solusi: Perangkat memakai baterai awet
atau solar panel mini bertenaga matahari.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9663" y="3913632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4169663" y="395935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61103" y="441655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Kondisi Kandang Kotor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1" y="4809744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Udara kandang lembab, penuh debu,
dan berisiko terinjak kaki sapi.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52543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4279391" y="5486400"/>
            <a:ext cx="35295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F5A623"/>
                </a:solidFill>
                <a:latin typeface="Calibri"/>
              </a:rPr>
              <a:t>Solusi: Pasang sensor di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tempat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tinggi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
dan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pilih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casing </a:t>
            </a:r>
            <a:r>
              <a:rPr sz="1600" b="0" i="0" dirty="0" err="1">
                <a:solidFill>
                  <a:srgbClr val="F5A623"/>
                </a:solidFill>
                <a:latin typeface="Calibri"/>
              </a:rPr>
              <a:t>standar</a:t>
            </a:r>
            <a:r>
              <a:rPr sz="1600" b="0" i="0" dirty="0">
                <a:solidFill>
                  <a:srgbClr val="F5A623"/>
                </a:solidFill>
                <a:latin typeface="Calibri"/>
              </a:rPr>
              <a:t> IP67 waterproof.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65006" y="3913632"/>
            <a:ext cx="3749039" cy="2367188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7" name="TextBox 36"/>
          <p:cNvSpPr txBox="1"/>
          <p:nvPr/>
        </p:nvSpPr>
        <p:spPr>
          <a:xfrm>
            <a:off x="8065006" y="3959352"/>
            <a:ext cx="3749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Segoe UI Emoji"/>
              </a:rPr>
              <a:t>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6" y="4416552"/>
            <a:ext cx="356615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Pencurian Alat IoT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74734" y="4809744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Sensor yang terpasang di sapi
berisiko dilepas/dicuri orang.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47886" y="5422392"/>
            <a:ext cx="338327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1" name="TextBox 40"/>
          <p:cNvSpPr txBox="1"/>
          <p:nvPr/>
        </p:nvSpPr>
        <p:spPr>
          <a:xfrm>
            <a:off x="8174734" y="5486400"/>
            <a:ext cx="352958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A623"/>
                </a:solidFill>
                <a:latin typeface="Calibri"/>
              </a:rPr>
              <a:t>Solusi: Pasang sensor tersembunyi
yang mengirim alarm jika dilepas paksa.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07  |  Glosarium — Kamus Singkat Istilah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347472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347472" y="1554480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47088" y="1463040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Alat fisik untuk mengukur kondisi lapangan (seperti termometer suhu kandang).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9048" y="1371600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ounded Rectangle 10"/>
          <p:cNvSpPr/>
          <p:nvPr/>
        </p:nvSpPr>
        <p:spPr>
          <a:xfrm>
            <a:off x="6172200" y="1536192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6172200" y="1554480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Aktuator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71816" y="1463040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Alat untuk melakukan tindakan fisik (seperti pompa air otomatis menyala).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Rounded Rectangle 14"/>
          <p:cNvSpPr/>
          <p:nvPr/>
        </p:nvSpPr>
        <p:spPr>
          <a:xfrm>
            <a:off x="347472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TextBox 15"/>
          <p:cNvSpPr txBox="1"/>
          <p:nvPr/>
        </p:nvSpPr>
        <p:spPr>
          <a:xfrm>
            <a:off x="347472" y="2450592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Gateway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2359152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Jembatan/alat penghubung yang mengirim data dari kandang ke internet.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9048" y="2267712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Rounded Rectangle 18"/>
          <p:cNvSpPr/>
          <p:nvPr/>
        </p:nvSpPr>
        <p:spPr>
          <a:xfrm>
            <a:off x="6172200" y="2432304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6172200" y="2450592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71816" y="2359152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Gudang penyimpanan data raksasa di internet, bisa diakses dari mana saja.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4320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Rounded Rectangle 22"/>
          <p:cNvSpPr/>
          <p:nvPr/>
        </p:nvSpPr>
        <p:spPr>
          <a:xfrm>
            <a:off x="347472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347472" y="3346704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Dashboard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47088" y="3255264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Layar utama aplikasi HP Anda yang menyajikan semua data angka &amp; grafik.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99048" y="3163824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Rounded Rectangle 26"/>
          <p:cNvSpPr/>
          <p:nvPr/>
        </p:nvSpPr>
        <p:spPr>
          <a:xfrm>
            <a:off x="6172200" y="3328416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8" name="TextBox 27"/>
          <p:cNvSpPr txBox="1"/>
          <p:nvPr/>
        </p:nvSpPr>
        <p:spPr>
          <a:xfrm>
            <a:off x="6172200" y="3346704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Real-time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71816" y="3255264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Pengiriman data detik ini juga (langsung tanpa ditunda-tunda).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Rounded Rectangle 30"/>
          <p:cNvSpPr/>
          <p:nvPr/>
        </p:nvSpPr>
        <p:spPr>
          <a:xfrm>
            <a:off x="347472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2" name="TextBox 31"/>
          <p:cNvSpPr txBox="1"/>
          <p:nvPr/>
        </p:nvSpPr>
        <p:spPr>
          <a:xfrm>
            <a:off x="347472" y="4242816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Alert / Notif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47088" y="4151376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Peringatan darurat yang masuk ke HP Anda (seperti alarm maling/sapi sakit).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4059936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5" name="Rounded Rectangle 34"/>
          <p:cNvSpPr/>
          <p:nvPr/>
        </p:nvSpPr>
        <p:spPr>
          <a:xfrm>
            <a:off x="6172200" y="4224528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6" name="TextBox 35"/>
          <p:cNvSpPr txBox="1"/>
          <p:nvPr/>
        </p:nvSpPr>
        <p:spPr>
          <a:xfrm>
            <a:off x="6172200" y="4242816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LoRa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1816" y="4151376"/>
            <a:ext cx="3931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Teknologi pemancar sinyal jarak jauh tanpa internet, sangat cocok untuk kebun sawit Kaltim.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4320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9" name="Rounded Rectangle 38"/>
          <p:cNvSpPr/>
          <p:nvPr/>
        </p:nvSpPr>
        <p:spPr>
          <a:xfrm>
            <a:off x="347472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0" name="TextBox 39"/>
          <p:cNvSpPr txBox="1"/>
          <p:nvPr/>
        </p:nvSpPr>
        <p:spPr>
          <a:xfrm>
            <a:off x="347472" y="5138928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IP67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47088" y="5047488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Sertifikasi ketahanan alat (artinya alat ini 100% tahan air hujan &amp; debu kandang).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99048" y="4956048"/>
            <a:ext cx="5623560" cy="8229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3" name="Rounded Rectangle 42"/>
          <p:cNvSpPr/>
          <p:nvPr/>
        </p:nvSpPr>
        <p:spPr>
          <a:xfrm>
            <a:off x="6172200" y="5120640"/>
            <a:ext cx="1417320" cy="502920"/>
          </a:xfrm>
          <a:prstGeom prst="roundRect">
            <a:avLst>
              <a:gd name="adj" fmla="val 4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4" name="TextBox 43"/>
          <p:cNvSpPr txBox="1"/>
          <p:nvPr/>
        </p:nvSpPr>
        <p:spPr>
          <a:xfrm>
            <a:off x="6172200" y="5138928"/>
            <a:ext cx="1417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B562E"/>
                </a:solidFill>
                <a:latin typeface="Calibri"/>
              </a:rPr>
              <a:t>Plug &amp; Play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71816" y="5047488"/>
            <a:ext cx="39319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Alat yang tinggal colok dan langsung menyala tanpa perlu diprogram coding lagi.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FFFFFF"/>
                </a:solidFill>
                <a:latin typeface="Calibri"/>
              </a:rPr>
              <a:t>🎯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Kuis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Interaktif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: Mana yang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Menggunakan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b="1" i="0" dirty="0" err="1">
                <a:solidFill>
                  <a:srgbClr val="FFFFFF"/>
                </a:solidFill>
                <a:latin typeface="Calibri"/>
              </a:rPr>
              <a:t>Teknologi</a:t>
            </a:r>
            <a:r>
              <a:rPr sz="3200" b="1" i="0" dirty="0">
                <a:solidFill>
                  <a:srgbClr val="FFFFFF"/>
                </a:solidFill>
                <a:latin typeface="Calibri"/>
              </a:rPr>
              <a:t> IoT?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6FBF73"/>
                </a:solidFill>
                <a:latin typeface="Calibri"/>
              </a:rPr>
              <a:t>Diskusikan bersama dosen &amp; teman kelas Anda, mana yang masuk kategori IoT: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33832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562E"/>
                </a:solidFill>
                <a:latin typeface="Calibri"/>
              </a:rPr>
              <a:t>KASUS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88920"/>
            <a:ext cx="33832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Lampu Kandang Otomatis Sensor Cahaya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3832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Lampu menyala jika langit gelap menggunakan sensor fotoelektrik mekanik biasa di lampu.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4" name="TextBox 13"/>
          <p:cNvSpPr txBox="1"/>
          <p:nvPr/>
        </p:nvSpPr>
        <p:spPr>
          <a:xfrm>
            <a:off x="457200" y="5029200"/>
            <a:ext cx="3383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 err="1">
                <a:solidFill>
                  <a:srgbClr val="6FBF73"/>
                </a:solidFill>
                <a:latin typeface="Calibri"/>
              </a:rPr>
              <a:t>Jawaban</a:t>
            </a:r>
            <a:r>
              <a:rPr sz="2000" b="1" i="0" dirty="0">
                <a:solidFill>
                  <a:srgbClr val="6FBF73"/>
                </a:solidFill>
                <a:latin typeface="Calibri"/>
              </a:rPr>
              <a:t>: </a:t>
            </a:r>
            <a:r>
              <a:rPr sz="2000" b="1" i="0" dirty="0" err="1">
                <a:solidFill>
                  <a:srgbClr val="6FBF73"/>
                </a:solidFill>
                <a:latin typeface="Calibri"/>
              </a:rPr>
              <a:t>Bukan</a:t>
            </a:r>
            <a:r>
              <a:rPr sz="2000" b="1" i="0" dirty="0">
                <a:solidFill>
                  <a:srgbClr val="6FBF73"/>
                </a:solidFill>
                <a:latin typeface="Calibri"/>
              </a:rPr>
              <a:t> IoT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13248"/>
            <a:ext cx="32918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 err="1">
                <a:solidFill>
                  <a:srgbClr val="F5F5F0"/>
                </a:solidFill>
                <a:latin typeface="Calibri"/>
              </a:rPr>
              <a:t>Sebab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data sensor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cahaya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tidak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dikirim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sz="1600" b="0" i="0" dirty="0">
                <a:solidFill>
                  <a:srgbClr val="F5F5F0"/>
                </a:solidFill>
                <a:latin typeface="Calibri"/>
              </a:rPr>
              <a:t> internet / HP Anda.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39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7" name="Rounded Rectangle 16"/>
          <p:cNvSpPr/>
          <p:nvPr/>
        </p:nvSpPr>
        <p:spPr>
          <a:xfrm>
            <a:off x="4389119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8" name="TextBox 17"/>
          <p:cNvSpPr txBox="1"/>
          <p:nvPr/>
        </p:nvSpPr>
        <p:spPr>
          <a:xfrm>
            <a:off x="4389119" y="2103120"/>
            <a:ext cx="33832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562E"/>
                </a:solidFill>
                <a:latin typeface="Calibri"/>
              </a:rPr>
              <a:t>KASUS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788920"/>
            <a:ext cx="33832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Kamera Kandang Kirim Foto ke HP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1999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1" name="TextBox 20"/>
          <p:cNvSpPr txBox="1"/>
          <p:nvPr/>
        </p:nvSpPr>
        <p:spPr>
          <a:xfrm>
            <a:off x="4389119" y="3703320"/>
            <a:ext cx="3383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Kamera mendeteksi sapi melahirkan → mengirim foto alert secara otomatis ke WhatsApp Anda.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19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4389119" y="5029200"/>
            <a:ext cx="3383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Jawaban: IoT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39" y="5413248"/>
            <a:ext cx="329183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Sebab ada proses sensor (kamera), koneksi internet, &amp; pengiriman data ke HP.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58" y="1920240"/>
            <a:ext cx="3749039" cy="43891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6" name="Rounded Rectangle 25"/>
          <p:cNvSpPr/>
          <p:nvPr/>
        </p:nvSpPr>
        <p:spPr>
          <a:xfrm>
            <a:off x="8321038" y="2057400"/>
            <a:ext cx="3383279" cy="594360"/>
          </a:xfrm>
          <a:prstGeom prst="roundRect">
            <a:avLst>
              <a:gd name="adj" fmla="val 5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8321038" y="2103120"/>
            <a:ext cx="338327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1B562E"/>
                </a:solidFill>
                <a:latin typeface="Calibri"/>
              </a:rPr>
              <a:t>KASUS 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38" y="2788920"/>
            <a:ext cx="338327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Bak Air dengan Kran Pelampung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18" y="3566160"/>
            <a:ext cx="3017519" cy="22860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0" name="TextBox 29"/>
          <p:cNvSpPr txBox="1"/>
          <p:nvPr/>
        </p:nvSpPr>
        <p:spPr>
          <a:xfrm>
            <a:off x="8321038" y="3703320"/>
            <a:ext cx="3383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>
                <a:solidFill>
                  <a:srgbClr val="F5F5F0"/>
                </a:solidFill>
                <a:latin typeface="Calibri"/>
              </a:rPr>
              <a:t>Bak minum sapi terisi sendiri menggunakan pelampung bola plastik (jika air turun, kran terbuka).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38" y="4983480"/>
            <a:ext cx="3383279" cy="1188720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2" name="TextBox 31"/>
          <p:cNvSpPr txBox="1"/>
          <p:nvPr/>
        </p:nvSpPr>
        <p:spPr>
          <a:xfrm>
            <a:off x="8321038" y="5029200"/>
            <a:ext cx="33832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6FBF73"/>
                </a:solidFill>
                <a:latin typeface="Calibri"/>
              </a:rPr>
              <a:t>Jawaban: Bukan IoT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58" y="5413248"/>
            <a:ext cx="32918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Sifatnya mekanik biasa. Anda tidak bisa mengecek sisa air dari layar HP.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6473952"/>
            <a:ext cx="11612880" cy="320040"/>
          </a:xfrm>
          <a:prstGeom prst="roundRect">
            <a:avLst>
              <a:gd name="adj" fmla="val 4000"/>
            </a:avLst>
          </a:prstGeom>
          <a:solidFill>
            <a:srgbClr val="D48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5" name="TextBox 34"/>
          <p:cNvSpPr txBox="1"/>
          <p:nvPr/>
        </p:nvSpPr>
        <p:spPr>
          <a:xfrm>
            <a:off x="457200" y="6501384"/>
            <a:ext cx="112471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💬 Tips Dosen: IoT wajib memiliki unsur SENSOR + KONEKSI INTERNET + DATA DI LAYAR HP/KOMPUTER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3" grpId="0"/>
      <p:bldP spid="24" grpId="0"/>
      <p:bldP spid="32" grpId="0"/>
      <p:bldP spid="3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08  |  Peluang Karir Lulusan Peternakan di Era IoT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486400" cy="52578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5120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🎯  Profesi Baru Sarjana Peternakan Modern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3550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Konsultan</a:t>
            </a:r>
            <a:r>
              <a:rPr dirty="0">
                <a:solidFill>
                  <a:srgbClr val="F5F5F0"/>
                </a:solidFill>
                <a:latin typeface="Segoe UI Emoji"/>
              </a:rPr>
              <a:t> Smart Farming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membantu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peternak</a:t>
            </a:r>
            <a:r>
              <a:rPr dirty="0">
                <a:solidFill>
                  <a:srgbClr val="F5F5F0"/>
                </a:solidFill>
                <a:latin typeface="Segoe UI Emoji"/>
              </a:rPr>
              <a:t> pasang IoT)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>
                <a:solidFill>
                  <a:srgbClr val="F5F5F0"/>
                </a:solidFill>
                <a:latin typeface="Segoe UI Emoji"/>
              </a:rPr>
              <a:t>Analis Data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Ternak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membaca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produktivitas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dari</a:t>
            </a:r>
            <a:r>
              <a:rPr dirty="0">
                <a:solidFill>
                  <a:srgbClr val="F5F5F0"/>
                </a:solidFill>
                <a:latin typeface="Segoe UI Emoji"/>
              </a:rPr>
              <a:t> sensor)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Manajer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Kandang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Presisi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mengelola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kandang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berbasis</a:t>
            </a:r>
            <a:r>
              <a:rPr dirty="0">
                <a:solidFill>
                  <a:srgbClr val="F5F5F0"/>
                </a:solidFill>
                <a:latin typeface="Segoe UI Emoji"/>
              </a:rPr>
              <a:t> data)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Spesialis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Nutrisi</a:t>
            </a:r>
            <a:r>
              <a:rPr dirty="0">
                <a:solidFill>
                  <a:srgbClr val="F5F5F0"/>
                </a:solidFill>
                <a:latin typeface="Segoe UI Emoji"/>
              </a:rPr>
              <a:t> Digital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pemberian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pakan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otomatis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Pendiri</a:t>
            </a:r>
            <a:r>
              <a:rPr dirty="0">
                <a:solidFill>
                  <a:srgbClr val="F5F5F0"/>
                </a:solidFill>
                <a:latin typeface="Segoe UI Emoji"/>
              </a:rPr>
              <a:t> Startup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AgriTech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membangun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solusi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peternakan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 err="1">
                <a:solidFill>
                  <a:srgbClr val="F5F5F0"/>
                </a:solidFill>
                <a:latin typeface="Segoe UI Emoji"/>
              </a:rPr>
              <a:t>Penyuluh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Peternakan</a:t>
            </a:r>
            <a:r>
              <a:rPr dirty="0">
                <a:solidFill>
                  <a:srgbClr val="F5F5F0"/>
                </a:solidFill>
                <a:latin typeface="Segoe UI Emoji"/>
              </a:rPr>
              <a:t> Modern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mengedukasi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petani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desa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  <a:endParaRPr lang="en-US" dirty="0">
              <a:solidFill>
                <a:srgbClr val="F5F5F0"/>
              </a:solidFill>
              <a:latin typeface="Segoe UI Emoji"/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dirty="0">
                <a:solidFill>
                  <a:srgbClr val="F5F5F0"/>
                </a:solidFill>
                <a:latin typeface="Segoe UI Emoji"/>
              </a:rPr>
              <a:t>Dosen &amp;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Peneliti</a:t>
            </a:r>
            <a:r>
              <a:rPr dirty="0">
                <a:solidFill>
                  <a:srgbClr val="F5F5F0"/>
                </a:solidFill>
                <a:latin typeface="Segoe UI Emoji"/>
              </a:rPr>
              <a:t> (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mengembangkan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teknologi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lokal</a:t>
            </a:r>
            <a:r>
              <a:rPr dirty="0">
                <a:solidFill>
                  <a:srgbClr val="F5F5F0"/>
                </a:solidFill>
                <a:latin typeface="Segoe UI Emoji"/>
              </a:rPr>
              <a:t> </a:t>
            </a:r>
            <a:r>
              <a:rPr dirty="0" err="1">
                <a:solidFill>
                  <a:srgbClr val="F5F5F0"/>
                </a:solidFill>
                <a:latin typeface="Segoe UI Emoji"/>
              </a:rPr>
              <a:t>Kaltim</a:t>
            </a:r>
            <a:r>
              <a:rPr dirty="0">
                <a:solidFill>
                  <a:srgbClr val="F5F5F0"/>
                </a:solidFill>
                <a:latin typeface="Segoe UI Emoji"/>
              </a:rPr>
              <a:t>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371600"/>
            <a:ext cx="5989320" cy="52578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6126480" y="1463040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Segoe UI Emoji"/>
              </a:rPr>
              <a:t>🚀  Teknologi Masa Depan Peternakan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214884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Drone Penggembala Sapi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1460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Drone terbang memantau kawanan sapi potong
di padang rumput tanpa perlu berkuda.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5468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6126480" y="324612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24612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Kamera AI Pendeteksi Sakit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61188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Kamera memindai wajah &amp; jalan sapi untuk
mendeteksi sapi pincang / sakit otomatis.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5196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126480" y="434340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34340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Smart Agro-Silvopasture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0916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Integrasi kandang, pakan sawit, &amp; limbah
yang dipantau otomatis lewat satu layar.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349240"/>
            <a:ext cx="5029200" cy="18288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/>
          <p:cNvSpPr txBox="1"/>
          <p:nvPr/>
        </p:nvSpPr>
        <p:spPr>
          <a:xfrm>
            <a:off x="6126480" y="5440680"/>
            <a:ext cx="6400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FFFFFF"/>
                </a:solidFill>
                <a:latin typeface="Segoe UI Emoji"/>
              </a:rPr>
              <a:t>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5440680"/>
            <a:ext cx="4846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Satelit GPS Ternak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12280" y="5806440"/>
            <a:ext cx="4846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Pelacakan sapi skala besar menggunakan sinyal
satelit langsung, tak tergantung menara HP.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08 | Bagaimana Cara Kita Memulai Belajar?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25880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>
                <a:solidFill>
                  <a:srgbClr val="6FBF73"/>
                </a:solidFill>
                <a:latin typeface="Calibri"/>
              </a:rPr>
              <a:t>Langkah mudah yang bisa dilakukan mahasiswa Fapet UNMUL sekarang: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274320" y="1938528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1️⃣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Pelajari Teori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384048" y="3182112"/>
            <a:ext cx="256946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Cari video di YouTube
tentang smart farming.
Pahami konsep, bukan coding.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457200" y="4480560"/>
            <a:ext cx="242316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6FBF73"/>
                </a:solidFill>
                <a:latin typeface="Calibri"/>
              </a:rPr>
              <a:t>🔍 Kata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kunci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pencarian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:
</a:t>
            </a:r>
            <a:r>
              <a:rPr lang="id-ID" sz="1600" b="0" i="0" dirty="0">
                <a:solidFill>
                  <a:srgbClr val="6FBF73"/>
                </a:solidFill>
                <a:latin typeface="Calibri"/>
              </a:rPr>
              <a:t>• 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'Smart Farming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Sawit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Kaltim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'
• 'Internet of Things Livestock'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5468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3154680" y="1938528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2️⃣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51760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Pakai Aplikasi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8328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TextBox 17"/>
          <p:cNvSpPr txBox="1"/>
          <p:nvPr/>
        </p:nvSpPr>
        <p:spPr>
          <a:xfrm>
            <a:off x="3264408" y="3182112"/>
            <a:ext cx="2569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Unduh aplikasi rekam data
ternak gratis di Play Store
atau pakai Google Sheets.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4612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3337560" y="4480560"/>
            <a:ext cx="2423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FBF73"/>
                </a:solidFill>
                <a:latin typeface="Calibri"/>
              </a:rPr>
              <a:t>📱 Aplikasi disarankan:
• iCow (manajemen sapi)
• Google Sheets (catat bobot)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3504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035040" y="1938528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3️⃣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2651760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Kolaborasi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TextBox 24"/>
          <p:cNvSpPr txBox="1"/>
          <p:nvPr/>
        </p:nvSpPr>
        <p:spPr>
          <a:xfrm>
            <a:off x="6144768" y="3182112"/>
            <a:ext cx="2569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Cari teman Fakultas Teknik/
Fasilkomti UNMUL untuk
membuat tugas akhir.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/>
          <p:cNvSpPr txBox="1"/>
          <p:nvPr/>
        </p:nvSpPr>
        <p:spPr>
          <a:xfrm>
            <a:off x="6217920" y="4480560"/>
            <a:ext cx="2423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6FBF73"/>
                </a:solidFill>
                <a:latin typeface="Calibri"/>
              </a:rPr>
              <a:t>🤝 Pembagian Tugas:
• Anak Teknik: merakit alat
• Anak Fapet: memimpin riset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15400" y="1874519"/>
            <a:ext cx="2788920" cy="466344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TextBox 28"/>
          <p:cNvSpPr txBox="1"/>
          <p:nvPr/>
        </p:nvSpPr>
        <p:spPr>
          <a:xfrm>
            <a:off x="8915400" y="1938528"/>
            <a:ext cx="2788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>
                <a:solidFill>
                  <a:srgbClr val="FFFFFF"/>
                </a:solidFill>
                <a:latin typeface="Segoe UI Emoji"/>
              </a:rPr>
              <a:t>4️⃣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651760"/>
            <a:ext cx="2606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5A623"/>
                </a:solidFill>
                <a:latin typeface="Calibri"/>
              </a:rPr>
              <a:t>Tugas Akhir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3108960"/>
            <a:ext cx="2331720" cy="27432"/>
          </a:xfrm>
          <a:prstGeom prst="rect">
            <a:avLst/>
          </a:prstGeom>
          <a:solidFill>
            <a:srgbClr val="6FBF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2" name="TextBox 31"/>
          <p:cNvSpPr txBox="1"/>
          <p:nvPr/>
        </p:nvSpPr>
        <p:spPr>
          <a:xfrm>
            <a:off x="9025128" y="3182112"/>
            <a:ext cx="2569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5F5F0"/>
                </a:solidFill>
                <a:latin typeface="Calibri"/>
              </a:rPr>
              <a:t>Gunakan topik IoT sebagai
tema proposal penelitian
atau judul skripsi Anda.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06840" y="4407408"/>
            <a:ext cx="2606040" cy="1920240"/>
          </a:xfrm>
          <a:prstGeom prst="roundRect">
            <a:avLst>
              <a:gd name="adj" fmla="val 4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4231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6FBF73"/>
                </a:solidFill>
                <a:latin typeface="Calibri"/>
              </a:rPr>
              <a:t>📝 Ide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Judul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Skripsi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:
• '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Pengaruh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Monitor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Suhu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IoT</a:t>
            </a:r>
            <a:r>
              <a:rPr lang="en-US" sz="160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Terhadap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Produktivitas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6FBF73"/>
                </a:solidFill>
                <a:latin typeface="Calibri"/>
              </a:rPr>
              <a:t>Sapi</a:t>
            </a:r>
            <a:r>
              <a:rPr sz="1600" b="0" i="0" dirty="0">
                <a:solidFill>
                  <a:srgbClr val="6FBF73"/>
                </a:solidFill>
                <a:latin typeface="Calibri"/>
              </a:rPr>
              <a:t>'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37744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📱  Monitoring via Telegram Bot — HP Kamu Jadi Dashboard Kandang!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029200" cy="521208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663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49EDA"/>
                </a:solidFill>
                <a:latin typeface="Calibri"/>
              </a:rPr>
              <a:t>🤖  Apa itu Telegram Bot?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663440" cy="27853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Program otomatis di dalam aplikasi Telegram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Bisa kirim pesan, foto, dan notifikasi ke HP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Dibuat gratis menggunakan @BotFather di Telegram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Tidak perlu beli server — semuanya lewat internet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ESP32 (otak IoT) terhubung ke bot via WiFi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F5F5F0"/>
                </a:solidFill>
                <a:latin typeface="Calibri"/>
              </a:rPr>
              <a:t>✅  Mahasiswa Fapet bisa memantau kandang dari mana saja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0" y="1371600"/>
            <a:ext cx="3657600" cy="521208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5623560" y="1463040"/>
            <a:ext cx="3383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249EDA"/>
                </a:solidFill>
                <a:latin typeface="Calibri"/>
              </a:rPr>
              <a:t>📲  Contoh Notifikasi di HP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1965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5852160" y="203911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 Emoji"/>
              </a:rPr>
              <a:t>🚨 BAHAYA KRITIS!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77440"/>
            <a:ext cx="3017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kandang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: 37.2°C
SANGAT PANAS!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Segera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
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nyalakan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F5F5F0"/>
                </a:solidFill>
                <a:latin typeface="Calibri"/>
              </a:rPr>
              <a:t>pendingin</a:t>
            </a:r>
            <a:r>
              <a:rPr sz="1200" b="0" i="0" dirty="0">
                <a:solidFill>
                  <a:srgbClr val="F5F5F0"/>
                </a:solidFill>
                <a:latin typeface="Calibri"/>
              </a:rPr>
              <a:t>!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3108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F57F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5852160" y="318211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 Emoji"/>
              </a:rPr>
              <a:t>⚠️ PERINGATAN SUHU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3520440"/>
            <a:ext cx="3017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Suhu kandang: 31.5°C
Melewati batas 30°C.
Nyalakan kipas!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5000" y="4251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5852160" y="432511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 Emoji"/>
              </a:rPr>
              <a:t>✅ KANDANG NORMAL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663440"/>
            <a:ext cx="30175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Suhu: 26.8°C | Lembab: 72%
Kondisi kandang aman.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15000" y="5394960"/>
            <a:ext cx="3246120" cy="1005840"/>
          </a:xfrm>
          <a:prstGeom prst="roundRect">
            <a:avLst>
              <a:gd name="adj" fmla="val 5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TextBox 21"/>
          <p:cNvSpPr txBox="1"/>
          <p:nvPr/>
        </p:nvSpPr>
        <p:spPr>
          <a:xfrm>
            <a:off x="5852160" y="5468112"/>
            <a:ext cx="3017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 Emoji"/>
              </a:rPr>
              <a:t>📊 Laporan Berkala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5806440"/>
            <a:ext cx="30175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F5F0"/>
                </a:solidFill>
                <a:latin typeface="Calibri"/>
              </a:rPr>
              <a:t>Suhu: 28°C | Lembab: 75%
Status: AMAN
Bacaan ke-10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81160" y="1371600"/>
            <a:ext cx="2651760" cy="52120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TextBox 24"/>
          <p:cNvSpPr txBox="1"/>
          <p:nvPr/>
        </p:nvSpPr>
        <p:spPr>
          <a:xfrm>
            <a:off x="9418320" y="1463040"/>
            <a:ext cx="2377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5A623"/>
                </a:solidFill>
                <a:latin typeface="Calibri"/>
              </a:rPr>
              <a:t>🌟  Manfaat
Bagi Peternak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18320" y="2148840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9464040" y="2240280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2240280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Pantau 24 jam
nonstop dari HP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3035808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0" name="TextBox 29"/>
          <p:cNvSpPr txBox="1"/>
          <p:nvPr/>
        </p:nvSpPr>
        <p:spPr>
          <a:xfrm>
            <a:off x="9464040" y="3127248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3127248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Monitor dari
rumah/kota lain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418320" y="3922776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TextBox 32"/>
          <p:cNvSpPr txBox="1"/>
          <p:nvPr/>
        </p:nvSpPr>
        <p:spPr>
          <a:xfrm>
            <a:off x="9464040" y="4014216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4014216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Alert instan
saat ada bahaya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418320" y="4809744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TextBox 35"/>
          <p:cNvSpPr txBox="1"/>
          <p:nvPr/>
        </p:nvSpPr>
        <p:spPr>
          <a:xfrm>
            <a:off x="9464040" y="4901184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4901184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Hemat biaya
kunjungan kandang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418320" y="5696712"/>
            <a:ext cx="2331720" cy="749808"/>
          </a:xfrm>
          <a:prstGeom prst="roundRect">
            <a:avLst>
              <a:gd name="adj" fmla="val 5000"/>
            </a:avLst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9" name="TextBox 38"/>
          <p:cNvSpPr txBox="1"/>
          <p:nvPr/>
        </p:nvSpPr>
        <p:spPr>
          <a:xfrm>
            <a:off x="9464040" y="5788152"/>
            <a:ext cx="457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1240" y="5788152"/>
            <a:ext cx="1691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Data tercatat
otomatis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457200" y="6519672"/>
            <a:ext cx="112471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82828"/>
                </a:solidFill>
                <a:latin typeface="Calibri"/>
              </a:rPr>
              <a:t>💡  Tidak perlu coding rumit! ESP32 + 50 baris kode = kandang terpantau 24 jam via Telegram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37744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🔧  Setup Telegram Bot — 4 Langkah Mudah (Untuk Hardware Nyata)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Rounded Rectangle 7"/>
          <p:cNvSpPr/>
          <p:nvPr/>
        </p:nvSpPr>
        <p:spPr>
          <a:xfrm>
            <a:off x="411480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TextBox 8"/>
          <p:cNvSpPr txBox="1"/>
          <p:nvPr/>
        </p:nvSpPr>
        <p:spPr>
          <a:xfrm>
            <a:off x="411480" y="1554480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49961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1554480"/>
            <a:ext cx="20116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 err="1">
                <a:solidFill>
                  <a:srgbClr val="249EDA"/>
                </a:solidFill>
                <a:latin typeface="Calibri"/>
              </a:rPr>
              <a:t>Buat</a:t>
            </a:r>
            <a:r>
              <a:rPr sz="1400" b="1" i="0" dirty="0">
                <a:solidFill>
                  <a:srgbClr val="249EDA"/>
                </a:solidFill>
                <a:latin typeface="Calibri"/>
              </a:rPr>
              <a:t> Bot di Telegram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457200" y="2194560"/>
            <a:ext cx="2560320" cy="25776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Buka Telegram → </a:t>
            </a:r>
            <a:r>
              <a:rPr dirty="0" err="1">
                <a:solidFill>
                  <a:srgbClr val="F5F5F0"/>
                </a:solidFill>
                <a:latin typeface="Calibri"/>
              </a:rPr>
              <a:t>cari</a:t>
            </a:r>
            <a:r>
              <a:rPr dirty="0">
                <a:solidFill>
                  <a:srgbClr val="F5F5F0"/>
                </a:solidFill>
                <a:latin typeface="Calibri"/>
              </a:rPr>
              <a:t> @BotFather</a:t>
            </a:r>
            <a:endParaRPr lang="en-US"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Kirim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pesan</a:t>
            </a:r>
            <a:r>
              <a:rPr dirty="0">
                <a:solidFill>
                  <a:srgbClr val="F5F5F0"/>
                </a:solidFill>
                <a:latin typeface="Calibri"/>
              </a:rPr>
              <a:t>: /</a:t>
            </a:r>
            <a:r>
              <a:rPr dirty="0" err="1">
                <a:solidFill>
                  <a:srgbClr val="F5F5F0"/>
                </a:solidFill>
                <a:latin typeface="Calibri"/>
              </a:rPr>
              <a:t>newbot</a:t>
            </a:r>
            <a:endParaRPr lang="en-US"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Beri nama bot: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KandangSapiBot</a:t>
            </a:r>
            <a:endParaRPr lang="en-US"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 err="1">
                <a:solidFill>
                  <a:srgbClr val="F5F5F0"/>
                </a:solidFill>
                <a:latin typeface="Calibri"/>
              </a:rPr>
              <a:t>BotFather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memberi</a:t>
            </a:r>
            <a:r>
              <a:rPr dirty="0">
                <a:solidFill>
                  <a:srgbClr val="F5F5F0"/>
                </a:solidFill>
                <a:latin typeface="Calibri"/>
              </a:rPr>
              <a:t> TOKEN (</a:t>
            </a:r>
            <a:r>
              <a:rPr dirty="0" err="1">
                <a:solidFill>
                  <a:srgbClr val="F5F5F0"/>
                </a:solidFill>
                <a:latin typeface="Calibri"/>
              </a:rPr>
              <a:t>simpan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baik-baik</a:t>
            </a:r>
            <a:r>
              <a:rPr dirty="0">
                <a:solidFill>
                  <a:srgbClr val="F5F5F0"/>
                </a:solidFill>
                <a:latin typeface="Calibri"/>
              </a:rPr>
              <a:t>!)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475488" y="5943601"/>
            <a:ext cx="2514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Token = 'kunci' bot kamu. Jangan dibagikan!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2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16"/>
          <p:cNvSpPr/>
          <p:nvPr/>
        </p:nvSpPr>
        <p:spPr>
          <a:xfrm>
            <a:off x="3410712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3410712" y="1554480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49961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6784" y="1554480"/>
            <a:ext cx="20116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9EDA"/>
                </a:solidFill>
                <a:latin typeface="Calibri"/>
              </a:rPr>
              <a:t>Dapatkan Chat ID Kamu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56432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TextBox 21"/>
          <p:cNvSpPr txBox="1"/>
          <p:nvPr/>
        </p:nvSpPr>
        <p:spPr>
          <a:xfrm>
            <a:off x="3456432" y="2194560"/>
            <a:ext cx="2560320" cy="2854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Cari </a:t>
            </a:r>
            <a:r>
              <a:rPr lang="id-ID" dirty="0">
                <a:solidFill>
                  <a:srgbClr val="F5F5F0"/>
                </a:solidFill>
              </a:rPr>
              <a:t>@myidbot</a:t>
            </a:r>
            <a:r>
              <a:rPr dirty="0">
                <a:solidFill>
                  <a:srgbClr val="F5F5F0"/>
                </a:solidFill>
                <a:latin typeface="Calibri"/>
              </a:rPr>
              <a:t> di Telegram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Kirim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pesan</a:t>
            </a:r>
            <a:r>
              <a:rPr dirty="0">
                <a:solidFill>
                  <a:srgbClr val="F5F5F0"/>
                </a:solidFill>
                <a:latin typeface="Calibri"/>
              </a:rPr>
              <a:t> /start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dirty="0">
                <a:solidFill>
                  <a:srgbClr val="F5F5F0"/>
                </a:solidFill>
                <a:latin typeface="Calibri"/>
              </a:rPr>
              <a:t> bot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tersebut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balas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dengan</a:t>
            </a:r>
            <a:r>
              <a:rPr dirty="0">
                <a:solidFill>
                  <a:srgbClr val="F5F5F0"/>
                </a:solidFill>
                <a:latin typeface="Calibri"/>
              </a:rPr>
              <a:t> 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angka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kamu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Catat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angka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itu</a:t>
            </a:r>
            <a:r>
              <a:rPr dirty="0">
                <a:solidFill>
                  <a:srgbClr val="F5F5F0"/>
                </a:solidFill>
                <a:latin typeface="Calibri"/>
              </a:rPr>
              <a:t> — </a:t>
            </a:r>
            <a:r>
              <a:rPr dirty="0" err="1">
                <a:solidFill>
                  <a:srgbClr val="F5F5F0"/>
                </a:solidFill>
                <a:latin typeface="Calibri"/>
              </a:rPr>
              <a:t>itulah</a:t>
            </a:r>
            <a:r>
              <a:rPr dirty="0">
                <a:solidFill>
                  <a:srgbClr val="F5F5F0"/>
                </a:solidFill>
                <a:latin typeface="Calibri"/>
              </a:rPr>
              <a:t> CHAT_ID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kamu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410712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TextBox 23"/>
          <p:cNvSpPr txBox="1"/>
          <p:nvPr/>
        </p:nvSpPr>
        <p:spPr>
          <a:xfrm>
            <a:off x="3474720" y="5943601"/>
            <a:ext cx="2514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Chat ID = 'alamat' HP kamu untuk bot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0757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6409944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6409944" y="1554480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58784" y="149961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1554480"/>
            <a:ext cx="2011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9EDA"/>
                </a:solidFill>
                <a:latin typeface="Calibri"/>
              </a:rPr>
              <a:t>Isi Token di Kode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55664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TextBox 30"/>
          <p:cNvSpPr txBox="1"/>
          <p:nvPr/>
        </p:nvSpPr>
        <p:spPr>
          <a:xfrm>
            <a:off x="6455664" y="2194560"/>
            <a:ext cx="256032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Buka </a:t>
            </a:r>
            <a:r>
              <a:rPr dirty="0" err="1">
                <a:solidFill>
                  <a:srgbClr val="F5F5F0"/>
                </a:solidFill>
                <a:latin typeface="Calibri"/>
              </a:rPr>
              <a:t>sketch_telegram.ino</a:t>
            </a:r>
            <a:r>
              <a:rPr dirty="0">
                <a:solidFill>
                  <a:srgbClr val="F5F5F0"/>
                </a:solidFill>
                <a:latin typeface="Calibri"/>
              </a:rPr>
              <a:t> di Arduino IDE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Isi WIFI_SSID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dengan</a:t>
            </a:r>
            <a:r>
              <a:rPr dirty="0">
                <a:solidFill>
                  <a:srgbClr val="F5F5F0"/>
                </a:solidFill>
                <a:latin typeface="Calibri"/>
              </a:rPr>
              <a:t> nama </a:t>
            </a:r>
            <a:r>
              <a:rPr dirty="0" err="1">
                <a:solidFill>
                  <a:srgbClr val="F5F5F0"/>
                </a:solidFill>
                <a:latin typeface="Calibri"/>
              </a:rPr>
              <a:t>WiFi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kandangmu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lang="id-ID" dirty="0">
                <a:solidFill>
                  <a:srgbClr val="F5F5F0"/>
                </a:solidFill>
                <a:latin typeface="Calibri"/>
              </a:rPr>
              <a:t>Isi </a:t>
            </a:r>
            <a:r>
              <a:rPr dirty="0">
                <a:solidFill>
                  <a:srgbClr val="F5F5F0"/>
                </a:solidFill>
                <a:latin typeface="Calibri"/>
              </a:rPr>
              <a:t>BOT_TOKEN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dengan</a:t>
            </a:r>
            <a:r>
              <a:rPr dirty="0">
                <a:solidFill>
                  <a:srgbClr val="F5F5F0"/>
                </a:solidFill>
                <a:latin typeface="Calibri"/>
              </a:rPr>
              <a:t> token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BotFather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Isi CHAT_ID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dengan</a:t>
            </a:r>
            <a:r>
              <a:rPr dirty="0">
                <a:solidFill>
                  <a:srgbClr val="F5F5F0"/>
                </a:solidFill>
                <a:latin typeface="Calibri"/>
              </a:rPr>
              <a:t> ID </a:t>
            </a:r>
            <a:r>
              <a:rPr dirty="0" err="1">
                <a:solidFill>
                  <a:srgbClr val="F5F5F0"/>
                </a:solidFill>
                <a:latin typeface="Calibri"/>
              </a:rPr>
              <a:t>angka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langkah</a:t>
            </a:r>
            <a:r>
              <a:rPr dirty="0">
                <a:solidFill>
                  <a:srgbClr val="F5F5F0"/>
                </a:solidFill>
                <a:latin typeface="Calibri"/>
              </a:rPr>
              <a:t> 02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9944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TextBox 32"/>
          <p:cNvSpPr txBox="1"/>
          <p:nvPr/>
        </p:nvSpPr>
        <p:spPr>
          <a:xfrm>
            <a:off x="6473952" y="5943601"/>
            <a:ext cx="2514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Aktifkan baris yang dikomentari (//) di kode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72016" y="1389888"/>
            <a:ext cx="2880360" cy="507492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5" name="Rounded Rectangle 34"/>
          <p:cNvSpPr/>
          <p:nvPr/>
        </p:nvSpPr>
        <p:spPr>
          <a:xfrm>
            <a:off x="9409176" y="1527048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TextBox 35"/>
          <p:cNvSpPr txBox="1"/>
          <p:nvPr/>
        </p:nvSpPr>
        <p:spPr>
          <a:xfrm>
            <a:off x="9409176" y="1554480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58016" y="1499616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FFFFFF"/>
                </a:solidFill>
                <a:latin typeface="Segoe UI Emoji"/>
              </a:rPr>
              <a:t>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85248" y="1554480"/>
            <a:ext cx="20116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49EDA"/>
                </a:solidFill>
                <a:latin typeface="Calibri"/>
              </a:rPr>
              <a:t>Upload &amp; Coba!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54896" y="2103120"/>
            <a:ext cx="2514600" cy="22860"/>
          </a:xfrm>
          <a:prstGeom prst="rect">
            <a:avLst/>
          </a:prstGeom>
          <a:solidFill>
            <a:srgbClr val="249E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0" name="TextBox 39"/>
          <p:cNvSpPr txBox="1"/>
          <p:nvPr/>
        </p:nvSpPr>
        <p:spPr>
          <a:xfrm>
            <a:off x="9454896" y="2194560"/>
            <a:ext cx="2560320" cy="2854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 err="1">
                <a:solidFill>
                  <a:srgbClr val="F5F5F0"/>
                </a:solidFill>
                <a:latin typeface="Calibri"/>
              </a:rPr>
              <a:t>Hubungkan</a:t>
            </a:r>
            <a:r>
              <a:rPr dirty="0">
                <a:solidFill>
                  <a:srgbClr val="F5F5F0"/>
                </a:solidFill>
                <a:latin typeface="Calibri"/>
              </a:rPr>
              <a:t> ESP32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dirty="0">
                <a:solidFill>
                  <a:srgbClr val="F5F5F0"/>
                </a:solidFill>
                <a:latin typeface="Calibri"/>
              </a:rPr>
              <a:t> laptop via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kabel</a:t>
            </a:r>
            <a:r>
              <a:rPr dirty="0">
                <a:solidFill>
                  <a:srgbClr val="F5F5F0"/>
                </a:solidFill>
                <a:latin typeface="Calibri"/>
              </a:rPr>
              <a:t> USB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Upload </a:t>
            </a:r>
            <a:r>
              <a:rPr dirty="0" err="1">
                <a:solidFill>
                  <a:srgbClr val="F5F5F0"/>
                </a:solidFill>
                <a:latin typeface="Calibri"/>
              </a:rPr>
              <a:t>kode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Arduino IDE </a:t>
            </a:r>
            <a:r>
              <a:rPr dirty="0" err="1">
                <a:solidFill>
                  <a:srgbClr val="F5F5F0"/>
                </a:solidFill>
                <a:latin typeface="Calibri"/>
              </a:rPr>
              <a:t>ke</a:t>
            </a:r>
            <a:r>
              <a:rPr dirty="0">
                <a:solidFill>
                  <a:srgbClr val="F5F5F0"/>
                </a:solidFill>
                <a:latin typeface="Calibri"/>
              </a:rPr>
              <a:t> ESP32</a:t>
            </a: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Buka Telegram → </a:t>
            </a:r>
            <a:r>
              <a:rPr dirty="0" err="1">
                <a:solidFill>
                  <a:srgbClr val="F5F5F0"/>
                </a:solidFill>
                <a:latin typeface="Calibri"/>
              </a:rPr>
              <a:t>cari</a:t>
            </a:r>
            <a:r>
              <a:rPr dirty="0">
                <a:solidFill>
                  <a:srgbClr val="F5F5F0"/>
                </a:solidFill>
                <a:latin typeface="Calibri"/>
              </a:rPr>
              <a:t> nama bot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kamu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 marL="342900" indent="-342900">
              <a:spcAft>
                <a:spcPts val="700"/>
              </a:spcAft>
              <a:buFont typeface="+mj-lt"/>
              <a:buAutoNum type="arabicPeriod"/>
            </a:pPr>
            <a:r>
              <a:rPr dirty="0">
                <a:solidFill>
                  <a:srgbClr val="F5F5F0"/>
                </a:solidFill>
                <a:latin typeface="Calibri"/>
              </a:rPr>
              <a:t>Kirim /start → bot </a:t>
            </a:r>
            <a:r>
              <a:rPr dirty="0" err="1">
                <a:solidFill>
                  <a:srgbClr val="F5F5F0"/>
                </a:solidFill>
                <a:latin typeface="Calibri"/>
              </a:rPr>
              <a:t>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membalas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otomatis</a:t>
            </a:r>
            <a:r>
              <a:rPr dirty="0">
                <a:solidFill>
                  <a:srgbClr val="F5F5F0"/>
                </a:solidFill>
                <a:latin typeface="Calibri"/>
              </a:rPr>
              <a:t>!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09176" y="5916168"/>
            <a:ext cx="2606040" cy="43891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9473184" y="5943601"/>
            <a:ext cx="2514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Panaskan sensor → lihat notifikasi masuk ke HP!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74320" y="6455664"/>
            <a:ext cx="11612880" cy="338328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4" name="TextBox 43"/>
          <p:cNvSpPr txBox="1"/>
          <p:nvPr/>
        </p:nvSpPr>
        <p:spPr>
          <a:xfrm>
            <a:off x="457200" y="6483096"/>
            <a:ext cx="112471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 dirty="0">
                <a:solidFill>
                  <a:srgbClr val="50FA7B"/>
                </a:solidFill>
                <a:latin typeface="Courier New"/>
              </a:rPr>
              <a:t>const char* WIFI_SSID = "</a:t>
            </a:r>
            <a:r>
              <a:rPr sz="1200" b="0" i="0" dirty="0" err="1">
                <a:solidFill>
                  <a:srgbClr val="50FA7B"/>
                </a:solidFill>
                <a:latin typeface="Courier New"/>
              </a:rPr>
              <a:t>WiFiKamu</a:t>
            </a:r>
            <a:r>
              <a:rPr sz="1200" b="0" i="0" dirty="0">
                <a:solidFill>
                  <a:srgbClr val="50FA7B"/>
                </a:solidFill>
                <a:latin typeface="Courier New"/>
              </a:rPr>
              <a:t>";   const String BOT_TOKEN = "123456:ABCDEF";   const String CHAT_ID = "987654321";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50FA7B"/>
                </a:solidFill>
                <a:latin typeface="Calibri"/>
              </a:rPr>
              <a:t>🧪  Praktikum IoT: Simulasi di Wokwi (Tanpa Hardware!)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5212080" cy="521208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50FA7B"/>
                </a:solidFill>
                <a:latin typeface="Calibri"/>
              </a:rPr>
              <a:t>🌐  Apa itu Wokwi?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4846320" cy="29392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Simulator IoT/Arduino GRATIS berbasis browser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Tidak perlu beli hardware apapun sama sekali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Tersedia sensor, motor, layar LCD, dan LED virtual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Kode bisa ditulis &amp; dijalankan langsung di situs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Proyek bisa dibagikan via link ke teman/dosen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Dipakai oleh jutaan pelajar &amp; insinyur di seluruh dunia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F5F5F0"/>
                </a:solidFill>
                <a:latin typeface="Segoe UI Emoji"/>
              </a:rPr>
              <a:t>✅  Akses dari HP atau laptop — tidak perlu install apapun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1371600"/>
            <a:ext cx="6217920" cy="24231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5852160" y="1463040"/>
            <a:ext cx="58521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Segoe UI Emoji"/>
              </a:rPr>
              <a:t>🎯  Kenapa Cocok untuk Mahasiswa Peternakan?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011680"/>
            <a:ext cx="5852160" cy="13542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→  Tidak </a:t>
            </a:r>
            <a:r>
              <a:rPr dirty="0" err="1">
                <a:solidFill>
                  <a:srgbClr val="F5F5F0"/>
                </a:solidFill>
                <a:latin typeface="Calibri"/>
              </a:rPr>
              <a:t>perlu</a:t>
            </a:r>
            <a:r>
              <a:rPr dirty="0">
                <a:solidFill>
                  <a:srgbClr val="F5F5F0"/>
                </a:solidFill>
                <a:latin typeface="Calibri"/>
              </a:rPr>
              <a:t> modal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beli</a:t>
            </a:r>
            <a:r>
              <a:rPr dirty="0">
                <a:solidFill>
                  <a:srgbClr val="F5F5F0"/>
                </a:solidFill>
                <a:latin typeface="Calibri"/>
              </a:rPr>
              <a:t> sensor &amp; </a:t>
            </a:r>
            <a:r>
              <a:rPr dirty="0" err="1">
                <a:solidFill>
                  <a:srgbClr val="F5F5F0"/>
                </a:solidFill>
                <a:latin typeface="Calibri"/>
              </a:rPr>
              <a:t>alat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elektronika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→  Bisa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dicoba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berkali</a:t>
            </a:r>
            <a:r>
              <a:rPr dirty="0">
                <a:solidFill>
                  <a:srgbClr val="F5F5F0"/>
                </a:solidFill>
                <a:latin typeface="Calibri"/>
              </a:rPr>
              <a:t>-kali </a:t>
            </a:r>
            <a:r>
              <a:rPr dirty="0" err="1">
                <a:solidFill>
                  <a:srgbClr val="F5F5F0"/>
                </a:solidFill>
                <a:latin typeface="Calibri"/>
              </a:rPr>
              <a:t>tanpa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takut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alat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rusak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→  Bisa </a:t>
            </a:r>
            <a:r>
              <a:rPr dirty="0" err="1">
                <a:solidFill>
                  <a:srgbClr val="F5F5F0"/>
                </a:solidFill>
                <a:latin typeface="Calibri"/>
              </a:rPr>
              <a:t>langsung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eksperimen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ubah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nilai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suhu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kandang</a:t>
            </a:r>
            <a:endParaRPr dirty="0">
              <a:solidFill>
                <a:srgbClr val="F5F5F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dirty="0">
                <a:solidFill>
                  <a:srgbClr val="F5F5F0"/>
                </a:solidFill>
                <a:latin typeface="Calibri"/>
              </a:rPr>
              <a:t>→  </a:t>
            </a:r>
            <a:r>
              <a:rPr dirty="0" err="1">
                <a:solidFill>
                  <a:srgbClr val="F5F5F0"/>
                </a:solidFill>
                <a:latin typeface="Calibri"/>
              </a:rPr>
              <a:t>Cocok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dikerjakan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dari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rumah</a:t>
            </a:r>
            <a:r>
              <a:rPr dirty="0">
                <a:solidFill>
                  <a:srgbClr val="F5F5F0"/>
                </a:solidFill>
                <a:latin typeface="Calibri"/>
              </a:rPr>
              <a:t> </a:t>
            </a:r>
            <a:r>
              <a:rPr dirty="0" err="1">
                <a:solidFill>
                  <a:srgbClr val="F5F5F0"/>
                </a:solidFill>
                <a:latin typeface="Calibri"/>
              </a:rPr>
              <a:t>atau</a:t>
            </a:r>
            <a:r>
              <a:rPr dirty="0">
                <a:solidFill>
                  <a:srgbClr val="F5F5F0"/>
                </a:solidFill>
                <a:latin typeface="Calibri"/>
              </a:rPr>
              <a:t> kos </a:t>
            </a:r>
            <a:r>
              <a:rPr dirty="0" err="1">
                <a:solidFill>
                  <a:srgbClr val="F5F5F0"/>
                </a:solidFill>
                <a:latin typeface="Calibri"/>
              </a:rPr>
              <a:t>mahasiswa</a:t>
            </a:r>
            <a:endParaRPr dirty="0">
              <a:solidFill>
                <a:srgbClr val="F5F5F0"/>
              </a:solidFill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669280" y="3931920"/>
            <a:ext cx="6217920" cy="1051560"/>
          </a:xfrm>
          <a:prstGeom prst="roundRect">
            <a:avLst>
              <a:gd name="adj" fmla="val 5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5852160" y="400507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82828"/>
                </a:solidFill>
                <a:latin typeface="Calibri"/>
              </a:rPr>
              <a:t>🔗  Alamat Website: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315968"/>
            <a:ext cx="5852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282828"/>
                </a:solidFill>
                <a:latin typeface="Calibri"/>
              </a:rPr>
              <a:t>wokwi.com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5120640"/>
            <a:ext cx="6217920" cy="141732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TextBox 16"/>
          <p:cNvSpPr txBox="1"/>
          <p:nvPr/>
        </p:nvSpPr>
        <p:spPr>
          <a:xfrm>
            <a:off x="5852160" y="5193792"/>
            <a:ext cx="58521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8BE9FD"/>
                </a:solidFill>
                <a:latin typeface="Segoe UI Emoji"/>
              </a:rPr>
              <a:t>⚙️  Komponen Virtual yang Tersedia di Wokwi: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5623560"/>
            <a:ext cx="585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Segoe UI Emoji"/>
              </a:rPr>
              <a:t>🌡️ Sensor Suhu DHT22    📺 Layar LCD    💡 LED Alarm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5989320"/>
            <a:ext cx="5852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Segoe UI Emoji"/>
              </a:rPr>
              <a:t>📍 GPS Module    🔊 Buzzer    ⚖️ Load Cell (Timbangan)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50FA7B"/>
                </a:solidFill>
                <a:latin typeface="Calibri"/>
              </a:rPr>
              <a:t>🐄  Proyek Simulasi: Monitor Suhu &amp; Kelembaban Kandang Sapi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371600"/>
            <a:ext cx="11612880" cy="658368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Segoe UI Emoji"/>
              </a:rPr>
              <a:t>🎯  Tujuan: Membuat alat virtual yang menampilkan suhu kandang dan menyalakan lampu merah jika terlalu panas (&gt; 30°C)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148840"/>
            <a:ext cx="320040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28346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8BE9FD"/>
                </a:solidFill>
                <a:latin typeface="Segoe UI Emoji"/>
              </a:rPr>
              <a:t>🔧  Komponen Virtual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743200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502920" y="2852928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16352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Arduino Uno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127248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Otak pengontrol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93008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502920" y="3602736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66160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Sensor DHT22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77056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Baca suhu &amp; lembab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4242816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502920" y="4352544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LCD 16x2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626864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Tampilkan angka data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4992624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TextBox 23"/>
          <p:cNvSpPr txBox="1"/>
          <p:nvPr/>
        </p:nvSpPr>
        <p:spPr>
          <a:xfrm>
            <a:off x="502920" y="5102352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065776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LED Merah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376672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Lampu alarm panas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742432"/>
            <a:ext cx="2880360" cy="658368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8" name="TextBox 27"/>
          <p:cNvSpPr txBox="1"/>
          <p:nvPr/>
        </p:nvSpPr>
        <p:spPr>
          <a:xfrm>
            <a:off x="502920" y="585216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Segoe UI Emoji"/>
              </a:rPr>
              <a:t>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15584"/>
            <a:ext cx="2148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B86C"/>
                </a:solidFill>
                <a:latin typeface="Calibri"/>
              </a:rPr>
              <a:t>Resistor 220Ω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6126480"/>
            <a:ext cx="2148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Pengaman LED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11880" y="2148840"/>
            <a:ext cx="493776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2" name="TextBox 31"/>
          <p:cNvSpPr txBox="1"/>
          <p:nvPr/>
        </p:nvSpPr>
        <p:spPr>
          <a:xfrm>
            <a:off x="3794760" y="224028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8BE9FD"/>
                </a:solidFill>
                <a:latin typeface="Segoe UI Emoji"/>
              </a:rPr>
              <a:t>⚙️  Cara Kerjanya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49039" y="2743200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4" name="TextBox 33"/>
          <p:cNvSpPr txBox="1"/>
          <p:nvPr/>
        </p:nvSpPr>
        <p:spPr>
          <a:xfrm>
            <a:off x="3749039" y="2761488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2743200"/>
            <a:ext cx="4160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Sensor DHT22 membaca
suhu &amp; kelembaban kandang
setiap 2 detik sekali.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3182112"/>
            <a:ext cx="228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749039" y="3621024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8" name="TextBox 37"/>
          <p:cNvSpPr txBox="1"/>
          <p:nvPr/>
        </p:nvSpPr>
        <p:spPr>
          <a:xfrm>
            <a:off x="3749039" y="3639312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06240" y="3621024"/>
            <a:ext cx="4160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Hasilnya ditampilkan
di layar LCD:
"Suhu: 33.0°C | Lembab: 75.0 %"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58768" y="4059936"/>
            <a:ext cx="228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749039" y="449884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3749039" y="4517136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4498848"/>
            <a:ext cx="416052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Program cek:
Apakah suhu &gt; 30°C?
JIKA IYA → LED MERAH MENYALA
JIKA TIDAK → LED tetap mati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58768" y="4937760"/>
            <a:ext cx="2286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B86C"/>
                </a:solidFill>
                <a:latin typeface="Calibri"/>
              </a:rPr>
              <a:t>↓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49039" y="5376672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6" name="TextBox 45"/>
          <p:cNvSpPr txBox="1"/>
          <p:nvPr/>
        </p:nvSpPr>
        <p:spPr>
          <a:xfrm>
            <a:off x="3749039" y="5394960"/>
            <a:ext cx="3840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376672"/>
            <a:ext cx="4160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Proses diulang terus
setiap 2 detik.
Seperti sensor kandang asli!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2148840"/>
            <a:ext cx="3246120" cy="4434840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9" name="TextBox 48"/>
          <p:cNvSpPr txBox="1"/>
          <p:nvPr/>
        </p:nvSpPr>
        <p:spPr>
          <a:xfrm>
            <a:off x="8869680" y="2240280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8BE9FD"/>
                </a:solidFill>
                <a:latin typeface="Segoe UI Emoji"/>
              </a:rPr>
              <a:t>&lt;/&gt;  Cuplikan Kode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743200"/>
            <a:ext cx="2973891" cy="32393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// Batas suhu aman kandang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8BE9FD"/>
                </a:solidFill>
                <a:latin typeface="Courier New"/>
              </a:rPr>
              <a:t>#define BATAS_SUHU 30.0</a:t>
            </a:r>
          </a:p>
          <a:p>
            <a:pPr>
              <a:spcAft>
                <a:spcPts val="100"/>
              </a:spcAft>
            </a:pPr>
            <a:endParaRPr sz="1200" b="0">
              <a:solidFill>
                <a:srgbClr val="8BE9FD"/>
              </a:solidFill>
              <a:latin typeface="Courier New"/>
            </a:endParaRP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// Baca data dari sensor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5F5F0"/>
                </a:solidFill>
                <a:latin typeface="Courier New"/>
              </a:rPr>
              <a:t>float suhu =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FB86C"/>
                </a:solidFill>
                <a:latin typeface="Courier New"/>
              </a:rPr>
              <a:t>  dht.readTemperature();</a:t>
            </a:r>
          </a:p>
          <a:p>
            <a:pPr>
              <a:spcAft>
                <a:spcPts val="100"/>
              </a:spcAft>
            </a:pPr>
            <a:endParaRPr sz="1200" b="0">
              <a:solidFill>
                <a:srgbClr val="FFB86C"/>
              </a:solidFill>
              <a:latin typeface="Courier New"/>
            </a:endParaRP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// Cek kondisi suhu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5F5F0"/>
                </a:solidFill>
                <a:latin typeface="Courier New"/>
              </a:rPr>
              <a:t>if (suhu &gt; BATAS_SUHU) {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  // Nyalakan LED alarm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F5555"/>
                </a:solidFill>
                <a:latin typeface="Courier New"/>
              </a:rPr>
              <a:t>  digitalWrite(LED,HIGH);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5F5F0"/>
                </a:solidFill>
                <a:latin typeface="Courier New"/>
              </a:rPr>
              <a:t>} else {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  digitalWrite(LED,LOW);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F5F5F0"/>
                </a:solidFill>
                <a:latin typeface="Courier New"/>
              </a:rPr>
              <a:t>}</a:t>
            </a:r>
          </a:p>
          <a:p>
            <a:pPr>
              <a:spcAft>
                <a:spcPts val="100"/>
              </a:spcAft>
            </a:pPr>
            <a:endParaRPr sz="1200" b="0">
              <a:solidFill>
                <a:srgbClr val="F5F5F0"/>
              </a:solidFill>
              <a:latin typeface="Courier New"/>
            </a:endParaRP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50FA7B"/>
                </a:solidFill>
                <a:latin typeface="Courier New"/>
              </a:rPr>
              <a:t>delay(2000); // tunggu 2 detik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" y="6492240"/>
            <a:ext cx="11612880" cy="301752"/>
          </a:xfrm>
          <a:prstGeom prst="roundRect">
            <a:avLst>
              <a:gd name="adj" fmla="val 4000"/>
            </a:avLst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2" name="TextBox 51"/>
          <p:cNvSpPr txBox="1"/>
          <p:nvPr/>
        </p:nvSpPr>
        <p:spPr>
          <a:xfrm>
            <a:off x="457200" y="6519672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Segoe UI Emoji"/>
              </a:rPr>
              <a:t>🔥  Tantangan: Ubah nilai BATAS_SUHU dari 30 menjadi 25. Lihat kapan LED alarm menyala!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FB8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365760" y="256032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50FA7B"/>
                </a:solidFill>
                <a:latin typeface="Calibri"/>
              </a:rPr>
              <a:t>📋  Cara </a:t>
            </a:r>
            <a:r>
              <a:rPr sz="2800" b="1" i="0" dirty="0" err="1">
                <a:solidFill>
                  <a:srgbClr val="50FA7B"/>
                </a:solidFill>
                <a:latin typeface="Calibri"/>
              </a:rPr>
              <a:t>Menggunakan</a:t>
            </a:r>
            <a:r>
              <a:rPr sz="2800" b="1" i="0" dirty="0">
                <a:solidFill>
                  <a:srgbClr val="50FA7B"/>
                </a:solidFill>
                <a:latin typeface="Calibri"/>
              </a:rPr>
              <a:t> </a:t>
            </a:r>
            <a:r>
              <a:rPr sz="2800" b="1" i="0" dirty="0" err="1">
                <a:solidFill>
                  <a:srgbClr val="50FA7B"/>
                </a:solidFill>
                <a:latin typeface="Calibri"/>
              </a:rPr>
              <a:t>Wokwi</a:t>
            </a:r>
            <a:r>
              <a:rPr sz="2800" b="1" i="0" dirty="0">
                <a:solidFill>
                  <a:srgbClr val="50FA7B"/>
                </a:solidFill>
                <a:latin typeface="Calibri"/>
              </a:rPr>
              <a:t> — Panduan Langkah Demi Langkah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Rounded Rectangle 7"/>
          <p:cNvSpPr/>
          <p:nvPr/>
        </p:nvSpPr>
        <p:spPr>
          <a:xfrm>
            <a:off x="41148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TextBox 8"/>
          <p:cNvSpPr txBox="1"/>
          <p:nvPr/>
        </p:nvSpPr>
        <p:spPr>
          <a:xfrm>
            <a:off x="411480" y="15819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15087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819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Buka Browser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3" name="TextBox 12"/>
          <p:cNvSpPr txBox="1"/>
          <p:nvPr/>
        </p:nvSpPr>
        <p:spPr>
          <a:xfrm>
            <a:off x="457200" y="2148840"/>
            <a:ext cx="342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Buka Google Chrome / Firefox di
laptop atau HP kamu.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457200" y="32826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Tidak perlu install aplikasi apapun!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ounded Rectangle 16"/>
          <p:cNvSpPr/>
          <p:nvPr/>
        </p:nvSpPr>
        <p:spPr>
          <a:xfrm>
            <a:off x="438912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4389120" y="15819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5087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15819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Kunjungi Wokwi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3484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TextBox 21"/>
          <p:cNvSpPr txBox="1"/>
          <p:nvPr/>
        </p:nvSpPr>
        <p:spPr>
          <a:xfrm>
            <a:off x="4434840" y="21488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Ketik di address bar browser:
wokwi.com
lalu tekan Enter.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TextBox 23"/>
          <p:cNvSpPr txBox="1"/>
          <p:nvPr/>
        </p:nvSpPr>
        <p:spPr>
          <a:xfrm>
            <a:off x="4434840" y="32826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Gratis, tidak perlu daftar!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0" y="14173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6" name="Rounded Rectangle 25"/>
          <p:cNvSpPr/>
          <p:nvPr/>
        </p:nvSpPr>
        <p:spPr>
          <a:xfrm>
            <a:off x="8366760" y="15544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8366760" y="15819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84280" y="15087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15819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Buat Proyek Baru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20574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TextBox 30"/>
          <p:cNvSpPr txBox="1"/>
          <p:nvPr/>
        </p:nvSpPr>
        <p:spPr>
          <a:xfrm>
            <a:off x="8412480" y="21488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Klik 'New Project'
lalu pilih 'Arduino Uno'
sebagai platform.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32644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3" name="TextBox 32"/>
          <p:cNvSpPr txBox="1"/>
          <p:nvPr/>
        </p:nvSpPr>
        <p:spPr>
          <a:xfrm>
            <a:off x="8412480" y="32826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Editor kode akan terbuka.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5" name="Rounded Rectangle 34"/>
          <p:cNvSpPr/>
          <p:nvPr/>
        </p:nvSpPr>
        <p:spPr>
          <a:xfrm>
            <a:off x="41148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6" name="TextBox 35"/>
          <p:cNvSpPr txBox="1"/>
          <p:nvPr/>
        </p:nvSpPr>
        <p:spPr>
          <a:xfrm>
            <a:off x="411480" y="40965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40233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40965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Tempel Kode Program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0" name="TextBox 39"/>
          <p:cNvSpPr txBox="1"/>
          <p:nvPr/>
        </p:nvSpPr>
        <p:spPr>
          <a:xfrm>
            <a:off x="457200" y="46634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Pilih semua teks di tab sketch.ino
(Ctrl+A), hapus, lalu tempel
kode yang diberikan dosen.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457200" y="57972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File kode ada di folder praktikum.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4" name="Rounded Rectangle 43"/>
          <p:cNvSpPr/>
          <p:nvPr/>
        </p:nvSpPr>
        <p:spPr>
          <a:xfrm>
            <a:off x="438912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5" name="TextBox 44"/>
          <p:cNvSpPr txBox="1"/>
          <p:nvPr/>
        </p:nvSpPr>
        <p:spPr>
          <a:xfrm>
            <a:off x="4389120" y="40965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0" y="40233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3480" y="40965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Tempel Rangkaian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3484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9" name="TextBox 48"/>
          <p:cNvSpPr txBox="1"/>
          <p:nvPr/>
        </p:nvSpPr>
        <p:spPr>
          <a:xfrm>
            <a:off x="4434840" y="46634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Klik tab diagram.json, pilih
semua (Ctrl+A), hapus, lalu
tempel isi diagram.json dari dosen.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8912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1" name="TextBox 50"/>
          <p:cNvSpPr txBox="1"/>
          <p:nvPr/>
        </p:nvSpPr>
        <p:spPr>
          <a:xfrm>
            <a:off x="4434840" y="57972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Komponen virtual akan muncul!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29600" y="3931920"/>
            <a:ext cx="3794760" cy="2286000"/>
          </a:xfrm>
          <a:prstGeom prst="roundRect">
            <a:avLst>
              <a:gd name="adj" fmla="val 4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3" name="Rounded Rectangle 52"/>
          <p:cNvSpPr/>
          <p:nvPr/>
        </p:nvSpPr>
        <p:spPr>
          <a:xfrm>
            <a:off x="8366760" y="4069080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4" name="TextBox 53"/>
          <p:cNvSpPr txBox="1"/>
          <p:nvPr/>
        </p:nvSpPr>
        <p:spPr>
          <a:xfrm>
            <a:off x="8366760" y="4096512"/>
            <a:ext cx="47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Calibri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84280" y="4023360"/>
            <a:ext cx="4572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B86C"/>
                </a:solidFill>
                <a:latin typeface="Segoe UI Emoji"/>
              </a:rPr>
              <a:t>▶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4096512"/>
            <a:ext cx="2880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FFB86C"/>
                </a:solidFill>
                <a:latin typeface="Calibri"/>
              </a:rPr>
              <a:t>Jalankan &amp; Eksplorasi!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12480" y="4572000"/>
            <a:ext cx="3429000" cy="22860"/>
          </a:xfrm>
          <a:prstGeom prst="rect">
            <a:avLst/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8" name="TextBox 57"/>
          <p:cNvSpPr txBox="1"/>
          <p:nvPr/>
        </p:nvSpPr>
        <p:spPr>
          <a:xfrm>
            <a:off x="8412480" y="4663440"/>
            <a:ext cx="3429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F5F0"/>
                </a:solidFill>
                <a:latin typeface="Calibri"/>
              </a:rPr>
              <a:t>Klik tombol ▶ (Play hijau) di
pojok atas. Tunggu loading,
lalu lihat LCD dan LED virtual!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66760" y="5779008"/>
            <a:ext cx="3520440" cy="347472"/>
          </a:xfrm>
          <a:prstGeom prst="roundRect">
            <a:avLst>
              <a:gd name="adj" fmla="val 4000"/>
            </a:avLst>
          </a:prstGeom>
          <a:solidFill>
            <a:srgbClr val="28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0" name="TextBox 59"/>
          <p:cNvSpPr txBox="1"/>
          <p:nvPr/>
        </p:nvSpPr>
        <p:spPr>
          <a:xfrm>
            <a:off x="8412480" y="5797296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FA7B"/>
                </a:solidFill>
                <a:latin typeface="Segoe UI Emoji"/>
              </a:rPr>
              <a:t>💡 Klik DHT22 → ubah suhu → lihat hasil!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74320" y="6473952"/>
            <a:ext cx="11612880" cy="338328"/>
          </a:xfrm>
          <a:prstGeom prst="roundRect">
            <a:avLst>
              <a:gd name="adj" fmla="val 4000"/>
            </a:avLst>
          </a:prstGeom>
          <a:solidFill>
            <a:srgbClr val="50FA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2" name="TextBox 61"/>
          <p:cNvSpPr txBox="1"/>
          <p:nvPr/>
        </p:nvSpPr>
        <p:spPr>
          <a:xfrm>
            <a:off x="457200" y="6501384"/>
            <a:ext cx="11247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82828"/>
                </a:solidFill>
                <a:latin typeface="Segoe UI Emoji"/>
              </a:rPr>
              <a:t>🌐  Mulai sekarang di: wokwi.com   |   File kode: sketch.ino &amp; diagram.json (dari dosen)   |   Tidak perlu daftar!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0" y="1216152"/>
            <a:ext cx="12188952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TextBox 4"/>
          <p:cNvSpPr txBox="1"/>
          <p:nvPr/>
        </p:nvSpPr>
        <p:spPr>
          <a:xfrm>
            <a:off x="365760" y="27432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💡  Kesimpulan Materi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54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384048" y="1691640"/>
            <a:ext cx="685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4208"/>
            <a:ext cx="64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IoT Bukan untuk Programmer Saja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075687"/>
            <a:ext cx="10561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IoT adalah alat bantu peternak. Kita tidak perlu bisa membuat, kita hanya perlu tahu cara menggunakannya.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697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384048" y="2834640"/>
            <a:ext cx="685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07208"/>
            <a:ext cx="64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Efisiensi Meningkat Pesat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218687"/>
            <a:ext cx="10561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Monitor suhu kandang, pemberian pakan presisi, &amp; pelacakan ternak terbukti memotong biaya operasional hingga 30%.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840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384048" y="3977640"/>
            <a:ext cx="685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950208"/>
            <a:ext cx="64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Kaltim Punya Peluang Emas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7"/>
            <a:ext cx="10561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IKN membutuhkan pasokan daging sapi berkualitas tinggi. Integrasi sapi sawit (SISKA) berbasis IoT adalah solusi terbaik.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4983480"/>
            <a:ext cx="11612880" cy="1051560"/>
          </a:xfrm>
          <a:prstGeom prst="roundRect">
            <a:avLst>
              <a:gd name="adj" fmla="val 4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384048" y="5120640"/>
            <a:ext cx="6858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  <a:latin typeface="Segoe UI Emoji"/>
              </a:rP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093208"/>
            <a:ext cx="64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  <a:latin typeface="Calibri"/>
              </a:rPr>
              <a:t>Kunci Sukses: Kolaborasi Multidisiplin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504687"/>
            <a:ext cx="105613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5F5F0"/>
                </a:solidFill>
                <a:latin typeface="Calibri"/>
              </a:rPr>
              <a:t>Bekerjasamalah dengan anak IT/Elektro UNMUL. Kolaborasi melahirkan inovasi peternakan bernilai tinggi.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4114800" cy="4114800"/>
          </a:xfrm>
          <a:prstGeom prst="ellipse">
            <a:avLst/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Oval 3"/>
          <p:cNvSpPr/>
          <p:nvPr/>
        </p:nvSpPr>
        <p:spPr>
          <a:xfrm>
            <a:off x="8988552" y="3474720"/>
            <a:ext cx="3200400" cy="3200400"/>
          </a:xfrm>
          <a:prstGeom prst="ellipse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5349240" y="685800"/>
            <a:ext cx="14630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Segoe UI Emoji"/>
              </a:rPr>
              <a:t>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103327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Terima Kasih!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97480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>
                <a:solidFill>
                  <a:srgbClr val="6FBF73"/>
                </a:solidFill>
                <a:latin typeface="Calibri"/>
              </a:rPr>
              <a:t>"Peternak masa depan bukan lagi mereka yang hanya memegang cangkul dan arit,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103327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>
                <a:solidFill>
                  <a:srgbClr val="6FBF73"/>
                </a:solidFill>
                <a:latin typeface="Calibri"/>
              </a:rPr>
              <a:t>tapi mereka yang mengendalikan kesehatan ternak dari genggaman jempolnya!"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94760" y="3749039"/>
            <a:ext cx="45720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914400" y="3886200"/>
            <a:ext cx="10332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5A623"/>
                </a:solidFill>
                <a:latin typeface="Segoe UI Emoji"/>
              </a:rPr>
              <a:t>❓  Ada Pertanyaan?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5F5F0"/>
                </a:solidFill>
                <a:latin typeface="Calibri"/>
              </a:rPr>
              <a:t>Mari Kita Mulai Diskusi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5166360"/>
            <a:ext cx="6675120" cy="868680"/>
          </a:xfrm>
          <a:prstGeom prst="roundRect">
            <a:avLst>
              <a:gd name="adj" fmla="val 4000"/>
            </a:avLst>
          </a:prstGeom>
          <a:solidFill>
            <a:srgbClr val="1B5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2926080" y="5230368"/>
            <a:ext cx="6309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5A623"/>
                </a:solidFill>
                <a:latin typeface="Calibri"/>
              </a:rPr>
              <a:t>Fakultas Peternakan  ·  Universitas Mulawarman  ·  Samarinda, Kalimantan Timur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5577840"/>
            <a:ext cx="63093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5F5F0"/>
                </a:solidFill>
                <a:latin typeface="Calibri"/>
              </a:rPr>
              <a:t>unmul.ac.id  ·  Smart Livestock Farming Project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3316</Words>
  <Application>Microsoft Office PowerPoint</Application>
  <PresentationFormat>Custom</PresentationFormat>
  <Paragraphs>470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Courier New</vt:lpstr>
      <vt:lpstr>Segoe UI Emoji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Anton Prafanto</cp:lastModifiedBy>
  <cp:revision>10</cp:revision>
  <dcterms:created xsi:type="dcterms:W3CDTF">2013-01-27T09:14:16Z</dcterms:created>
  <dcterms:modified xsi:type="dcterms:W3CDTF">2026-05-21T23:05:51Z</dcterms:modified>
  <cp:category/>
</cp:coreProperties>
</file>