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  <p:sldId id="273" r:id="rId19"/>
    <p:sldId id="274" r:id="rId20"/>
    <p:sldId id="275" r:id="rId21"/>
    <p:sldId id="271" r:id="rId22"/>
    <p:sldId id="272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31352" y="-457200"/>
            <a:ext cx="3657600" cy="3657600"/>
          </a:xfrm>
          <a:prstGeom prst="ellipse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45752" y="457200"/>
            <a:ext cx="2743200" cy="2743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FAKULTAS PETERNAKAN  |  UNIVERSITAS MULAWARMAN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14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FBF73"/>
                </a:solidFill>
                <a:latin typeface="Segoe UI Emoji"/>
              </a:rPr>
              <a:t>🌐  📡  🐄  💻  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INTERNET of THINGS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Calibri"/>
              </a:rPr>
              <a:t>(IoT)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6FBF73"/>
                </a:solidFill>
                <a:latin typeface="Calibri"/>
              </a:rPr>
              <a:t>Teknologi Pintar untuk Peternakan Modern Kaltim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86200"/>
            <a:ext cx="4572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005072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5F0"/>
                </a:solidFill>
                <a:latin typeface="Calibri"/>
              </a:rPr>
              <a:t>Materi Pengenalan Praktis &amp; Populer untuk Mahasiswa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5F0"/>
                </a:solidFill>
                <a:latin typeface="Calibri"/>
              </a:rPr>
              <a:t>TIDAK memerlukan latar belakang IT, coding, atau elektronika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17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Samarinda,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📋  Agenda Materi Kuliah — IoT untuk Peternakan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481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99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Mitos vs Fakta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385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Mahasiswa Fapet
harus bisa coding?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371600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481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087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1499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Apa itu IoT?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19385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Sensor → Cloud
→ HP kamu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8" y="1371600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49056" y="1481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15087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1499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IoT di Peternakan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19385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6 aplikasi nyata
di kandang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898648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" y="300837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0358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0266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Studi Kasus Kaltim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465576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SISKA, GPS Collar
Sapi Bali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2898648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16552" y="300837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30358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816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1184" y="30266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Kuis Interaktif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1184" y="3465576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Tebak yang pakai
IoT vs bukan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9328" y="2898648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49056" y="300837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30358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30266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Peluang Karir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3688" y="3465576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Profesi baru
lulusan Fapet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4425696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" y="453542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5628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9312" y="4517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9EDA"/>
                </a:solidFill>
                <a:latin typeface="Calibri"/>
              </a:rPr>
              <a:t>Telegram Bot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99262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HP = Dashboard
kandang 24 jam!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" y="5541264"/>
            <a:ext cx="868680" cy="2286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550408"/>
            <a:ext cx="8503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82828"/>
                </a:solidFill>
                <a:latin typeface="Calibri"/>
              </a:rPr>
              <a:t>✨ BARU!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6824" y="4425696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16552" y="453542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45628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71816" y="4517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1184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9EDA"/>
                </a:solidFill>
                <a:latin typeface="Calibri"/>
              </a:rPr>
              <a:t>Praktikum Wokwi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1184" y="499262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Simulasi IoT
tanpa hardware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16552" y="5541264"/>
            <a:ext cx="868680" cy="2286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6552" y="5550408"/>
            <a:ext cx="8503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82828"/>
                </a:solidFill>
                <a:latin typeface="Calibri"/>
              </a:rPr>
              <a:t>✨ BARU!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9328" y="4425696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49056" y="453542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49056" y="45628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14"/>
                </a:solidFill>
                <a:latin typeface="Calibri"/>
              </a:rP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704320" y="4517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3688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33688" y="499262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Poin penting &amp;
langkah selanjutnya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6492240"/>
            <a:ext cx="11612880" cy="301752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519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F14"/>
                </a:solidFill>
                <a:latin typeface="Calibri"/>
              </a:rPr>
              <a:t>📊 Total: 22 Slide  |  🧪 Termasuk Wokwi Simulator  |  📱 Termasuk Telegram Bot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01 | Penting: Apakah Mahasiswa Peternakan Harus Bisa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  <a:latin typeface="Segoe UI Emoji"/>
              </a:rPr>
              <a:t>❌  Mitos yang 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12064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Harus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jago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coding program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komputer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rumit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Harus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mengerti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elektronika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&amp;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menyolder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kabel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Harus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membuat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&amp;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merakit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sensor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sendiri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dari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nol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Hanya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anak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Teknik Elektro/IT yang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bisa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memakai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IoT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Mengoperasikan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IoT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itu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pusing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&amp;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banyak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tombol</a:t>
            </a:r>
            <a:endParaRPr sz="1600" dirty="0">
              <a:solidFill>
                <a:srgbClr val="F5F5F0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943600" cy="51663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5577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  <a:latin typeface="Segoe UI Emoji"/>
              </a:rPr>
              <a:t>✅  Fakta Sebenarnya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557784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IoT modern sifatnya 'Plug and Play' (Tinggal Pakai)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Sudah disediakan pabrik, tidak perlu merakit kabel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Memakainya semudah menggunakan WhatsApp/TikTok di HP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Tugas utama kamu adalah memahami ternak &amp; membaca data di HP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Anak IT membuat alatnya, anak Peternakan menggunakannya untuk profit!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356616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5550408" y="3611880"/>
            <a:ext cx="65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1B562E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02  |  Apa itu IoT?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71600"/>
            <a:ext cx="11521440" cy="13716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Calibri"/>
              </a:rPr>
              <a:t>IoT = Internet of Things  ( "Internet dari Benda-Benda"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11064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F5F5F0"/>
                </a:solidFill>
                <a:latin typeface="Calibri"/>
              </a:rPr>
              <a:t>Teknologi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yang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memasang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sensor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pintar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pada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benda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fisik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(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seperti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kalung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sapi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tempat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pakan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atau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kandang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)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sehingga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benda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tersebut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bisa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mengirim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data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otomatis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ke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HP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kamu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5F5F0"/>
                </a:solidFill>
                <a:latin typeface="Calibri"/>
              </a:rPr>
              <a:t>lewat</a:t>
            </a:r>
            <a:r>
              <a:rPr b="0" i="0" dirty="0">
                <a:solidFill>
                  <a:srgbClr val="F5F5F0"/>
                </a:solidFill>
                <a:latin typeface="Calibri"/>
              </a:rPr>
              <a:t>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8036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562E"/>
                </a:solidFill>
                <a:latin typeface="Calibri"/>
              </a:rPr>
              <a:t>Analogi Termometer Kandang Sapi: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246120"/>
            <a:ext cx="3566160" cy="32461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20040" y="3337560"/>
            <a:ext cx="3566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Segoe UI Emoji"/>
              </a:rPr>
              <a:t>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319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Termometer Tradisional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389120"/>
            <a:ext cx="3346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F5F0"/>
                </a:solidFill>
                <a:latin typeface="Calibri"/>
              </a:rPr>
              <a:t>Peternak harus jalan ke
kandang, melihat angka,
lalu mencatat manual di kertas.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246120"/>
            <a:ext cx="3566160" cy="324612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4160520" y="3337560"/>
            <a:ext cx="3566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Segoe UI Emoji"/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9319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Termometer 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4389120"/>
            <a:ext cx="3346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F5F0"/>
                </a:solidFill>
                <a:latin typeface="Calibri"/>
              </a:rPr>
              <a:t>Sensor kirim data suhu otomatis
lewat internet ke server/HP kamu
setiap 5 menit sekali.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246120"/>
            <a:ext cx="3566160" cy="324612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001000" y="3337560"/>
            <a:ext cx="3566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319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Keuntungan Nyata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4389120"/>
            <a:ext cx="3346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F5F0"/>
                </a:solidFill>
                <a:latin typeface="Calibri"/>
              </a:rPr>
              <a:t>Kamu bisa pantau suhu kandang
lewat HP saat di rumah, kuliah,
atau di mana saja!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4572000"/>
            <a:ext cx="256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572000"/>
            <a:ext cx="256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365760" y="654710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Segoe UI Emoji"/>
              </a:rPr>
              <a:t>💡  Benda Biasa  +  Sensor Pintar  +  Koneksi Internet  =  Benda 'Pintar' Pelapor Data!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02 | Bagaimana Alur Kerja IoT?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6FBF73"/>
                </a:solidFill>
                <a:latin typeface="Calibri"/>
              </a:rPr>
              <a:t>Alur data bekerja otomatis tanpa perlu campur tangan peternak setiap saat: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2788920" cy="45720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34640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1. SENSOR
(Mengukur)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02152"/>
            <a:ext cx="224028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11480" y="3593592"/>
            <a:ext cx="2514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F5F5F0"/>
                </a:solidFill>
                <a:latin typeface="Calibri"/>
              </a:rPr>
              <a:t>Mengambil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data di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kandang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.
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Contoh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: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mengukur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suhu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udara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,
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detak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jantung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ternak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,
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atau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sisa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pakan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977639"/>
            <a:ext cx="9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36392" y="1920240"/>
            <a:ext cx="2788920" cy="45720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3136392" y="20116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 Emoji"/>
              </a:rPr>
              <a:t>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834640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2. KONEKSI
(Mengirim)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0712" y="3502152"/>
            <a:ext cx="224028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3273552" y="3593592"/>
            <a:ext cx="2514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Mengirimkan data dari kandang.
Menggunakan Wi-Fi, kartu SIM
4G/5G, atau gelombang LoRa
ke internet.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3977639"/>
            <a:ext cx="9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1920240"/>
            <a:ext cx="2788920" cy="457200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998464" y="20116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 Emoji"/>
              </a:rP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2834640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3. CLOUD / SERVER
(Mengolah)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3502152"/>
            <a:ext cx="224028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135624" y="3593592"/>
            <a:ext cx="2514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Pusat penyimpanan pintar.
Data disimpan, dianalisis,
dan disiapkan untuk dikirim
ke smartphone.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3977639"/>
            <a:ext cx="9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0536" y="1920240"/>
            <a:ext cx="2788920" cy="45720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860536" y="20116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834640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4. APLIKASI / HP
(Menampilkan)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34856" y="3502152"/>
            <a:ext cx="224028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8997696" y="3593592"/>
            <a:ext cx="2514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Tampilan untuk peternak.
Memunculkan data, grafik,
dan notifikasi bahaya secara
langsung di HP.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Segoe UI Emoji"/>
              </a:rPr>
              <a:t>Sensor (Kandang)  →  Sinyal (Kirim)  →  Server (Simpan)  →  HP Peternak (Baca)  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03  |  IoT di Kehidupan Sehari-Hari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1B562E"/>
                </a:solidFill>
                <a:latin typeface="Calibri"/>
              </a:rPr>
              <a:t>Kalian kemungkinan besar sudah menggunakan IoT tanpa menyadarinya: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14600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Smartwatch / Jam Pintar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971800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F5F5F0"/>
                </a:solidFill>
                <a:latin typeface="Calibri"/>
              </a:rPr>
              <a:t>Mendeteksi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denyut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jantung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&amp;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langkah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kaki,
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kemudian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mengirim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laporannya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ke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HP.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1" y="182880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233671" y="1920240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1" y="2514600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Lampu Pintar (Smart Bulb)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2971800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Lampu kamar yang bisa dimatikan lewat HP
atau menyala otomatis saat jam 6 sore.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2" y="182880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147302" y="1920240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🌤️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2" y="2514600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Aplikasi Cuaca di 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0" y="2971800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F5F5F0"/>
                </a:solidFill>
                <a:latin typeface="Calibri"/>
              </a:rPr>
              <a:t>Mengambil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data real-time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dari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ribuan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sensor
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cuaca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luar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ruangan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untuk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HP Anda.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233672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20040" y="432511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 dirty="0">
                <a:solidFill>
                  <a:srgbClr val="FFFFFF"/>
                </a:solidFill>
                <a:latin typeface="Segoe UI Emoji"/>
              </a:rPr>
              <a:t>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919472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Pelacak GPS Kendaraan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5376672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Mengirimkan koordinat lokasi motor/mobil
sehingga Anda bisa melacaknya dari jauh.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3671" y="4233672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233671" y="432511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1" y="4919472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Pelacak Kurir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5376672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Melihat lokasi kurir Shopee/Gojek secara
real-time bergerak mendekati rumah.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2" y="4233672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8147302" y="432511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2" y="4919472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Pompa Air Otomatis Rumah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0" y="5376672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5F5F0"/>
                </a:solidFill>
                <a:latin typeface="Calibri"/>
              </a:rPr>
              <a:t>Tandon air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mati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sendiri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saat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penuh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dan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hidup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sendiri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saat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kosong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5F5F0"/>
                </a:solidFill>
                <a:latin typeface="Calibri"/>
              </a:rPr>
              <a:t>menggunakan</a:t>
            </a:r>
            <a:r>
              <a:rPr sz="1400" b="0" i="0" dirty="0">
                <a:solidFill>
                  <a:srgbClr val="F5F5F0"/>
                </a:solidFill>
                <a:latin typeface="Calibri"/>
              </a:rPr>
              <a:t> sensor 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04 | Perbandingan: Peternakan Tradisional vs Smart Farming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440680" cy="52578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❌  Cara Tradisional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0749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Cek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kandang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setiap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jam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secara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manual</a:t>
            </a: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Penyakit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terdeteksi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hanya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setelah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parah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/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mati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Hewan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lepas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/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dicuri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tidak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ketahuan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langsung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Pakan &amp; air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sering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kosong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karena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lupa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cek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Mencatat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data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bobot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di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buku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mudah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robek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&amp;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hilang</a:t>
            </a:r>
            <a:r>
              <a:rPr sz="1600" dirty="0">
                <a:solidFill>
                  <a:srgbClr val="F5F5F0"/>
                </a:solidFill>
                <a:latin typeface="Calibri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Keputusan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beternak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berdasarkan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intuisi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/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perkiraan</a:t>
            </a:r>
            <a:endParaRPr sz="1600" dirty="0">
              <a:solidFill>
                <a:srgbClr val="F5F5F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F5F5F0"/>
                </a:solidFill>
                <a:latin typeface="Calibri"/>
              </a:rPr>
              <a:t>✗  Risiko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kematian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ternak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tinggi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di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musim</a:t>
            </a:r>
            <a:r>
              <a:rPr sz="160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5F5F0"/>
                </a:solidFill>
                <a:latin typeface="Calibri"/>
              </a:rPr>
              <a:t>pancaroba</a:t>
            </a:r>
            <a:endParaRPr sz="1600" dirty="0">
              <a:solidFill>
                <a:srgbClr val="F5F5F0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989320" cy="52578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✅  Dengan IoT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57400"/>
            <a:ext cx="56235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Kandang terpantau 24/7 di layar HP Anda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Suhu &amp; detak abnormal ternak kirim alert dini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GPS mendeteksi ternak keluar batas pagar virtual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Dispenser air &amp; pakan otomatis mengisi jika habis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Timbangan otomatis rekam berat harian ke server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Manajemen farm presisi berdasarkan grafik riwayat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5F5F0"/>
                </a:solidFill>
                <a:latin typeface="Calibri"/>
              </a:rPr>
              <a:t>✓  Respons kilat mengurangi kerugian finansial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356616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5550408" y="3611880"/>
            <a:ext cx="65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1B562E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05  |  6 Aplikasi IoT Paling Populer di Peternakan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Smart Thermostat Kandang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560320"/>
            <a:ext cx="3529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5F5F0"/>
                </a:solidFill>
                <a:latin typeface="Calibri"/>
              </a:rPr>
              <a:t>Sensor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suhu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kandang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otomatis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menghidupkan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kipas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
blow-up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jika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suhu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melewati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30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derajat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Celsius.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1417320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169663" y="1508760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🏷️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210312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Ear-Tag / Kalung Ternak Pintar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1" y="2560320"/>
            <a:ext cx="3529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0"/>
                </a:solidFill>
                <a:latin typeface="Calibri"/>
              </a:rPr>
              <a:t>Tag di telinga/leher mendeteksi gerakan ruminasi,
detak jantung, &amp; mendeteksi masa berahi sapi.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6" y="1417320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065006" y="1508760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6" y="210312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Automatic Feeder (Pakan Pintar)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4" y="2560320"/>
            <a:ext cx="3529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5F5F0"/>
                </a:solidFill>
                <a:latin typeface="Calibri"/>
              </a:rPr>
              <a:t>Alat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pakan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menimbang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sisa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pakan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di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wadah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
dan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menuangkan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pakan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baru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sesuai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jadwal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porsi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13632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74320" y="400507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599432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Pagar Virtual (Geofencing)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056632"/>
            <a:ext cx="3529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5F5F0"/>
                </a:solidFill>
                <a:latin typeface="Calibri"/>
              </a:rPr>
              <a:t>GPS pada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sapi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mengirimkan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alarm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ke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HP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peternak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jika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sapi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menyeberang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keluar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 batas area </a:t>
            </a:r>
            <a:r>
              <a:rPr sz="1200" b="0" i="0" dirty="0" err="1">
                <a:solidFill>
                  <a:srgbClr val="F5F5F0"/>
                </a:solidFill>
                <a:latin typeface="Calibri"/>
              </a:rPr>
              <a:t>kebun</a:t>
            </a:r>
            <a:r>
              <a:rPr sz="1200" b="0" i="0" dirty="0">
                <a:solidFill>
                  <a:srgbClr val="F5F5F0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9663" y="3913632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169663" y="400507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3" y="4599432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Smart Milking (Perah Otomatis)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1" y="5056632"/>
            <a:ext cx="3529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0"/>
                </a:solidFill>
                <a:latin typeface="Calibri"/>
              </a:rPr>
              <a:t>Mendeteksi volume, warna, &amp; kualitas susu sapi
secara otomatis saat sapi sedang diperah.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6" y="3913632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8065006" y="4005072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 Emoji"/>
              </a:rPr>
              <a:t>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6" y="4599432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5A623"/>
                </a:solidFill>
                <a:latin typeface="Calibri"/>
              </a:rPr>
              <a:t>Automatic Water Tank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4" y="5056632"/>
            <a:ext cx="3529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0"/>
                </a:solidFill>
                <a:latin typeface="Calibri"/>
              </a:rPr>
              <a:t>Memonitor sisa volume air minum di bak kandang
dan menyalakan pompa air secara otomatis.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06 | Kasus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Nyata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Kaltim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Melacak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Sapi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Bali (SISKA) via GPS Collar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612880" cy="77724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Segoe UI Emoji"/>
              </a:rPr>
              <a:t>🌴  Skenario: Integrasi Sapi di Kebun Kelapa Sawit (SISKA) Kutai Kartanegara / Paser Kaltim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31720"/>
            <a:ext cx="3749039" cy="406908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74320" y="2514600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📍 Masalah Utama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3017519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33832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5F5F0"/>
                </a:solidFill>
                <a:latin typeface="Calibri"/>
              </a:rPr>
              <a:t>Sapi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Bali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dilepasliarkan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di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kebun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sawit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yang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luasnya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ratusan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hektar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Peternak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kesulitan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mencari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posisi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sapi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saat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sore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hari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sering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terjadi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pencurian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ternak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, dan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sapi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masuk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ke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kebun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orang 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5" y="4114800"/>
            <a:ext cx="109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39" y="2331720"/>
            <a:ext cx="3749039" cy="406908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206239" y="2514600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📡 Solusi IoT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1999" y="3063240"/>
            <a:ext cx="3017519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4389119" y="3246120"/>
            <a:ext cx="33832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Sapi dipasangi kalung GPS tahan air (solar powered). Peternak membuat 'pagar virtual' (Geofencing) lewat aplikasi HP. Jika sapi ditarik pencuri keluar kebun sawit, HP peternak akan berbunyi keras.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4" y="4114800"/>
            <a:ext cx="109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8" y="2331720"/>
            <a:ext cx="3749039" cy="406908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138158" y="2514600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📊 Hasil Nyata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18" y="3063240"/>
            <a:ext cx="3017519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8321038" y="3246120"/>
            <a:ext cx="33832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Waktu pencarian sapi berkurang dari 3 jam menjadi 10 menit saja lewat panduan peta GPS di HP. Angka kehilangan ternak turun menjadi 0% dan produktivitas sapi terpantau stabil.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6492240"/>
            <a:ext cx="11612880" cy="301752"/>
          </a:xfrm>
          <a:prstGeom prst="roundRect">
            <a:avLst>
              <a:gd name="adj" fmla="val 4000"/>
            </a:avLst>
          </a:prstGeom>
          <a:solidFill>
            <a:srgbClr val="D4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💡 Peternak Cukup Memantau Lewat HP Sambil Mengerjakan Hal Lain — Sangat Hemat Waktu &amp; Tenaga!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06  |  Dampak Penerapan IoT di Peternakan — Data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3749039" cy="22860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3749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📉 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356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Penurunan Kematian Ternak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53512"/>
            <a:ext cx="3474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Kematian pedet/anak sapi berkurang berkat sensor suhu kandang &amp; alarm dini.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1417320"/>
            <a:ext cx="3749039" cy="22860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169663" y="1508760"/>
            <a:ext cx="3749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📈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3" y="2331720"/>
            <a:ext cx="356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Kenaikan Produksi Susu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3" y="2953512"/>
            <a:ext cx="3474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Hasil perahan sapi perah meningkat berkat monitoring pakan presisi otomatis.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6" y="1417320"/>
            <a:ext cx="3749039" cy="228600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065006" y="1508760"/>
            <a:ext cx="3749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💰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6" y="2331720"/>
            <a:ext cx="356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Efisiensi Pakan (FCR)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6" y="2953512"/>
            <a:ext cx="34747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Mengurangi pakan tercecer &amp; terbuang sia-sia dengan tempat pakan pintar.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867912"/>
            <a:ext cx="3749039" cy="228600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74320" y="3959352"/>
            <a:ext cx="3749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⏱️ 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82312"/>
            <a:ext cx="356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Menghemat Waktu Kerja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404104"/>
            <a:ext cx="3474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Peternak tidak perlu keliling kandang berjam-jam untuk pengecekan rutin harian.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9663" y="3867912"/>
            <a:ext cx="3749039" cy="22860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169663" y="3959352"/>
            <a:ext cx="3749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🌍 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3" y="4782312"/>
            <a:ext cx="356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Investasi Smart Farm Naik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3" y="5404104"/>
            <a:ext cx="34747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Semua perusahaan peternakan besar di dunia mulai bermigrasi penuh ke IoT.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6" y="3867912"/>
            <a:ext cx="3749039" cy="22860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8065006" y="3959352"/>
            <a:ext cx="3749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🇮🇩 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6" y="4782312"/>
            <a:ext cx="356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Peluang Kaltim / IKN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6" y="5404104"/>
            <a:ext cx="3474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Sebagai penyangga pangan IKN, Kaltim dituntut memproduksi ternak dengan cepat.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07 | Apa Saja Tantangan IoT &amp; Bagaimana Solusinya?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3749039" cy="233172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 Emoji"/>
              </a:rPr>
              <a:t>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Koneksi Internet Minim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13432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Banyak kebun sawit/lahan gembala
di Kaltim belum memiliki sinyal 4G.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338327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84048" y="2990088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Calibri"/>
              </a:rPr>
              <a:t>Solusi: Pakai sinyal LoRa (alat khusus
yang memancar sinyal sendiri s/d 10 km).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3" y="1417320"/>
            <a:ext cx="3749039" cy="233172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169663" y="1463040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 Emoji"/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3" y="1920240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Biaya Investasi Awal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1" y="2313432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Harga sensor pintar impor dinilai
terlalu mahal untuk peternak kecil.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3" y="2926080"/>
            <a:ext cx="338327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279391" y="2990088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Calibri"/>
              </a:rPr>
              <a:t>Solusi: Beli secara kelompok/koperasi,
mulai dari 1 sensor utama di kandang.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6" y="1417320"/>
            <a:ext cx="3749039" cy="233172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065006" y="1463040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 Emoji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6" y="1920240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Gagap Teknologi (Gaptek)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4" y="2313432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Peternak senior kesulitan memakai
aplikasi di HP pintar.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6" y="2926080"/>
            <a:ext cx="338327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8174734" y="2990088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Calibri"/>
              </a:rPr>
              <a:t>Solusi: Mahasiswa UNMUL mendampingi
&amp; aplikasi dibuat sangat sederhana.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913632"/>
            <a:ext cx="3749039" cy="233172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274320" y="3959352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 Emoj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16552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Ketiadaan Listrik PLN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809744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Kandang di tengah kebun sawit tidak
punya colokan listrik.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22392"/>
            <a:ext cx="338327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84048" y="5486400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Calibri"/>
              </a:rPr>
              <a:t>Solusi: Perangkat memakai baterai awet
atau solar panel mini bertenaga matahari.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9663" y="3913632"/>
            <a:ext cx="3749039" cy="233172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4169663" y="3959352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 Emoji"/>
              </a:rP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3" y="4416552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Kondisi Kandang Kotor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1" y="4809744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Udara kandang lembab, penuh debu,
dan berisiko terinjak kaki sapi.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52543" y="5422392"/>
            <a:ext cx="338327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4279391" y="5486400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Calibri"/>
              </a:rPr>
              <a:t>Solusi: Pasang sensor di tempat tinggi
dan pilih casing standar IP67 waterproof.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6" y="3913632"/>
            <a:ext cx="3749039" cy="233172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8065006" y="3959352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 Emoji"/>
              </a:rPr>
              <a:t>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6" y="4416552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Pencurian Alat IoT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4" y="4809744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0"/>
                </a:solidFill>
                <a:latin typeface="Calibri"/>
              </a:rPr>
              <a:t>Sensor yang terpasang di sapi
berisiko dilepas/dicuri orang.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6" y="5422392"/>
            <a:ext cx="338327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174734" y="5486400"/>
            <a:ext cx="352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Calibri"/>
              </a:rPr>
              <a:t>Solusi: Pasang sensor tersembunyi
yang mengirim alarm jika dilepas paksa.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07  |  Glosarium — Kamus Singkat Istilah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347472" y="1536192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47472" y="1554480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463040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Alat fisik untuk mengukur kondisi lapangan (seperti termometer suhu kandang).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371600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6172200" y="1536192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172200" y="1554480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Aktuator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6" y="1463040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Alat untuk melakukan tindakan fisik (seperti pompa air otomatis menyala).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267712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347472" y="2432304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47472" y="2450592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2359152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Jembatan/alat penghubung yang mengirim data dari kandang ke internet.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2267712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6172200" y="2432304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172200" y="2450592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2359152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Gudang penyimpanan data raksasa di internet, bisa diakses dari mana saja.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163824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347472" y="3328416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347472" y="3346704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3255264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Layar utama aplikasi HP Anda yang menyajikan semua data angka &amp; grafik.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8" y="3163824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6172200" y="3328416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172200" y="3346704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Real-time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3255264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Pengiriman data detik ini juga (langsung tanpa ditunda-tunda).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59936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ounded Rectangle 30"/>
          <p:cNvSpPr/>
          <p:nvPr/>
        </p:nvSpPr>
        <p:spPr>
          <a:xfrm>
            <a:off x="347472" y="4224528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347472" y="4242816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Alert / Notif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4151376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Peringatan darurat yang masuk ke HP Anda (seperti alarm maling/sapi sakit).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8" y="4059936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ounded Rectangle 34"/>
          <p:cNvSpPr/>
          <p:nvPr/>
        </p:nvSpPr>
        <p:spPr>
          <a:xfrm>
            <a:off x="6172200" y="4224528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6172200" y="4242816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LoRa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816" y="4151376"/>
            <a:ext cx="3931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Teknologi pemancar sinyal jarak jauh tanpa internet, sangat cocok untuk kebun sawit Kaltim.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956048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ounded Rectangle 38"/>
          <p:cNvSpPr/>
          <p:nvPr/>
        </p:nvSpPr>
        <p:spPr>
          <a:xfrm>
            <a:off x="347472" y="5120640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347472" y="5138928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IP67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7088" y="5047488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Sertifikasi ketahanan alat (artinya alat ini 100% tahan air hujan &amp; debu kandang).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4956048"/>
            <a:ext cx="5623560" cy="8229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ounded Rectangle 42"/>
          <p:cNvSpPr/>
          <p:nvPr/>
        </p:nvSpPr>
        <p:spPr>
          <a:xfrm>
            <a:off x="6172200" y="5120640"/>
            <a:ext cx="1417320" cy="50292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6172200" y="5138928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62E"/>
                </a:solidFill>
                <a:latin typeface="Calibri"/>
              </a:rPr>
              <a:t>Plug &amp; Play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71816" y="5047488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Alat yang tinggal colok dan langsung menyala tanpa perlu diprogram coding lagi.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🎯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Kuis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Interaktif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: Mana yang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Menggunakan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Teknologi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IoT?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FBF73"/>
                </a:solidFill>
                <a:latin typeface="Calibri"/>
              </a:rPr>
              <a:t>Diskusikan bersama dosen &amp; teman kelas Anda, mana yang masuk kategori IoT: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3749039" cy="438912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3383279" cy="59436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383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562E"/>
                </a:solidFill>
                <a:latin typeface="Calibri"/>
              </a:rPr>
              <a:t>KASUS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3383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Lampu Kandang Otomatis Sensor Cahaya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301751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3383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F5F0"/>
                </a:solidFill>
                <a:latin typeface="Calibri"/>
              </a:rPr>
              <a:t>Lampu menyala jika langit gelap menggunakan sensor fotoelektrik mekanik biasa di lampu.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83480"/>
            <a:ext cx="3383279" cy="1188720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3383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6FBF73"/>
                </a:solidFill>
                <a:latin typeface="Calibri"/>
              </a:rPr>
              <a:t>Jawaban</a:t>
            </a:r>
            <a:r>
              <a:rPr sz="2000" b="1" i="0" dirty="0">
                <a:solidFill>
                  <a:srgbClr val="6FBF73"/>
                </a:solidFill>
                <a:latin typeface="Calibri"/>
              </a:rPr>
              <a:t>: </a:t>
            </a:r>
            <a:r>
              <a:rPr sz="2000" b="1" i="0" dirty="0" err="1">
                <a:solidFill>
                  <a:srgbClr val="6FBF73"/>
                </a:solidFill>
                <a:latin typeface="Calibri"/>
              </a:rPr>
              <a:t>Bukan</a:t>
            </a:r>
            <a:r>
              <a:rPr sz="2000" b="1" i="0" dirty="0">
                <a:solidFill>
                  <a:srgbClr val="6FBF73"/>
                </a:solidFill>
                <a:latin typeface="Calibri"/>
              </a:rPr>
              <a:t> IoT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13248"/>
            <a:ext cx="3291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rgbClr val="F5F5F0"/>
                </a:solidFill>
                <a:latin typeface="Calibri"/>
              </a:rPr>
              <a:t>Sebab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data sensor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cahaya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tidak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dikirim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5F5F0"/>
                </a:solidFill>
                <a:latin typeface="Calibri"/>
              </a:rPr>
              <a:t>ke</a:t>
            </a:r>
            <a:r>
              <a:rPr sz="1600" b="0" i="0" dirty="0">
                <a:solidFill>
                  <a:srgbClr val="F5F5F0"/>
                </a:solidFill>
                <a:latin typeface="Calibri"/>
              </a:rPr>
              <a:t> internet / HP Anda.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39" y="1920240"/>
            <a:ext cx="3749039" cy="438912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4389119" y="2057400"/>
            <a:ext cx="3383279" cy="59436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4389119" y="2103120"/>
            <a:ext cx="3383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562E"/>
                </a:solidFill>
                <a:latin typeface="Calibri"/>
              </a:rPr>
              <a:t>KASUS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2788920"/>
            <a:ext cx="3383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Kamera Kandang Kirim Foto ke HP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1999" y="3566160"/>
            <a:ext cx="301751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4389119" y="3703320"/>
            <a:ext cx="3383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F5F0"/>
                </a:solidFill>
                <a:latin typeface="Calibri"/>
              </a:rPr>
              <a:t>Kamera mendeteksi sapi melahirkan → mengirim foto alert secara otomatis ke WhatsApp Anda.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4983480"/>
            <a:ext cx="3383279" cy="1188720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4389119" y="5029200"/>
            <a:ext cx="3383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Jawaban: IoT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5413248"/>
            <a:ext cx="3291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Sebab ada proses sensor (kamera), koneksi internet, &amp; pengiriman data ke HP.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8" y="1920240"/>
            <a:ext cx="3749039" cy="438912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8321038" y="2057400"/>
            <a:ext cx="3383279" cy="59436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8321038" y="2103120"/>
            <a:ext cx="3383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562E"/>
                </a:solidFill>
                <a:latin typeface="Calibri"/>
              </a:rPr>
              <a:t>KASUS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788920"/>
            <a:ext cx="3383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Bak Air dengan Kran Pelampung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18" y="3566160"/>
            <a:ext cx="3017519" cy="22860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21038" y="3703320"/>
            <a:ext cx="3383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F5F0"/>
                </a:solidFill>
                <a:latin typeface="Calibri"/>
              </a:rPr>
              <a:t>Bak minum sapi terisi sendiri menggunakan pelampung bola plastik (jika air turun, kran terbuka).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38" y="4983480"/>
            <a:ext cx="3383279" cy="1188720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8321038" y="5029200"/>
            <a:ext cx="3383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FBF73"/>
                </a:solidFill>
                <a:latin typeface="Calibri"/>
              </a:rPr>
              <a:t>Jawaban: Bukan IoT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8" y="5413248"/>
            <a:ext cx="3291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Sifatnya mekanik biasa. Anda tidak bisa mengecek sisa air dari layar HP.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6473952"/>
            <a:ext cx="11612880" cy="320040"/>
          </a:xfrm>
          <a:prstGeom prst="roundRect">
            <a:avLst>
              <a:gd name="adj" fmla="val 4000"/>
            </a:avLst>
          </a:prstGeom>
          <a:solidFill>
            <a:srgbClr val="D4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457200" y="6501384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💬 Tips Dosen: IoT wajib memiliki unsur SENSOR + KONEKSI INTERNET + DATA DI LAYAR HP/KOMPUTER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3" grpId="0"/>
      <p:bldP spid="24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08  |  Peluang Karir Lulusan Peternakan di Era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486400" cy="52578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Segoe UI Emoji"/>
              </a:rPr>
              <a:t>🎯  Profesi Baru Sarjana Peternakan Modern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F5F5F0"/>
                </a:solidFill>
                <a:latin typeface="Segoe UI Emoji"/>
              </a:rPr>
              <a:t>Konsultan</a:t>
            </a:r>
            <a:r>
              <a:rPr dirty="0">
                <a:solidFill>
                  <a:srgbClr val="F5F5F0"/>
                </a:solidFill>
                <a:latin typeface="Segoe UI Emoji"/>
              </a:rPr>
              <a:t> Smart Farming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membantu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peternak</a:t>
            </a:r>
            <a:r>
              <a:rPr dirty="0">
                <a:solidFill>
                  <a:srgbClr val="F5F5F0"/>
                </a:solidFill>
                <a:latin typeface="Segoe UI Emoji"/>
              </a:rPr>
              <a:t> pasang IoT)</a:t>
            </a:r>
            <a:endParaRPr lang="en-US" dirty="0">
              <a:solidFill>
                <a:srgbClr val="F5F5F0"/>
              </a:solidFill>
              <a:latin typeface="Segoe UI Emoj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F5F5F0"/>
                </a:solidFill>
                <a:latin typeface="Segoe UI Emoji"/>
              </a:rPr>
              <a:t>Analis Data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Ternak</a:t>
            </a:r>
            <a:r>
              <a:rPr dirty="0">
                <a:solidFill>
                  <a:srgbClr val="F5F5F0"/>
                </a:solidFill>
                <a:latin typeface="Segoe UI Emoji"/>
              </a:rPr>
              <a:t>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membaca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produktivitas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dari</a:t>
            </a:r>
            <a:r>
              <a:rPr dirty="0">
                <a:solidFill>
                  <a:srgbClr val="F5F5F0"/>
                </a:solidFill>
                <a:latin typeface="Segoe UI Emoji"/>
              </a:rPr>
              <a:t> sensor)</a:t>
            </a:r>
            <a:endParaRPr lang="en-US" dirty="0">
              <a:solidFill>
                <a:srgbClr val="F5F5F0"/>
              </a:solidFill>
              <a:latin typeface="Segoe UI Emoj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F5F5F0"/>
                </a:solidFill>
                <a:latin typeface="Segoe UI Emoji"/>
              </a:rPr>
              <a:t>Manajer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Kandang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Presisi</a:t>
            </a:r>
            <a:r>
              <a:rPr dirty="0">
                <a:solidFill>
                  <a:srgbClr val="F5F5F0"/>
                </a:solidFill>
                <a:latin typeface="Segoe UI Emoji"/>
              </a:rPr>
              <a:t>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mengelola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kandang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berbasis</a:t>
            </a:r>
            <a:r>
              <a:rPr dirty="0">
                <a:solidFill>
                  <a:srgbClr val="F5F5F0"/>
                </a:solidFill>
                <a:latin typeface="Segoe UI Emoji"/>
              </a:rPr>
              <a:t> data)</a:t>
            </a:r>
            <a:endParaRPr lang="en-US" dirty="0">
              <a:solidFill>
                <a:srgbClr val="F5F5F0"/>
              </a:solidFill>
              <a:latin typeface="Segoe UI Emoj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F5F5F0"/>
                </a:solidFill>
                <a:latin typeface="Segoe UI Emoji"/>
              </a:rPr>
              <a:t>Spesialis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Nutrisi</a:t>
            </a:r>
            <a:r>
              <a:rPr dirty="0">
                <a:solidFill>
                  <a:srgbClr val="F5F5F0"/>
                </a:solidFill>
                <a:latin typeface="Segoe UI Emoji"/>
              </a:rPr>
              <a:t> Digital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pemberian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pakan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otomatis</a:t>
            </a:r>
            <a:r>
              <a:rPr dirty="0">
                <a:solidFill>
                  <a:srgbClr val="F5F5F0"/>
                </a:solidFill>
                <a:latin typeface="Segoe UI Emoji"/>
              </a:rPr>
              <a:t>)</a:t>
            </a:r>
            <a:endParaRPr lang="en-US" dirty="0">
              <a:solidFill>
                <a:srgbClr val="F5F5F0"/>
              </a:solidFill>
              <a:latin typeface="Segoe UI Emoj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F5F5F0"/>
                </a:solidFill>
                <a:latin typeface="Segoe UI Emoji"/>
              </a:rPr>
              <a:t>Pendiri</a:t>
            </a:r>
            <a:r>
              <a:rPr dirty="0">
                <a:solidFill>
                  <a:srgbClr val="F5F5F0"/>
                </a:solidFill>
                <a:latin typeface="Segoe UI Emoji"/>
              </a:rPr>
              <a:t> Startup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AgriTech</a:t>
            </a:r>
            <a:r>
              <a:rPr dirty="0">
                <a:solidFill>
                  <a:srgbClr val="F5F5F0"/>
                </a:solidFill>
                <a:latin typeface="Segoe UI Emoji"/>
              </a:rPr>
              <a:t>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membangun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solusi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peternakan</a:t>
            </a:r>
            <a:r>
              <a:rPr dirty="0">
                <a:solidFill>
                  <a:srgbClr val="F5F5F0"/>
                </a:solidFill>
                <a:latin typeface="Segoe UI Emoji"/>
              </a:rPr>
              <a:t>)</a:t>
            </a:r>
            <a:endParaRPr lang="en-US" dirty="0">
              <a:solidFill>
                <a:srgbClr val="F5F5F0"/>
              </a:solidFill>
              <a:latin typeface="Segoe UI Emoj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F5F5F0"/>
                </a:solidFill>
                <a:latin typeface="Segoe UI Emoji"/>
              </a:rPr>
              <a:t>Penyuluh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Peternakan</a:t>
            </a:r>
            <a:r>
              <a:rPr dirty="0">
                <a:solidFill>
                  <a:srgbClr val="F5F5F0"/>
                </a:solidFill>
                <a:latin typeface="Segoe UI Emoji"/>
              </a:rPr>
              <a:t> Modern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mengedukasi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petani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desa</a:t>
            </a:r>
            <a:r>
              <a:rPr dirty="0">
                <a:solidFill>
                  <a:srgbClr val="F5F5F0"/>
                </a:solidFill>
                <a:latin typeface="Segoe UI Emoji"/>
              </a:rPr>
              <a:t>)</a:t>
            </a:r>
            <a:endParaRPr lang="en-US" dirty="0">
              <a:solidFill>
                <a:srgbClr val="F5F5F0"/>
              </a:solidFill>
              <a:latin typeface="Segoe UI Emoj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F5F5F0"/>
                </a:solidFill>
                <a:latin typeface="Segoe UI Emoji"/>
              </a:rPr>
              <a:t>Dosen &amp;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Peneliti</a:t>
            </a:r>
            <a:r>
              <a:rPr dirty="0">
                <a:solidFill>
                  <a:srgbClr val="F5F5F0"/>
                </a:solidFill>
                <a:latin typeface="Segoe UI Emoji"/>
              </a:rPr>
              <a:t> (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mengembangkan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teknologi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lokal</a:t>
            </a:r>
            <a:r>
              <a:rPr dirty="0">
                <a:solidFill>
                  <a:srgbClr val="F5F5F0"/>
                </a:solidFill>
                <a:latin typeface="Segoe UI Emoji"/>
              </a:rPr>
              <a:t> </a:t>
            </a:r>
            <a:r>
              <a:rPr dirty="0" err="1">
                <a:solidFill>
                  <a:srgbClr val="F5F5F0"/>
                </a:solidFill>
                <a:latin typeface="Segoe UI Emoji"/>
              </a:rPr>
              <a:t>Kaltim</a:t>
            </a:r>
            <a:r>
              <a:rPr dirty="0">
                <a:solidFill>
                  <a:srgbClr val="F5F5F0"/>
                </a:solidFill>
                <a:latin typeface="Segoe UI Emoji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989320" cy="52578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Segoe UI Emoji"/>
              </a:rPr>
              <a:t>🚀  Teknologi Masa Depan Peternakan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48840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4884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  <a:latin typeface="Calibri"/>
              </a:rPr>
              <a:t>Drone Penggembala Sapi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84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Drone terbang memantau kawanan sapi potong
di padang rumput tanpa perlu berkuda.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54680"/>
            <a:ext cx="5029200" cy="18288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126480" y="3246120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Segoe UI Emoji"/>
              </a:rPr>
              <a:t>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4612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  <a:latin typeface="Calibri"/>
              </a:rPr>
              <a:t>Kamera AI Pendeteksi Sakit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611880"/>
            <a:ext cx="484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Kamera memindai wajah &amp; jalan sapi untuk
mendeteksi sapi pincang / sakit otomatis.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51960"/>
            <a:ext cx="5029200" cy="18288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126480" y="4343400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Segoe UI Emoji"/>
              </a:rPr>
              <a:t>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34340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  <a:latin typeface="Calibri"/>
              </a:rPr>
              <a:t>Smart Agro-Silvopasture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709160"/>
            <a:ext cx="484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Integrasi kandang, pakan sawit, &amp; limbah
yang dipantau otomatis lewat satu layar.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349240"/>
            <a:ext cx="5029200" cy="18288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126480" y="5440680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Segoe UI Emoji"/>
              </a:rPr>
              <a:t>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44068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  <a:latin typeface="Calibri"/>
              </a:rPr>
              <a:t>Satelit GPS Ternak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806440"/>
            <a:ext cx="484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0"/>
                </a:solidFill>
                <a:latin typeface="Calibri"/>
              </a:rPr>
              <a:t>Pelacakan sapi skala besar menggunakan sinyal
satelit langsung, tak tergantung menara HP.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08 | Bagaimana Cara Kita Memulai Belajar?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6FBF73"/>
                </a:solidFill>
                <a:latin typeface="Calibri"/>
              </a:rPr>
              <a:t>Langkah mudah yang bisa dilakukan mahasiswa Fapet UNMUL sekarang: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74519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274320" y="1938528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Emoji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Pelajari Teori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233172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84048" y="3182112"/>
            <a:ext cx="25694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Cari video di YouTube
tentang smart farming.
Pahami konsep, bukan 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407408"/>
            <a:ext cx="2606040" cy="1920240"/>
          </a:xfrm>
          <a:prstGeom prst="roundRect">
            <a:avLst>
              <a:gd name="adj" fmla="val 4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2423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FBF73"/>
                </a:solidFill>
                <a:latin typeface="Calibri"/>
              </a:rPr>
              <a:t>🔍 Kata </a:t>
            </a:r>
            <a:r>
              <a:rPr sz="1600" b="0" i="0" dirty="0" err="1">
                <a:solidFill>
                  <a:srgbClr val="6FBF73"/>
                </a:solidFill>
                <a:latin typeface="Calibri"/>
              </a:rPr>
              <a:t>kunci</a:t>
            </a:r>
            <a:r>
              <a:rPr sz="1600" b="0" i="0" dirty="0">
                <a:solidFill>
                  <a:srgbClr val="6FBF7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FBF73"/>
                </a:solidFill>
                <a:latin typeface="Calibri"/>
              </a:rPr>
              <a:t>pencarian</a:t>
            </a:r>
            <a:r>
              <a:rPr sz="1600" b="0" i="0" dirty="0">
                <a:solidFill>
                  <a:srgbClr val="6FBF73"/>
                </a:solidFill>
                <a:latin typeface="Calibri"/>
              </a:rPr>
              <a:t>:
• 'Smart Farming </a:t>
            </a:r>
            <a:r>
              <a:rPr sz="1600" b="0" i="0" dirty="0" err="1">
                <a:solidFill>
                  <a:srgbClr val="6FBF73"/>
                </a:solidFill>
                <a:latin typeface="Calibri"/>
              </a:rPr>
              <a:t>Sawit</a:t>
            </a:r>
            <a:r>
              <a:rPr sz="1600" b="0" i="0" dirty="0">
                <a:solidFill>
                  <a:srgbClr val="6FBF7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FBF73"/>
                </a:solidFill>
                <a:latin typeface="Calibri"/>
              </a:rPr>
              <a:t>Kaltim</a:t>
            </a:r>
            <a:r>
              <a:rPr sz="1600" b="0" i="0" dirty="0">
                <a:solidFill>
                  <a:srgbClr val="6FBF73"/>
                </a:solidFill>
                <a:latin typeface="Calibri"/>
              </a:rPr>
              <a:t>'
• 'Internet of Things Livestock'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74519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154680" y="1938528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Emoji"/>
              </a:rPr>
              <a:t>2️⃣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651760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Pakai Aplikasi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108960"/>
            <a:ext cx="233172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3264408" y="3182112"/>
            <a:ext cx="2569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Unduh aplikasi rekam data
ternak gratis di Play Store
atau pakai Google Sheets.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407408"/>
            <a:ext cx="2606040" cy="1920240"/>
          </a:xfrm>
          <a:prstGeom prst="roundRect">
            <a:avLst>
              <a:gd name="adj" fmla="val 4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337560" y="4480560"/>
            <a:ext cx="2423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FBF73"/>
                </a:solidFill>
                <a:latin typeface="Calibri"/>
              </a:rPr>
              <a:t>📱 Aplikasi disarankan:
• iCow (manajemen sapi)
• Google Sheets (catat bobot)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874519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035040" y="1938528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Emoji"/>
              </a:rPr>
              <a:t>3️⃣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651760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Kolaborasi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108960"/>
            <a:ext cx="233172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144768" y="3182112"/>
            <a:ext cx="2569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Cari teman Fakultas Teknik/
Fasilkomti UNMUL untuk
membuat tugas akhir.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407408"/>
            <a:ext cx="2606040" cy="1920240"/>
          </a:xfrm>
          <a:prstGeom prst="roundRect">
            <a:avLst>
              <a:gd name="adj" fmla="val 4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2423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FBF73"/>
                </a:solidFill>
                <a:latin typeface="Calibri"/>
              </a:rPr>
              <a:t>🤝 Pembagian Tugas:
• Anak Teknik: merakit alat
• Anak Fapet: memimpin riset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1874519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8915400" y="1938528"/>
            <a:ext cx="2788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Emoji"/>
              </a:rPr>
              <a:t>4️⃣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651760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Tugas Akhir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108960"/>
            <a:ext cx="2331720" cy="27432"/>
          </a:xfrm>
          <a:prstGeom prst="rect">
            <a:avLst/>
          </a:prstGeom>
          <a:solidFill>
            <a:srgbClr val="6FB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9025128" y="3182112"/>
            <a:ext cx="2569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5F0"/>
                </a:solidFill>
                <a:latin typeface="Calibri"/>
              </a:rPr>
              <a:t>Gunakan topik IoT sebagai
tema proposal penelitian
atau judul skripsi Anda.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4407408"/>
            <a:ext cx="2606040" cy="1920240"/>
          </a:xfrm>
          <a:prstGeom prst="roundRect">
            <a:avLst>
              <a:gd name="adj" fmla="val 4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9098280" y="4480560"/>
            <a:ext cx="2423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FBF73"/>
                </a:solidFill>
                <a:latin typeface="Calibri"/>
              </a:rPr>
              <a:t>📝 Ide Judul Skripsi:
• 'Pengaruh Monitor Suhu IoT
   Terhadap Produktivitas Sapi'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3774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📱  Monitoring via Telegram Bot — HP Kamu Jadi Dashboard Kandang!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5029200" cy="5212080"/>
          </a:xfrm>
          <a:prstGeom prst="roundRect">
            <a:avLst>
              <a:gd name="adj" fmla="val 4000"/>
            </a:avLst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49EDA"/>
                </a:solidFill>
                <a:latin typeface="Calibri"/>
              </a:rPr>
              <a:t>🤖  Apa itu Telegram Bot?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5F5F0"/>
                </a:solidFill>
                <a:latin typeface="Calibri"/>
              </a:rPr>
              <a:t>✅  Program otomatis di dalam aplikasi Telegram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5F5F0"/>
                </a:solidFill>
                <a:latin typeface="Calibri"/>
              </a:rPr>
              <a:t>✅  Bisa kirim pesan, foto, dan notifikasi ke HP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5F5F0"/>
                </a:solidFill>
                <a:latin typeface="Calibri"/>
              </a:rPr>
              <a:t>✅  Dibuat gratis menggunakan @BotFather di Telegram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5F5F0"/>
                </a:solidFill>
                <a:latin typeface="Calibri"/>
              </a:rPr>
              <a:t>✅  Tidak perlu beli server — semuanya lewat internet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5F5F0"/>
                </a:solidFill>
                <a:latin typeface="Calibri"/>
              </a:rPr>
              <a:t>✅  ESP32 (otak IoT) terhubung ke bot via WiFi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5F5F0"/>
                </a:solidFill>
                <a:latin typeface="Calibri"/>
              </a:rPr>
              <a:t>✅  Mahasiswa Fapet bisa memantau kandang dari mana saja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371600"/>
            <a:ext cx="3657600" cy="5212080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356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9EDA"/>
                </a:solidFill>
                <a:latin typeface="Calibri"/>
              </a:rPr>
              <a:t>📲  Contoh Notifikasi di HP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96596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20391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 Emoji"/>
              </a:rPr>
              <a:t>🚨 BAHAYA KRITIS!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Suhu kandang: 37.2°C
SANGAT PANAS! Segera
nyalakan pendingin!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10896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31821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 Emoji"/>
              </a:rPr>
              <a:t>⚠️ PERINGATAN SUHU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520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Suhu kandang: 31.5°C
Melewati batas 30°C.
Nyalakan kipas!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425196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43251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 Emoji"/>
              </a:rPr>
              <a:t>✅ KANDANG 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Suhu: 26.8°C | Lembab: 72%
Kondisi kandang aman.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539496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54681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 Emoji"/>
              </a:rPr>
              <a:t>📊 Laporan Berkala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806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0"/>
                </a:solidFill>
                <a:latin typeface="Calibri"/>
              </a:rPr>
              <a:t>Suhu: 28°C | Lembab: 75%
Status: AMAN
Bacaan ke-10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371600"/>
            <a:ext cx="2651760" cy="521208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🌟  Manfaat
Bagi Peternak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148840"/>
            <a:ext cx="2331720" cy="749808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4040" y="2240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2402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Pantau 24 jam
nonstop dari HP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3035808"/>
            <a:ext cx="2331720" cy="749808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64040" y="312724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127248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Monitor dari
rumah/kota lain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3922776"/>
            <a:ext cx="2331720" cy="749808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64040" y="401421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014216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Alert instan
saat ada bahaya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4809744"/>
            <a:ext cx="2331720" cy="749808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64040" y="490118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490118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Hemat biaya
kunjungan kandang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5696712"/>
            <a:ext cx="2331720" cy="749808"/>
          </a:xfrm>
          <a:prstGeom prst="roundRect">
            <a:avLst>
              <a:gd name="adj" fmla="val 5000"/>
            </a:avLst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57881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578815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Data tercatat
otomatis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6492240"/>
            <a:ext cx="11612880" cy="301752"/>
          </a:xfrm>
          <a:prstGeom prst="roundRect">
            <a:avLst>
              <a:gd name="adj" fmla="val 4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519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282828"/>
                </a:solidFill>
                <a:latin typeface="Calibri"/>
              </a:rPr>
              <a:t>💡  Tidak perlu coding rumit! ESP32 + 50 baris kode = kandang terpantau 24 jam via Telegram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3774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🔧  Setup Telegram Bot — 4 Langkah Mudah (Untuk Hardware Nyata)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89888"/>
            <a:ext cx="2880360" cy="5074920"/>
          </a:xfrm>
          <a:prstGeom prst="roundRect">
            <a:avLst>
              <a:gd name="adj" fmla="val 4000"/>
            </a:avLst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5270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249EDA"/>
                </a:solidFill>
                <a:latin typeface="Calibri"/>
              </a:rPr>
              <a:t>Buat Bot di Telegram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514600" cy="22860"/>
          </a:xfrm>
          <a:prstGeom prst="rect">
            <a:avLst/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Buka Telegram → cari @BotFather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Kirim pesan: /newbot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Beri nama bot: KandangSapiBot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BotFather memberi TOKEN (simpan baik-baik!)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916168"/>
            <a:ext cx="2606040" cy="43891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594360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Token = 'kunci' bot kamu. Jangan dibagikan!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1389888"/>
            <a:ext cx="2880360" cy="507492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10712" y="15270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10712" y="155448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4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249EDA"/>
                </a:solidFill>
                <a:latin typeface="Calibri"/>
              </a:rPr>
              <a:t>Dapatkan Chat ID Kamu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56432" y="2103120"/>
            <a:ext cx="2514600" cy="22860"/>
          </a:xfrm>
          <a:prstGeom prst="rect">
            <a:avLst/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6432" y="21945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Cari @userinfobot di Telegram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Kirim pesan /start ke bot tersebut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Bot akan balas dengan ID angka kamu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Catat angka itu — itulah CHAT_ID kamu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0712" y="5916168"/>
            <a:ext cx="2606040" cy="43891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594360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Chat ID = 'alamat' HP kamu untuk bot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1389888"/>
            <a:ext cx="2880360" cy="5074920"/>
          </a:xfrm>
          <a:prstGeom prst="roundRect">
            <a:avLst>
              <a:gd name="adj" fmla="val 4000"/>
            </a:avLst>
          </a:prstGeom>
          <a:solidFill>
            <a:srgbClr val="07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9944" y="15270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155448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249EDA"/>
                </a:solidFill>
                <a:latin typeface="Calibri"/>
              </a:rPr>
              <a:t>Isi Token di Kode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103120"/>
            <a:ext cx="2514600" cy="22860"/>
          </a:xfrm>
          <a:prstGeom prst="rect">
            <a:avLst/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5664" y="21945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Buka sketch_telegram.ino di Arduino IDE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Isi WIFI_SSID dengan nama WiFi kandangmu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Isi BOT_TOKEN dengan token dari BotFather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Isi CHAT_ID dengan ID angka dari langkah 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9944" y="5916168"/>
            <a:ext cx="2606040" cy="43891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594360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Aktifkan baris yang dikomentari (//) di kode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72016" y="1389888"/>
            <a:ext cx="2880360" cy="507492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09176" y="15270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09176" y="155448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58016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249EDA"/>
                </a:solidFill>
                <a:latin typeface="Calibri"/>
              </a:rPr>
              <a:t>Upload &amp; Coba!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54896" y="2103120"/>
            <a:ext cx="2514600" cy="22860"/>
          </a:xfrm>
          <a:prstGeom prst="rect">
            <a:avLst/>
          </a:prstGeom>
          <a:solidFill>
            <a:srgbClr val="249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54896" y="21945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Hubungkan ESP32 ke laptop via kabel USB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Upload kode dari Arduino IDE ke ESP32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Buka Telegram → cari nama bot kamu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F5F5F0"/>
                </a:solidFill>
                <a:latin typeface="Calibri"/>
              </a:rPr>
              <a:t>→  Kirim /start → bot akan membalas otomatis!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09176" y="5916168"/>
            <a:ext cx="2606040" cy="43891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73184" y="594360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Panaskan sensor → lihat notifikasi masuk ke HP!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6455664"/>
            <a:ext cx="11612880" cy="338328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48309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FA7B"/>
                </a:solidFill>
                <a:latin typeface="Courier New"/>
              </a:rPr>
              <a:t>const char* WIFI_SSID = "WiFiKamu";   const String BOT_TOKEN = "123456:ABCDEF";   const String CHAT_ID = "987654321";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FA7B"/>
                </a:solidFill>
                <a:latin typeface="Calibri"/>
              </a:rPr>
              <a:t>🧪  Praktikum IoT: Simulasi di Wokwi (Tanpa Hardware!)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5212080" cy="5212080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0FA7B"/>
                </a:solidFill>
                <a:latin typeface="Calibri"/>
              </a:rPr>
              <a:t>🌐  Apa itu Wokwi?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Simulator IoT/Arduino GRATIS berbasis browser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Tidak perlu beli hardware apapun sama sekali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Tersedia sensor, motor, layar LCD, dan LED virtual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Kode bisa ditulis &amp; dijalankan langsung di situs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Proyek bisa dibagikan via link ke teman/dosen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Dipakai oleh jutaan pelajar &amp; insinyur di seluruh dunia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F5F5F0"/>
                </a:solidFill>
                <a:latin typeface="Segoe UI Emoji"/>
              </a:rPr>
              <a:t>✅  Akses dari HP atau laptop — tidak perlu install apapun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371600"/>
            <a:ext cx="6217920" cy="24231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46304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Segoe UI Emoji"/>
              </a:rPr>
              <a:t>🎯  Kenapa Cocok untuk Mahasiswa Peternakan?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F5F5F0"/>
                </a:solidFill>
                <a:latin typeface="Calibri"/>
              </a:rPr>
              <a:t>→  Tidak perlu modal beli sensor &amp; alat elektronika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F5F5F0"/>
                </a:solidFill>
                <a:latin typeface="Calibri"/>
              </a:rPr>
              <a:t>→  Bisa dicoba berkali-kali tanpa takut alat rusak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F5F5F0"/>
                </a:solidFill>
                <a:latin typeface="Calibri"/>
              </a:rPr>
              <a:t>→  Bisa langsung eksperimen ubah nilai suhu kandang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F5F5F0"/>
                </a:solidFill>
                <a:latin typeface="Calibri"/>
              </a:rPr>
              <a:t>→  Cocok dikerjakan dari rumah atau kos mahasiswa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931920"/>
            <a:ext cx="6217920" cy="1051560"/>
          </a:xfrm>
          <a:prstGeom prst="roundRect">
            <a:avLst>
              <a:gd name="adj" fmla="val 5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40050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2828"/>
                </a:solidFill>
                <a:latin typeface="Calibri"/>
              </a:rPr>
              <a:t>🔗  Alamat Website: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31596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82828"/>
                </a:solidFill>
                <a:latin typeface="Calibri"/>
              </a:rPr>
              <a:t>wokwi.com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5120640"/>
            <a:ext cx="6217920" cy="1417320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519379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E9FD"/>
                </a:solidFill>
                <a:latin typeface="Segoe UI Emoji"/>
              </a:rPr>
              <a:t>⚙️  Komponen Virtual yang Tersedia di Wokwi: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62356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5F5F0"/>
                </a:solidFill>
                <a:latin typeface="Segoe UI Emoji"/>
              </a:rPr>
              <a:t>🌡️ Sensor Suhu DHT22    📺 Layar LCD    💡 LED Alarm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9893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5F5F0"/>
                </a:solidFill>
                <a:latin typeface="Segoe UI Emoji"/>
              </a:rPr>
              <a:t>📍 GPS Module    🔊 Buzzer    ⚖️ Load Cell (Timbangan)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0FA7B"/>
                </a:solidFill>
                <a:latin typeface="Calibri"/>
              </a:rPr>
              <a:t>🐄  Proyek Simulasi: Monitor Suhu &amp; Kelembaban Kandang Sapi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11612880" cy="658368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6C"/>
                </a:solidFill>
                <a:latin typeface="Segoe UI Emoji"/>
              </a:rPr>
              <a:t>🎯  Tujuan: Membuat alat virtual yang menampilkan suhu kandang dan menyalakan lampu merah jika terlalu panas (&gt; 30°C)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48840"/>
            <a:ext cx="3200400" cy="4434840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E9FD"/>
                </a:solidFill>
                <a:latin typeface="Segoe UI Emoji"/>
              </a:rPr>
              <a:t>🔧  Komponen Virtual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43200"/>
            <a:ext cx="2880360" cy="658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163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6C"/>
                </a:solidFill>
                <a:latin typeface="Calibri"/>
              </a:rPr>
              <a:t>Arduino Uno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2724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Otak pengontrol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493008"/>
            <a:ext cx="2880360" cy="658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0273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6C"/>
                </a:solidFill>
                <a:latin typeface="Calibri"/>
              </a:rPr>
              <a:t>Sensor DHT22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770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Baca suhu &amp; lembab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242816"/>
            <a:ext cx="2880360" cy="658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3525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159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6C"/>
                </a:solidFill>
                <a:latin typeface="Calibri"/>
              </a:rPr>
              <a:t>LCD 16x2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268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Tampilkan angka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992624"/>
            <a:ext cx="2880360" cy="658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1023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6577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6C"/>
                </a:solidFill>
                <a:latin typeface="Calibri"/>
              </a:rPr>
              <a:t>LED Merah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766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Lampu alarm panas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742432"/>
            <a:ext cx="2880360" cy="658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852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155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6C"/>
                </a:solidFill>
                <a:latin typeface="Calibri"/>
              </a:rPr>
              <a:t>Resistor 220Ω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61264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Pengaman 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2148840"/>
            <a:ext cx="4937760" cy="4434840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9476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E9FD"/>
                </a:solidFill>
                <a:latin typeface="Segoe UI Emoji"/>
              </a:rPr>
              <a:t>⚙️  Cara Kerjanya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2743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49039" y="276148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743200"/>
            <a:ext cx="4160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Sensor DHT22 membaca
suhu &amp; kelembaban kandang
setiap 2 detik sekali.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31821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B86C"/>
                </a:solidFill>
                <a:latin typeface="Calibr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49039" y="36210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39" y="363931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3621024"/>
            <a:ext cx="4160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Hasilnya ditampilkan
di layar LCD:
"Suhu: 33.0°C | Lembab: 75.0 %"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40599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B86C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4498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39" y="4517136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4498848"/>
            <a:ext cx="4160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Program cek:
Apakah suhu &gt; 30°C?
JIKA IYA → LED MERAH MENYALA
JIKA TIDAK → LED tetap mati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4937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B86C"/>
                </a:solidFill>
                <a:latin typeface="Calibr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5376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39" y="539496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376672"/>
            <a:ext cx="4160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Proses diulang terus
setiap 2 detik.
Seperti sensor kandang asli!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2148840"/>
            <a:ext cx="3246120" cy="4434840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E9FD"/>
                </a:solidFill>
                <a:latin typeface="Segoe UI Emoji"/>
              </a:rPr>
              <a:t>&lt;/&gt;  Cuplikan Kode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2743200"/>
            <a:ext cx="28803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50FA7B"/>
                </a:solidFill>
                <a:latin typeface="Courier New"/>
              </a:rPr>
              <a:t>// Batas suhu aman kandang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8BE9FD"/>
                </a:solidFill>
                <a:latin typeface="Courier New"/>
              </a:rPr>
              <a:t>#define BATAS_SUHU 30.0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8BE9FD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50FA7B"/>
                </a:solidFill>
                <a:latin typeface="Courier New"/>
              </a:rPr>
              <a:t>// Baca data dari sensor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5F5F0"/>
                </a:solidFill>
                <a:latin typeface="Courier New"/>
              </a:rPr>
              <a:t>float suhu =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FB86C"/>
                </a:solidFill>
                <a:latin typeface="Courier New"/>
              </a:rPr>
              <a:t>  dht.readTemperature();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FFB86C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50FA7B"/>
                </a:solidFill>
                <a:latin typeface="Courier New"/>
              </a:rPr>
              <a:t>// Cek kondisi suhu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5F5F0"/>
                </a:solidFill>
                <a:latin typeface="Courier New"/>
              </a:rPr>
              <a:t>if (suhu &gt; BATAS_SUHU)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50FA7B"/>
                </a:solidFill>
                <a:latin typeface="Courier New"/>
              </a:rPr>
              <a:t>  // Nyalakan LED alarm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F5555"/>
                </a:solidFill>
                <a:latin typeface="Courier New"/>
              </a:rPr>
              <a:t>  digitalWrite(LED,HIGH);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5F5F0"/>
                </a:solidFill>
                <a:latin typeface="Courier New"/>
              </a:rPr>
              <a:t>} else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50FA7B"/>
                </a:solidFill>
                <a:latin typeface="Courier New"/>
              </a:rPr>
              <a:t>  digitalWrite(LED,LOW);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5F5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F5F5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50FA7B"/>
                </a:solidFill>
                <a:latin typeface="Courier New"/>
              </a:rPr>
              <a:t>delay(2000); // tunggu 2 detik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6492240"/>
            <a:ext cx="11612880" cy="301752"/>
          </a:xfrm>
          <a:prstGeom prst="roundRect">
            <a:avLst>
              <a:gd name="adj" fmla="val 4000"/>
            </a:avLst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6519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Segoe UI Emoji"/>
              </a:rPr>
              <a:t>🔥  Tantangan: Ubah nilai BATAS_SUHU dari 30 menjadi 25. Lihat kapan LED alarm menyala!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FA7B"/>
                </a:solidFill>
                <a:latin typeface="Calibri"/>
              </a:rPr>
              <a:t>📋  Cara Menggunakan Wokwi — Panduan Langkah Demi Langkah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819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B86C"/>
                </a:solidFill>
                <a:latin typeface="Segoe UI Emoj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8191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Calibri"/>
              </a:rPr>
              <a:t>Buka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3429000" cy="228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Buka Google Chrome / Firefox di
laptop atau HP kamu.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64408"/>
            <a:ext cx="3520440" cy="34747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2826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Tidak perlu install aplikasi apapun!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1732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89120" y="15544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5819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508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B86C"/>
                </a:solidFill>
                <a:latin typeface="Segoe UI Emoji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58191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Calibri"/>
              </a:rPr>
              <a:t>Kunjungi Wokwi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057400"/>
            <a:ext cx="3429000" cy="228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214884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Ketik di address bar browser:
wokwi.com
lalu tekan Enter.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64408"/>
            <a:ext cx="3520440" cy="34747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32826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Gratis, tidak perlu daftar!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41732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66760" y="15544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15819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1508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B86C"/>
                </a:solidFill>
                <a:latin typeface="Segoe UI Emoji"/>
              </a:rPr>
              <a:t>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58191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Calibri"/>
              </a:rPr>
              <a:t>Buat Proyek Baru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057400"/>
            <a:ext cx="3429000" cy="228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214884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Klik 'New Project'
lalu pilih 'Arduino Uno'
sebagai platform.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3264408"/>
            <a:ext cx="3520440" cy="34747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32826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Editor kode akan terbuka.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93192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11480" y="40690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40965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023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B86C"/>
                </a:solidFill>
                <a:latin typeface="Segoe UI Emoji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09651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Calibri"/>
              </a:rPr>
              <a:t>Tempel Kode Program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72000"/>
            <a:ext cx="3429000" cy="228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66344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Pilih semua teks di tab sketch.ino
(Ctrl+A), hapus, lalu tempel
kode yang diberikan dosen.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779008"/>
            <a:ext cx="3520440" cy="34747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7972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File kode ada di folder praktikum.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393192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389120" y="40690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40965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023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B86C"/>
                </a:solidFill>
                <a:latin typeface="Segoe UI Emoji"/>
              </a:rPr>
              <a:t>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409651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Calibri"/>
              </a:rPr>
              <a:t>Tempel Rangkaian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4572000"/>
            <a:ext cx="3429000" cy="228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34840" y="466344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Klik tab diagram.json, pilih
semua (Ctrl+A), hapus, lalu
tempel isi diagram.json dari dosen.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5779008"/>
            <a:ext cx="3520440" cy="34747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34840" y="57972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Komponen virtual akan muncul!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3931920"/>
            <a:ext cx="3794760" cy="2286000"/>
          </a:xfrm>
          <a:prstGeom prst="roundRect">
            <a:avLst>
              <a:gd name="adj" fmla="val 4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66760" y="40690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66760" y="40965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4023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B86C"/>
                </a:solidFill>
                <a:latin typeface="Segoe UI Emoji"/>
              </a:rPr>
              <a:t>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409651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6C"/>
                </a:solidFill>
                <a:latin typeface="Calibri"/>
              </a:rPr>
              <a:t>Jalankan &amp; Eksplorasi!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572000"/>
            <a:ext cx="3429000" cy="228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466344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0"/>
                </a:solidFill>
                <a:latin typeface="Calibri"/>
              </a:rPr>
              <a:t>Klik tombol ▶ (Play hijau) di
pojok atas. Tunggu loading,
lalu lihat LCD dan LED virtual!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5779008"/>
            <a:ext cx="3520440" cy="347472"/>
          </a:xfrm>
          <a:prstGeom prst="roundRect">
            <a:avLst>
              <a:gd name="adj" fmla="val 4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12480" y="57972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  <a:latin typeface="Segoe UI Emoji"/>
              </a:rPr>
              <a:t>💡 Klik DHT22 → ubah suhu → lihat hasil!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6473952"/>
            <a:ext cx="11612880" cy="338328"/>
          </a:xfrm>
          <a:prstGeom prst="roundRect">
            <a:avLst>
              <a:gd name="adj" fmla="val 4000"/>
            </a:avLst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650138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Segoe UI Emoji"/>
              </a:rPr>
              <a:t>🌐  Mulai sekarang di: wokwi.com   |   File kode: sketch.ino &amp; diagram.json (dari dosen)   |   Tidak perlu daftar!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💡  Kesimpulan Materi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1612880" cy="10515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69164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4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IoT Bukan untuk Programmer Saja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75687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5F5F0"/>
                </a:solidFill>
                <a:latin typeface="Calibri"/>
              </a:rPr>
              <a:t>IoT adalah alat bantu peternak. Kita tidak perlu bisa membuat, kita hanya perlu tahu cara menggunakannya.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97480"/>
            <a:ext cx="11612880" cy="10515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83464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Efisiensi Meningkat Pesat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18687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5F5F0"/>
                </a:solidFill>
                <a:latin typeface="Calibri"/>
              </a:rPr>
              <a:t>Monitor suhu kandang, pemberian pakan presisi, &amp; pelacakan ternak terbukti memotong biaya operasional hingga 30%.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40480"/>
            <a:ext cx="11612880" cy="105156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397764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0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Kaltim Punya Peluang 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61687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5F5F0"/>
                </a:solidFill>
                <a:latin typeface="Calibri"/>
              </a:rPr>
              <a:t>IKN membutuhkan pasokan daging sapi berkualitas tinggi. Integrasi sapi sawit (SISKA) berbasis IoT adalah solusi terbaik.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983480"/>
            <a:ext cx="11612880" cy="105156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512064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93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Kunci Sukses: Kolaborasi Multidisiplin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04687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5F5F0"/>
                </a:solidFill>
                <a:latin typeface="Calibri"/>
              </a:rPr>
              <a:t>Bekerjasamalah dengan anak IT/Elektro UNMUL. Kolaborasi melahirkan inovasi peternakan bernilai tinggi.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88552" y="3474720"/>
            <a:ext cx="3200400" cy="3200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49240" y="68580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0" i="0">
                <a:solidFill>
                  <a:srgbClr val="FFFFFF"/>
                </a:solidFill>
                <a:latin typeface="Segoe UI Emoji"/>
              </a:rP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Terima Kasih!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6FBF73"/>
                </a:solidFill>
                <a:latin typeface="Calibri"/>
              </a:rPr>
              <a:t>"Peternak masa depan bukan lagi mereka yang hanya memegang cangkul dan arit,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6FBF73"/>
                </a:solidFill>
                <a:latin typeface="Calibri"/>
              </a:rPr>
              <a:t>tapi mereka yang mengendalikan kesehatan ternak dari genggaman jempolnya!"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3749039"/>
            <a:ext cx="4572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Segoe UI Emoji"/>
              </a:rPr>
              <a:t>❓  Ada Pertanyaan?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0"/>
                </a:solidFill>
                <a:latin typeface="Calibri"/>
              </a:rPr>
              <a:t>Mari Kita Mulai Diskusi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5166360"/>
            <a:ext cx="6675120" cy="868680"/>
          </a:xfrm>
          <a:prstGeom prst="roundRect">
            <a:avLst>
              <a:gd name="adj" fmla="val 4000"/>
            </a:avLst>
          </a:prstGeom>
          <a:solidFill>
            <a:srgbClr val="1B5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5230368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Calibri"/>
              </a:rPr>
              <a:t>Fakultas Peternakan  ·  Universitas Mulawarman  ·  Samarinda, Kalimantan Timur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57784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0"/>
                </a:solidFill>
                <a:latin typeface="Calibri"/>
              </a:rPr>
              <a:t>unmul.ac.id  ·  Smart Livestock Farming Project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3305</Words>
  <Application>Microsoft Office PowerPoint</Application>
  <PresentationFormat>Custom</PresentationFormat>
  <Paragraphs>455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 Prafanto</cp:lastModifiedBy>
  <cp:revision>4</cp:revision>
  <dcterms:created xsi:type="dcterms:W3CDTF">2013-01-27T09:14:16Z</dcterms:created>
  <dcterms:modified xsi:type="dcterms:W3CDTF">2026-05-21T22:11:24Z</dcterms:modified>
  <cp:category/>
</cp:coreProperties>
</file>