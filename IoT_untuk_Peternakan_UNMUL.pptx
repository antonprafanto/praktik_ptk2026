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6" r:id="rId17"/>
    <p:sldId id="277" r:id="rId18"/>
    <p:sldId id="273" r:id="rId19"/>
    <p:sldId id="274" r:id="rId20"/>
    <p:sldId id="275" r:id="rId21"/>
    <p:sldId id="271" r:id="rId22"/>
    <p:sldId id="272" r:id="rId2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0"/>
            <a:ext cx="109728" cy="6858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531352" y="-457200"/>
            <a:ext cx="3657600" cy="3657600"/>
          </a:xfrm>
          <a:prstGeom prst="ellipse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445752" y="457200"/>
            <a:ext cx="2743200" cy="2743200"/>
          </a:xfrm>
          <a:prstGeom prst="ellipse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320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Calibri"/>
              </a:rPr>
              <a:t>FAKULTAS PETERNAKAN  |  UNIVERSITAS MULAWARMAN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91440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6FBF73"/>
                </a:solidFill>
                <a:latin typeface="Segoe UI Emoji"/>
              </a:rPr>
              <a:t>🌐  📡  🐄  💻  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554480"/>
            <a:ext cx="9144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INTERNET of THINGS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514600"/>
            <a:ext cx="4572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5A623"/>
                </a:solidFill>
                <a:latin typeface="Calibri"/>
              </a:rPr>
              <a:t>(IoT)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46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6FBF73"/>
                </a:solidFill>
                <a:latin typeface="Calibri"/>
              </a:rPr>
              <a:t>Teknologi Pintar untuk Peternakan Modern Kaltim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886200"/>
            <a:ext cx="4572000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4005072"/>
            <a:ext cx="9144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5F5F0"/>
                </a:solidFill>
                <a:latin typeface="Calibri"/>
              </a:rPr>
              <a:t>Materi Pengenalan Praktis &amp; Populer untuk Mahasiswa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F5F5F0"/>
                </a:solidFill>
                <a:latin typeface="Calibri"/>
              </a:rPr>
              <a:t>TIDAK memerlukan latar belakang IT, coding, atau elektronika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2179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623"/>
                </a:solidFill>
                <a:latin typeface="Calibri"/>
              </a:rPr>
              <a:t>Samarinda,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📋  Agenda Materi Kuliah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371600"/>
            <a:ext cx="5623560" cy="11704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FB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Rounded Rectangle 6"/>
          <p:cNvSpPr/>
          <p:nvPr/>
        </p:nvSpPr>
        <p:spPr>
          <a:xfrm>
            <a:off x="457200" y="1691640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475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508760"/>
            <a:ext cx="47548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1B562E"/>
                </a:solidFill>
                <a:latin typeface="Segoe UI Emoji"/>
              </a:rPr>
              <a:t>🛡️  </a:t>
            </a:r>
            <a:r>
              <a:rPr sz="2000" b="1" i="0" dirty="0" err="1">
                <a:solidFill>
                  <a:srgbClr val="1B562E"/>
                </a:solidFill>
                <a:latin typeface="Segoe UI Emoji"/>
              </a:rPr>
              <a:t>Mitos</a:t>
            </a:r>
            <a:r>
              <a:rPr sz="2000" b="1" i="0" dirty="0">
                <a:solidFill>
                  <a:srgbClr val="1B562E"/>
                </a:solidFill>
                <a:latin typeface="Segoe UI Emoji"/>
              </a:rPr>
              <a:t> vs Fakta IoT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029968"/>
            <a:ext cx="47548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44444"/>
                </a:solidFill>
                <a:latin typeface="Calibri"/>
              </a:rPr>
              <a:t>Kenapa anak peternakan tidak usah takut 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2670048"/>
            <a:ext cx="5623560" cy="11704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FB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" name="Rounded Rectangle 11"/>
          <p:cNvSpPr/>
          <p:nvPr/>
        </p:nvSpPr>
        <p:spPr>
          <a:xfrm>
            <a:off x="457200" y="2990088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457200" y="2990088"/>
            <a:ext cx="475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807208"/>
            <a:ext cx="47548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562E"/>
                </a:solidFill>
                <a:latin typeface="Segoe UI Emoji"/>
              </a:rPr>
              <a:t>🤔  Apa &amp; Bagaimana IoT?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328416"/>
            <a:ext cx="47548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44444"/>
                </a:solidFill>
                <a:latin typeface="Calibri"/>
              </a:rPr>
              <a:t>Konsep paling dasar &amp; cara kerjanya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" y="3968496"/>
            <a:ext cx="5623560" cy="11704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FB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7" name="Rounded Rectangle 16"/>
          <p:cNvSpPr/>
          <p:nvPr/>
        </p:nvSpPr>
        <p:spPr>
          <a:xfrm>
            <a:off x="457200" y="42885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8" name="TextBox 17"/>
          <p:cNvSpPr txBox="1"/>
          <p:nvPr/>
        </p:nvSpPr>
        <p:spPr>
          <a:xfrm>
            <a:off x="457200" y="4288536"/>
            <a:ext cx="475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105656"/>
            <a:ext cx="47548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562E"/>
                </a:solidFill>
                <a:latin typeface="Segoe UI Emoji"/>
              </a:rPr>
              <a:t>🌟  IoT di Sekitar Kita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626864"/>
            <a:ext cx="47548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44444"/>
                </a:solidFill>
                <a:latin typeface="Calibri"/>
              </a:rPr>
              <a:t>Contoh teknologi yang sudah kita pakai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5266944"/>
            <a:ext cx="5623560" cy="11704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FB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Rounded Rectangle 21"/>
          <p:cNvSpPr/>
          <p:nvPr/>
        </p:nvSpPr>
        <p:spPr>
          <a:xfrm>
            <a:off x="457200" y="5586984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3" name="TextBox 22"/>
          <p:cNvSpPr txBox="1"/>
          <p:nvPr/>
        </p:nvSpPr>
        <p:spPr>
          <a:xfrm>
            <a:off x="457200" y="5586984"/>
            <a:ext cx="475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404104"/>
            <a:ext cx="47548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562E"/>
                </a:solidFill>
                <a:latin typeface="Segoe UI Emoji"/>
              </a:rPr>
              <a:t>⚖️  Tradisional vs Smart Farm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925312"/>
            <a:ext cx="47548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44444"/>
                </a:solidFill>
                <a:latin typeface="Calibri"/>
              </a:rPr>
              <a:t>Perbandingan efisiensi kerja kandang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1371600"/>
            <a:ext cx="5623560" cy="11704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FB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7" name="Rounded Rectangle 26"/>
          <p:cNvSpPr/>
          <p:nvPr/>
        </p:nvSpPr>
        <p:spPr>
          <a:xfrm>
            <a:off x="6309360" y="1691640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8" name="TextBox 27"/>
          <p:cNvSpPr txBox="1"/>
          <p:nvPr/>
        </p:nvSpPr>
        <p:spPr>
          <a:xfrm>
            <a:off x="6309360" y="1691640"/>
            <a:ext cx="475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03720" y="1508760"/>
            <a:ext cx="47548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562E"/>
                </a:solidFill>
                <a:latin typeface="Segoe UI Emoji"/>
              </a:rPr>
              <a:t>🐄  6 Aplikasi di Kandang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2029968"/>
            <a:ext cx="47548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44444"/>
                </a:solidFill>
                <a:latin typeface="Calibri"/>
              </a:rPr>
              <a:t>Penerapan nyata sensor pada ternak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2670048"/>
            <a:ext cx="5623560" cy="11704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FB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2" name="Rounded Rectangle 31"/>
          <p:cNvSpPr/>
          <p:nvPr/>
        </p:nvSpPr>
        <p:spPr>
          <a:xfrm>
            <a:off x="6309360" y="2990088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3" name="TextBox 32"/>
          <p:cNvSpPr txBox="1"/>
          <p:nvPr/>
        </p:nvSpPr>
        <p:spPr>
          <a:xfrm>
            <a:off x="6309360" y="2990088"/>
            <a:ext cx="475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2807208"/>
            <a:ext cx="47548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562E"/>
                </a:solidFill>
                <a:latin typeface="Segoe UI Emoji"/>
              </a:rPr>
              <a:t>🗺️  Studi Kasus Sapi Bali (SISKA)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3328416"/>
            <a:ext cx="47548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44444"/>
                </a:solidFill>
                <a:latin typeface="Calibri"/>
              </a:rPr>
              <a:t>Penerapan lokal di perkebunan sawit Kaltim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3968496"/>
            <a:ext cx="5623560" cy="11704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FB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7" name="Rounded Rectangle 36"/>
          <p:cNvSpPr/>
          <p:nvPr/>
        </p:nvSpPr>
        <p:spPr>
          <a:xfrm>
            <a:off x="6309360" y="42885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8" name="TextBox 37"/>
          <p:cNvSpPr txBox="1"/>
          <p:nvPr/>
        </p:nvSpPr>
        <p:spPr>
          <a:xfrm>
            <a:off x="6309360" y="4288536"/>
            <a:ext cx="475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4105656"/>
            <a:ext cx="47548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562E"/>
                </a:solidFill>
                <a:latin typeface="Segoe UI Emoji"/>
              </a:rPr>
              <a:t>⚠️  Tantangan &amp; Glosarium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4626864"/>
            <a:ext cx="47548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44444"/>
                </a:solidFill>
                <a:latin typeface="Calibri"/>
              </a:rPr>
              <a:t>Kendala lapangan &amp; kamus istilah pemula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72200" y="5266944"/>
            <a:ext cx="5623560" cy="11704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FBF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2" name="Rounded Rectangle 41"/>
          <p:cNvSpPr/>
          <p:nvPr/>
        </p:nvSpPr>
        <p:spPr>
          <a:xfrm>
            <a:off x="6309360" y="5586984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3" name="TextBox 42"/>
          <p:cNvSpPr txBox="1"/>
          <p:nvPr/>
        </p:nvSpPr>
        <p:spPr>
          <a:xfrm>
            <a:off x="6309360" y="5586984"/>
            <a:ext cx="475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03720" y="5404104"/>
            <a:ext cx="47548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562E"/>
                </a:solidFill>
                <a:latin typeface="Segoe UI Emoji"/>
              </a:rPr>
              <a:t>🚀  Karir &amp; Langkah Awal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03720" y="5925312"/>
            <a:ext cx="47548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44444"/>
                </a:solidFill>
                <a:latin typeface="Calibri"/>
              </a:rPr>
              <a:t>Peluang emas masa depan kamu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01 | Penting: Apakah Mahasiswa Peternakan Harus Bisa IT?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5486400" cy="51663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51206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5A623"/>
                </a:solidFill>
                <a:latin typeface="Segoe UI Emoji"/>
              </a:rPr>
              <a:t>❌  Mitos yang Salah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5120640" cy="1733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dirty="0">
                <a:solidFill>
                  <a:srgbClr val="F5F5F0"/>
                </a:solidFill>
                <a:latin typeface="Calibri"/>
              </a:rPr>
              <a:t>✗  Harus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jago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coding program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komputer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rumit</a:t>
            </a:r>
            <a:endParaRPr sz="1600"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600" dirty="0">
                <a:solidFill>
                  <a:srgbClr val="F5F5F0"/>
                </a:solidFill>
                <a:latin typeface="Calibri"/>
              </a:rPr>
              <a:t>✗  Harus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mengerti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elektronika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&amp;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menyolder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kabel</a:t>
            </a:r>
            <a:endParaRPr sz="1600"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600" dirty="0">
                <a:solidFill>
                  <a:srgbClr val="F5F5F0"/>
                </a:solidFill>
                <a:latin typeface="Calibri"/>
              </a:rPr>
              <a:t>✗  Harus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membuat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&amp;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merakit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sensor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sendiri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dari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nol</a:t>
            </a:r>
            <a:endParaRPr sz="1600"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sz="1600" dirty="0">
                <a:solidFill>
                  <a:srgbClr val="F5F5F0"/>
                </a:solidFill>
                <a:latin typeface="Calibri"/>
              </a:rPr>
              <a:t>✗  Hanya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anak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Teknik Elektro/IT yang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bisa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memakai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IoT</a:t>
            </a:r>
          </a:p>
          <a:p>
            <a:pPr>
              <a:spcAft>
                <a:spcPts val="800"/>
              </a:spcAft>
            </a:pPr>
            <a:r>
              <a:rPr sz="1600" dirty="0">
                <a:solidFill>
                  <a:srgbClr val="F5F5F0"/>
                </a:solidFill>
                <a:latin typeface="Calibri"/>
              </a:rPr>
              <a:t>✗ 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Mengoperasikan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IoT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itu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pusing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&amp;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banyak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tombol</a:t>
            </a:r>
            <a:endParaRPr sz="1600" dirty="0">
              <a:solidFill>
                <a:srgbClr val="F5F5F0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943600" y="1371600"/>
            <a:ext cx="5943600" cy="51663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TextBox 9"/>
          <p:cNvSpPr txBox="1"/>
          <p:nvPr/>
        </p:nvSpPr>
        <p:spPr>
          <a:xfrm>
            <a:off x="6126480" y="1508760"/>
            <a:ext cx="5577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5A623"/>
                </a:solidFill>
                <a:latin typeface="Segoe UI Emoji"/>
              </a:rPr>
              <a:t>✅  Fakta Sebenarnya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194560"/>
            <a:ext cx="5577840" cy="222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F5F5F0"/>
                </a:solidFill>
                <a:latin typeface="Calibri"/>
              </a:rPr>
              <a:t>✓  IoT modern sifatnya 'Plug and Play' (Tinggal Pakai)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F5F5F0"/>
                </a:solidFill>
                <a:latin typeface="Calibri"/>
              </a:rPr>
              <a:t>✓  Sudah disediakan pabrik, tidak perlu merakit kabel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F5F5F0"/>
                </a:solidFill>
                <a:latin typeface="Calibri"/>
              </a:rPr>
              <a:t>✓  Memakainya semudah menggunakan WhatsApp/TikTok di HP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F5F5F0"/>
                </a:solidFill>
                <a:latin typeface="Calibri"/>
              </a:rPr>
              <a:t>✓  Tugas utama kamu adalah memahami ternak &amp; membaca data di HP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F5F5F0"/>
                </a:solidFill>
                <a:latin typeface="Calibri"/>
              </a:rPr>
              <a:t>✓  Anak IT membuat alatnya, anak Peternakan menggunakannya untuk profit!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50408" y="3566160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3" name="TextBox 12"/>
          <p:cNvSpPr txBox="1"/>
          <p:nvPr/>
        </p:nvSpPr>
        <p:spPr>
          <a:xfrm>
            <a:off x="5550408" y="3611880"/>
            <a:ext cx="6583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1B562E"/>
                </a:solidFill>
                <a:latin typeface="Calibri"/>
              </a:rPr>
              <a:t>VS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02  |  Apa itu IoT?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371600"/>
            <a:ext cx="11521440" cy="13716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A623"/>
                </a:solidFill>
                <a:latin typeface="Calibri"/>
              </a:rPr>
              <a:t>IoT = Internet of Things  ( "Internet dari Benda-Benda" 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20240"/>
            <a:ext cx="110642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 err="1">
                <a:solidFill>
                  <a:srgbClr val="F5F5F0"/>
                </a:solidFill>
                <a:latin typeface="Calibri"/>
              </a:rPr>
              <a:t>Teknologi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yang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memasang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sensor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pintar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pada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benda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fisik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(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seperti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kalung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sapi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,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tempat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pakan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,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atau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kandang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)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sehingga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benda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tersebut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bisa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mengirim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data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otomatis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ke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HP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kamu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lewat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internet.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880360"/>
            <a:ext cx="4572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B562E"/>
                </a:solidFill>
                <a:latin typeface="Calibri"/>
              </a:rPr>
              <a:t>Analogi Termometer Kandang Sapi: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246120"/>
            <a:ext cx="3566160" cy="324612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320040" y="3337560"/>
            <a:ext cx="35661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  <a:latin typeface="Segoe UI Emoji"/>
              </a:rPr>
              <a:t>🌡️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931920"/>
            <a:ext cx="35661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Termometer Tradisional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4389120"/>
            <a:ext cx="33467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F5F5F0"/>
                </a:solidFill>
                <a:latin typeface="Calibri"/>
              </a:rPr>
              <a:t>Peternak harus jalan ke
kandang, melihat angka,
lalu mencatat manual di kertas.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3246120"/>
            <a:ext cx="3566160" cy="3246120"/>
          </a:xfrm>
          <a:prstGeom prst="roundRect">
            <a:avLst>
              <a:gd name="adj" fmla="val 5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4160520" y="3337560"/>
            <a:ext cx="35661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  <a:latin typeface="Segoe UI Emoji"/>
              </a:rPr>
              <a:t>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3931920"/>
            <a:ext cx="35661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Termometer IoT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4389120"/>
            <a:ext cx="33467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F5F5F0"/>
                </a:solidFill>
                <a:latin typeface="Calibri"/>
              </a:rPr>
              <a:t>Sensor kirim data suhu otomatis
lewat internet ke server/HP kamu
setiap 5 menit sekali.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3246120"/>
            <a:ext cx="3566160" cy="3246120"/>
          </a:xfrm>
          <a:prstGeom prst="roundRect">
            <a:avLst>
              <a:gd name="adj" fmla="val 5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8001000" y="3337560"/>
            <a:ext cx="356616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  <a:latin typeface="Segoe UI Emoji"/>
              </a:rPr>
              <a:t>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3931920"/>
            <a:ext cx="35661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Keuntungan Nyata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4389120"/>
            <a:ext cx="33467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F5F5F0"/>
                </a:solidFill>
                <a:latin typeface="Calibri"/>
              </a:rPr>
              <a:t>Kamu bisa pantau suhu kandang
lewat HP saat di rumah, kuliah,
atau di mana saja!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05072" y="4572000"/>
            <a:ext cx="25603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82127" y="4572000"/>
            <a:ext cx="25603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5" name="TextBox 24"/>
          <p:cNvSpPr txBox="1"/>
          <p:nvPr/>
        </p:nvSpPr>
        <p:spPr>
          <a:xfrm>
            <a:off x="365760" y="6547104"/>
            <a:ext cx="1143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5A623"/>
                </a:solidFill>
                <a:latin typeface="Segoe UI Emoji"/>
              </a:rPr>
              <a:t>💡  Benda Biasa  +  Sensor Pintar  +  Koneksi Internet  =  Benda 'Pintar' Pelapor Data!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02 | Bagaimana Alur Kerja IoT?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25880"/>
            <a:ext cx="1143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>
                <a:solidFill>
                  <a:srgbClr val="6FBF73"/>
                </a:solidFill>
                <a:latin typeface="Calibri"/>
              </a:rPr>
              <a:t>Alur data bekerja otomatis tanpa perlu campur tangan peternak setiap saat: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920240"/>
            <a:ext cx="2788920" cy="45720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TextBox 7"/>
          <p:cNvSpPr txBox="1"/>
          <p:nvPr/>
        </p:nvSpPr>
        <p:spPr>
          <a:xfrm>
            <a:off x="274320" y="2011680"/>
            <a:ext cx="27889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FFFFFF"/>
                </a:solidFill>
                <a:latin typeface="Segoe UI Emoji"/>
              </a:rPr>
              <a:t>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834640"/>
            <a:ext cx="27889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1. SENSOR
(Mengukur)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502152"/>
            <a:ext cx="224028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411480" y="3593592"/>
            <a:ext cx="25146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 err="1">
                <a:solidFill>
                  <a:srgbClr val="F5F5F0"/>
                </a:solidFill>
                <a:latin typeface="Calibri"/>
              </a:rPr>
              <a:t>Mengambil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data di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kandang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.
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Contoh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: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mengukur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suhu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udara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,
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detak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jantung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ternak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,
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atau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sisa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pakan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72384" y="3977639"/>
            <a:ext cx="91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36392" y="1920240"/>
            <a:ext cx="2788920" cy="45720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3136392" y="2011680"/>
            <a:ext cx="27889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FFFFFF"/>
                </a:solidFill>
                <a:latin typeface="Segoe UI Emoji"/>
              </a:rPr>
              <a:t>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2834640"/>
            <a:ext cx="27889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2. KONEKSI
(Mengirim)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10712" y="3502152"/>
            <a:ext cx="224028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7" name="TextBox 16"/>
          <p:cNvSpPr txBox="1"/>
          <p:nvPr/>
        </p:nvSpPr>
        <p:spPr>
          <a:xfrm>
            <a:off x="3273552" y="3593592"/>
            <a:ext cx="25146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F5F0"/>
                </a:solidFill>
                <a:latin typeface="Calibri"/>
              </a:rPr>
              <a:t>Mengirimkan data dari kandang.
Menggunakan Wi-Fi, kartu SIM
4G/5G, atau gelombang LoRa
ke internet.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34456" y="3977639"/>
            <a:ext cx="91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98464" y="1920240"/>
            <a:ext cx="2788920" cy="457200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0" name="TextBox 19"/>
          <p:cNvSpPr txBox="1"/>
          <p:nvPr/>
        </p:nvSpPr>
        <p:spPr>
          <a:xfrm>
            <a:off x="5998464" y="2011680"/>
            <a:ext cx="27889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FFFFFF"/>
                </a:solidFill>
                <a:latin typeface="Segoe UI Emoji"/>
              </a:rPr>
              <a:t>☁️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98464" y="2834640"/>
            <a:ext cx="27889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3. CLOUD / SERVER
(Mengolah)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72784" y="3502152"/>
            <a:ext cx="224028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3" name="TextBox 22"/>
          <p:cNvSpPr txBox="1"/>
          <p:nvPr/>
        </p:nvSpPr>
        <p:spPr>
          <a:xfrm>
            <a:off x="6135624" y="3593592"/>
            <a:ext cx="25146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F5F0"/>
                </a:solidFill>
                <a:latin typeface="Calibri"/>
              </a:rPr>
              <a:t>Pusat penyimpanan pintar.
Data disimpan, dianalisis,
dan disiapkan untuk dikirim
ke smartphone.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3977639"/>
            <a:ext cx="914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60536" y="1920240"/>
            <a:ext cx="2788920" cy="45720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6" name="TextBox 25"/>
          <p:cNvSpPr txBox="1"/>
          <p:nvPr/>
        </p:nvSpPr>
        <p:spPr>
          <a:xfrm>
            <a:off x="8860536" y="2011680"/>
            <a:ext cx="27889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FFFFFF"/>
                </a:solidFill>
                <a:latin typeface="Segoe UI Emoji"/>
              </a:rPr>
              <a:t>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0536" y="2834640"/>
            <a:ext cx="27889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4. APLIKASI / HP
(Menampilkan)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34856" y="3502152"/>
            <a:ext cx="224028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9" name="TextBox 28"/>
          <p:cNvSpPr txBox="1"/>
          <p:nvPr/>
        </p:nvSpPr>
        <p:spPr>
          <a:xfrm>
            <a:off x="8997696" y="3593592"/>
            <a:ext cx="25146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F5F0"/>
                </a:solidFill>
                <a:latin typeface="Calibri"/>
              </a:rPr>
              <a:t>Tampilan untuk peternak.
Memunculkan data, grafik,
dan notifikasi bahaya secara
langsung di HP.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1" name="TextBox 30"/>
          <p:cNvSpPr txBox="1"/>
          <p:nvPr/>
        </p:nvSpPr>
        <p:spPr>
          <a:xfrm>
            <a:off x="457200" y="6547104"/>
            <a:ext cx="1143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5A623"/>
                </a:solidFill>
                <a:latin typeface="Segoe UI Emoji"/>
              </a:rPr>
              <a:t>Sensor (Kandang)  →  Sinyal (Kirim)  →  Server (Simpan)  →  HP Peternak (Baca)  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03  |  IoT di Kehidupan Sehari-Hari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25880"/>
            <a:ext cx="1143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>
                <a:solidFill>
                  <a:srgbClr val="1B562E"/>
                </a:solidFill>
                <a:latin typeface="Calibri"/>
              </a:rPr>
              <a:t>Kalian kemungkinan besar sudah menggunakan IoT tanpa menyadarinya: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828800"/>
            <a:ext cx="3749039" cy="224028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TextBox 7"/>
          <p:cNvSpPr txBox="1"/>
          <p:nvPr/>
        </p:nvSpPr>
        <p:spPr>
          <a:xfrm>
            <a:off x="320040" y="1920240"/>
            <a:ext cx="37490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Segoe UI Emoji"/>
              </a:rPr>
              <a:t>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514600"/>
            <a:ext cx="374903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Smartwatch / Jam Pintar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971800"/>
            <a:ext cx="35295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 err="1">
                <a:solidFill>
                  <a:srgbClr val="F5F5F0"/>
                </a:solidFill>
                <a:latin typeface="Calibri"/>
              </a:rPr>
              <a:t>Mendeteksi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denyut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jantung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&amp;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langkah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kaki,
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kemudian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mengirim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laporannya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ke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HP.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33671" y="1828800"/>
            <a:ext cx="3749039" cy="2240280"/>
          </a:xfrm>
          <a:prstGeom prst="roundRect">
            <a:avLst>
              <a:gd name="adj" fmla="val 5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" name="TextBox 11"/>
          <p:cNvSpPr txBox="1"/>
          <p:nvPr/>
        </p:nvSpPr>
        <p:spPr>
          <a:xfrm>
            <a:off x="4233671" y="1920240"/>
            <a:ext cx="37490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Segoe UI Emoji"/>
              </a:rPr>
              <a:t>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33671" y="2514600"/>
            <a:ext cx="374903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Lampu Pintar (Smart Bulb)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399" y="2971800"/>
            <a:ext cx="35295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F5F0"/>
                </a:solidFill>
                <a:latin typeface="Calibri"/>
              </a:rPr>
              <a:t>Lampu kamar yang bisa dimatikan lewat HP
atau menyala otomatis saat jam 6 sore.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47302" y="1828800"/>
            <a:ext cx="3749039" cy="2240280"/>
          </a:xfrm>
          <a:prstGeom prst="roundRect">
            <a:avLst>
              <a:gd name="adj" fmla="val 5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" name="TextBox 15"/>
          <p:cNvSpPr txBox="1"/>
          <p:nvPr/>
        </p:nvSpPr>
        <p:spPr>
          <a:xfrm>
            <a:off x="8147302" y="1920240"/>
            <a:ext cx="37490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Segoe UI Emoji"/>
              </a:rPr>
              <a:t>🌤️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2" y="2514600"/>
            <a:ext cx="374903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Aplikasi Cuaca di HP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0" y="2971800"/>
            <a:ext cx="35295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 err="1">
                <a:solidFill>
                  <a:srgbClr val="F5F5F0"/>
                </a:solidFill>
                <a:latin typeface="Calibri"/>
              </a:rPr>
              <a:t>Mengambil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data real-time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dari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ribuan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sensor
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cuaca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luar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ruangan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untuk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HP Anda.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4233672"/>
            <a:ext cx="3749039" cy="2240280"/>
          </a:xfrm>
          <a:prstGeom prst="roundRect">
            <a:avLst>
              <a:gd name="adj" fmla="val 5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0" name="TextBox 19"/>
          <p:cNvSpPr txBox="1"/>
          <p:nvPr/>
        </p:nvSpPr>
        <p:spPr>
          <a:xfrm>
            <a:off x="320040" y="4325112"/>
            <a:ext cx="37490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 dirty="0">
                <a:solidFill>
                  <a:srgbClr val="FFFFFF"/>
                </a:solidFill>
                <a:latin typeface="Segoe UI Emoji"/>
              </a:rPr>
              <a:t>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4919472"/>
            <a:ext cx="374903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Pelacak GPS Kendaraan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" y="5376672"/>
            <a:ext cx="35295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F5F0"/>
                </a:solidFill>
                <a:latin typeface="Calibri"/>
              </a:rPr>
              <a:t>Mengirimkan koordinat lokasi motor/mobil
sehingga Anda bisa melacaknya dari jauh.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33671" y="4233672"/>
            <a:ext cx="3749039" cy="224028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4" name="TextBox 23"/>
          <p:cNvSpPr txBox="1"/>
          <p:nvPr/>
        </p:nvSpPr>
        <p:spPr>
          <a:xfrm>
            <a:off x="4233671" y="4325112"/>
            <a:ext cx="37490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Segoe UI Emoji"/>
              </a:rPr>
              <a:t>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33671" y="4919472"/>
            <a:ext cx="374903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Pelacak Kurir Online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43399" y="5376672"/>
            <a:ext cx="35295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F5F0"/>
                </a:solidFill>
                <a:latin typeface="Calibri"/>
              </a:rPr>
              <a:t>Melihat lokasi kurir Shopee/Gojek secara
real-time bergerak mendekati rumah.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47302" y="4233672"/>
            <a:ext cx="3749039" cy="2240280"/>
          </a:xfrm>
          <a:prstGeom prst="roundRect">
            <a:avLst>
              <a:gd name="adj" fmla="val 5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8" name="TextBox 27"/>
          <p:cNvSpPr txBox="1"/>
          <p:nvPr/>
        </p:nvSpPr>
        <p:spPr>
          <a:xfrm>
            <a:off x="8147302" y="4325112"/>
            <a:ext cx="37490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Segoe UI Emoji"/>
              </a:rPr>
              <a:t>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47302" y="4919472"/>
            <a:ext cx="374903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Pompa Air Otomatis Rumah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7030" y="5376672"/>
            <a:ext cx="35295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F5F5F0"/>
                </a:solidFill>
                <a:latin typeface="Calibri"/>
              </a:rPr>
              <a:t>Tandon air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mati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sendiri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saat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penuh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dan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hidup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
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sendiri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saat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kosong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menggunakan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sensor air.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04 | Perbandingan: Peternakan Tradisional vs Smart Farming IoT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5440680" cy="52578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029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Calibri"/>
              </a:rPr>
              <a:t>❌  Cara Tradisional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57400"/>
            <a:ext cx="507492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dirty="0">
                <a:solidFill>
                  <a:srgbClr val="F5F5F0"/>
                </a:solidFill>
                <a:latin typeface="Calibri"/>
              </a:rPr>
              <a:t>✗  Cek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kandang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setiap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jam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secara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manual</a:t>
            </a:r>
          </a:p>
          <a:p>
            <a:pPr>
              <a:spcAft>
                <a:spcPts val="400"/>
              </a:spcAft>
            </a:pPr>
            <a:r>
              <a:rPr sz="1600" dirty="0">
                <a:solidFill>
                  <a:srgbClr val="F5F5F0"/>
                </a:solidFill>
                <a:latin typeface="Calibri"/>
              </a:rPr>
              <a:t>✗ 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Penyakit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terdeteksi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hanya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setelah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parah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/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mati</a:t>
            </a:r>
            <a:endParaRPr sz="1600"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dirty="0">
                <a:solidFill>
                  <a:srgbClr val="F5F5F0"/>
                </a:solidFill>
                <a:latin typeface="Calibri"/>
              </a:rPr>
              <a:t>✗  Hewan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lepas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/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dicuri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tidak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ketahuan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langsung</a:t>
            </a:r>
            <a:endParaRPr sz="1600"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dirty="0">
                <a:solidFill>
                  <a:srgbClr val="F5F5F0"/>
                </a:solidFill>
                <a:latin typeface="Calibri"/>
              </a:rPr>
              <a:t>✗  Pakan &amp; air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sering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kosong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karena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lupa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cek</a:t>
            </a:r>
            <a:endParaRPr sz="1600"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dirty="0">
                <a:solidFill>
                  <a:srgbClr val="F5F5F0"/>
                </a:solidFill>
                <a:latin typeface="Calibri"/>
              </a:rPr>
              <a:t>✗ 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Mencatat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data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bobot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di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buku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(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mudah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robek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&amp;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hilang</a:t>
            </a:r>
            <a:r>
              <a:rPr sz="1600" dirty="0">
                <a:solidFill>
                  <a:srgbClr val="F5F5F0"/>
                </a:solidFill>
                <a:latin typeface="Calibri"/>
              </a:rPr>
              <a:t>)</a:t>
            </a:r>
          </a:p>
          <a:p>
            <a:pPr>
              <a:spcAft>
                <a:spcPts val="400"/>
              </a:spcAft>
            </a:pPr>
            <a:r>
              <a:rPr sz="1600" dirty="0">
                <a:solidFill>
                  <a:srgbClr val="F5F5F0"/>
                </a:solidFill>
                <a:latin typeface="Calibri"/>
              </a:rPr>
              <a:t>✗  Keputusan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beternak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berdasarkan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intuisi</a:t>
            </a:r>
            <a:r>
              <a:rPr sz="1600" dirty="0">
                <a:solidFill>
                  <a:srgbClr val="F5F5F0"/>
                </a:solidFill>
                <a:latin typeface="Calibri"/>
              </a:rPr>
              <a:t>/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perkiraan</a:t>
            </a:r>
            <a:endParaRPr sz="1600"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dirty="0">
                <a:solidFill>
                  <a:srgbClr val="F5F5F0"/>
                </a:solidFill>
                <a:latin typeface="Calibri"/>
              </a:rPr>
              <a:t>✗  Risiko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kematian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ternak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tinggi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di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musim</a:t>
            </a:r>
            <a:r>
              <a:rPr sz="160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F5F5F0"/>
                </a:solidFill>
                <a:latin typeface="Calibri"/>
              </a:rPr>
              <a:t>pancaroba</a:t>
            </a:r>
            <a:endParaRPr sz="1600" dirty="0">
              <a:solidFill>
                <a:srgbClr val="F5F5F0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943600" y="1371600"/>
            <a:ext cx="5989320" cy="52578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TextBox 9"/>
          <p:cNvSpPr txBox="1"/>
          <p:nvPr/>
        </p:nvSpPr>
        <p:spPr>
          <a:xfrm>
            <a:off x="6126480" y="1463040"/>
            <a:ext cx="55778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Calibri"/>
              </a:rPr>
              <a:t>✅  Dengan IoT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057400"/>
            <a:ext cx="562356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F5F5F0"/>
                </a:solidFill>
                <a:latin typeface="Calibri"/>
              </a:rPr>
              <a:t>✓  Kandang terpantau 24/7 di layar HP Anda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F5F5F0"/>
                </a:solidFill>
                <a:latin typeface="Calibri"/>
              </a:rPr>
              <a:t>✓  Suhu &amp; detak abnormal ternak kirim alert dini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F5F5F0"/>
                </a:solidFill>
                <a:latin typeface="Calibri"/>
              </a:rPr>
              <a:t>✓  GPS mendeteksi ternak keluar batas pagar virtual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F5F5F0"/>
                </a:solidFill>
                <a:latin typeface="Calibri"/>
              </a:rPr>
              <a:t>✓  Dispenser air &amp; pakan otomatis mengisi jika habis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F5F5F0"/>
                </a:solidFill>
                <a:latin typeface="Calibri"/>
              </a:rPr>
              <a:t>✓  Timbangan otomatis rekam berat harian ke server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F5F5F0"/>
                </a:solidFill>
                <a:latin typeface="Calibri"/>
              </a:rPr>
              <a:t>✓  Manajemen farm presisi berdasarkan grafik riwayat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F5F5F0"/>
                </a:solidFill>
                <a:latin typeface="Calibri"/>
              </a:rPr>
              <a:t>✓  Respons kilat mengurangi kerugian finansial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50408" y="3566160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3" name="TextBox 12"/>
          <p:cNvSpPr txBox="1"/>
          <p:nvPr/>
        </p:nvSpPr>
        <p:spPr>
          <a:xfrm>
            <a:off x="5550408" y="3611880"/>
            <a:ext cx="6583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1B562E"/>
                </a:solidFill>
                <a:latin typeface="Calibri"/>
              </a:rPr>
              <a:t>VS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05  |  6 Aplikasi IoT Paling Populer di Peternakan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417320"/>
            <a:ext cx="3749039" cy="233172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274320" y="1508760"/>
            <a:ext cx="37490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Segoe UI Emoji"/>
              </a:rPr>
              <a:t>🌡️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103120"/>
            <a:ext cx="37490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5A623"/>
                </a:solidFill>
                <a:latin typeface="Calibri"/>
              </a:rPr>
              <a:t>Smart Thermostat Kandang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560320"/>
            <a:ext cx="3529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dirty="0">
                <a:solidFill>
                  <a:srgbClr val="F5F5F0"/>
                </a:solidFill>
                <a:latin typeface="Calibri"/>
              </a:rPr>
              <a:t>Sensor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suhu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kandang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otomatis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menghidupkan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kipas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
blow-up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jika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suhu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melewati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30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derajat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Celsius.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9663" y="1417320"/>
            <a:ext cx="3749039" cy="2331720"/>
          </a:xfrm>
          <a:prstGeom prst="roundRect">
            <a:avLst>
              <a:gd name="adj" fmla="val 5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4169663" y="1508760"/>
            <a:ext cx="37490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Segoe UI Emoji"/>
              </a:rPr>
              <a:t>🏷️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9663" y="2103120"/>
            <a:ext cx="37490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5A623"/>
                </a:solidFill>
                <a:latin typeface="Calibri"/>
              </a:rPr>
              <a:t>Ear-Tag / Kalung Ternak Pintar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9391" y="2560320"/>
            <a:ext cx="3529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Tag di telinga/leher mendeteksi gerakan ruminasi,
detak jantung, &amp; mendeteksi masa berahi sapi.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6" y="1417320"/>
            <a:ext cx="3749039" cy="2331720"/>
          </a:xfrm>
          <a:prstGeom prst="roundRect">
            <a:avLst>
              <a:gd name="adj" fmla="val 5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8065006" y="1508760"/>
            <a:ext cx="37490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Segoe UI Emoji"/>
              </a:rPr>
              <a:t>🍽️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5006" y="2103120"/>
            <a:ext cx="37490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5A623"/>
                </a:solidFill>
                <a:latin typeface="Calibri"/>
              </a:rPr>
              <a:t>Automatic Feeder (Pakan Pintar)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4" y="2560320"/>
            <a:ext cx="3529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dirty="0">
                <a:solidFill>
                  <a:srgbClr val="F5F5F0"/>
                </a:solidFill>
                <a:latin typeface="Calibri"/>
              </a:rPr>
              <a:t>Alat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pakan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menimbang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sisa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pakan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di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wadah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
dan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menuangkan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pakan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baru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sesuai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jadwal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porsi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913632"/>
            <a:ext cx="3749039" cy="2331720"/>
          </a:xfrm>
          <a:prstGeom prst="roundRect">
            <a:avLst>
              <a:gd name="adj" fmla="val 5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274320" y="4005072"/>
            <a:ext cx="37490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Segoe UI Emoji"/>
              </a:rPr>
              <a:t>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4599432"/>
            <a:ext cx="37490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5A623"/>
                </a:solidFill>
                <a:latin typeface="Calibri"/>
              </a:rPr>
              <a:t>Pagar Virtual (Geofencing)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5056632"/>
            <a:ext cx="3529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dirty="0">
                <a:solidFill>
                  <a:srgbClr val="F5F5F0"/>
                </a:solidFill>
                <a:latin typeface="Calibri"/>
              </a:rPr>
              <a:t>GPS pada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sapi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mengirimkan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alarm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ke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HP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peternak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
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jika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sapi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menyeberang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keluar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batas area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kebun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9663" y="3913632"/>
            <a:ext cx="3749039" cy="233172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3" name="TextBox 22"/>
          <p:cNvSpPr txBox="1"/>
          <p:nvPr/>
        </p:nvSpPr>
        <p:spPr>
          <a:xfrm>
            <a:off x="4169663" y="4005072"/>
            <a:ext cx="37490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Segoe UI Emoji"/>
              </a:rPr>
              <a:t>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663" y="4599432"/>
            <a:ext cx="37490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5A623"/>
                </a:solidFill>
                <a:latin typeface="Calibri"/>
              </a:rPr>
              <a:t>Smart Milking (Perah Otomatis)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9391" y="5056632"/>
            <a:ext cx="3529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Mendeteksi volume, warna, &amp; kualitas susu sapi
secara otomatis saat sapi sedang diperah.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5006" y="3913632"/>
            <a:ext cx="3749039" cy="2331720"/>
          </a:xfrm>
          <a:prstGeom prst="roundRect">
            <a:avLst>
              <a:gd name="adj" fmla="val 5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7" name="TextBox 26"/>
          <p:cNvSpPr txBox="1"/>
          <p:nvPr/>
        </p:nvSpPr>
        <p:spPr>
          <a:xfrm>
            <a:off x="8065006" y="4005072"/>
            <a:ext cx="37490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Segoe UI Emoji"/>
              </a:rPr>
              <a:t>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5006" y="4599432"/>
            <a:ext cx="37490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dirty="0">
                <a:solidFill>
                  <a:srgbClr val="F5A623"/>
                </a:solidFill>
                <a:latin typeface="Calibri"/>
              </a:rPr>
              <a:t>Automatic Water Tank Monitor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4" y="5056632"/>
            <a:ext cx="3529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Memonitor sisa volume air minum di bak kandang
dan menyalakan pompa air secara otomatis.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  <a:latin typeface="Calibri"/>
              </a:rPr>
              <a:t>06 | Kasus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Nyata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Kaltim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: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Melacak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Sapi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 Bali (SISKA) via GPS Collar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11612880" cy="77724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12471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Segoe UI Emoji"/>
              </a:rPr>
              <a:t>🌴  Skenario: Integrasi Sapi di Kebun Kelapa Sawit (SISKA) Kutai Kartanegara / Paser Kaltim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331720"/>
            <a:ext cx="3749039" cy="406908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" name="TextBox 8"/>
          <p:cNvSpPr txBox="1"/>
          <p:nvPr/>
        </p:nvSpPr>
        <p:spPr>
          <a:xfrm>
            <a:off x="274320" y="2514600"/>
            <a:ext cx="374903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5A623"/>
                </a:solidFill>
                <a:latin typeface="Calibri"/>
              </a:rPr>
              <a:t>📍 Masalah Utama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063240"/>
            <a:ext cx="3017519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457200" y="3246120"/>
            <a:ext cx="338327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 err="1">
                <a:solidFill>
                  <a:srgbClr val="F5F5F0"/>
                </a:solidFill>
                <a:latin typeface="Calibri"/>
              </a:rPr>
              <a:t>Sapi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Bali </a:t>
            </a:r>
            <a:r>
              <a:rPr sz="1600" b="0" i="0" dirty="0" err="1">
                <a:solidFill>
                  <a:srgbClr val="F5F5F0"/>
                </a:solidFill>
                <a:latin typeface="Calibri"/>
              </a:rPr>
              <a:t>dilepasliarkan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di </a:t>
            </a:r>
            <a:r>
              <a:rPr sz="1600" b="0" i="0" dirty="0" err="1">
                <a:solidFill>
                  <a:srgbClr val="F5F5F0"/>
                </a:solidFill>
                <a:latin typeface="Calibri"/>
              </a:rPr>
              <a:t>kebun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F5F0"/>
                </a:solidFill>
                <a:latin typeface="Calibri"/>
              </a:rPr>
              <a:t>sawit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yang </a:t>
            </a:r>
            <a:r>
              <a:rPr sz="1600" b="0" i="0" dirty="0" err="1">
                <a:solidFill>
                  <a:srgbClr val="F5F5F0"/>
                </a:solidFill>
                <a:latin typeface="Calibri"/>
              </a:rPr>
              <a:t>luasnya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F5F0"/>
                </a:solidFill>
                <a:latin typeface="Calibri"/>
              </a:rPr>
              <a:t>ratusan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F5F0"/>
                </a:solidFill>
                <a:latin typeface="Calibri"/>
              </a:rPr>
              <a:t>hektar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. </a:t>
            </a:r>
            <a:r>
              <a:rPr sz="1600" b="0" i="0" dirty="0" err="1">
                <a:solidFill>
                  <a:srgbClr val="F5F5F0"/>
                </a:solidFill>
                <a:latin typeface="Calibri"/>
              </a:rPr>
              <a:t>Peternak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F5F0"/>
                </a:solidFill>
                <a:latin typeface="Calibri"/>
              </a:rPr>
              <a:t>kesulitan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F5F0"/>
                </a:solidFill>
                <a:latin typeface="Calibri"/>
              </a:rPr>
              <a:t>mencari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F5F0"/>
                </a:solidFill>
                <a:latin typeface="Calibri"/>
              </a:rPr>
              <a:t>posisi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F5F0"/>
                </a:solidFill>
                <a:latin typeface="Calibri"/>
              </a:rPr>
              <a:t>sapi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F5F0"/>
                </a:solidFill>
                <a:latin typeface="Calibri"/>
              </a:rPr>
              <a:t>saat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sore </a:t>
            </a:r>
            <a:r>
              <a:rPr sz="1600" b="0" i="0" dirty="0" err="1">
                <a:solidFill>
                  <a:srgbClr val="F5F5F0"/>
                </a:solidFill>
                <a:latin typeface="Calibri"/>
              </a:rPr>
              <a:t>hari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, </a:t>
            </a:r>
            <a:r>
              <a:rPr sz="1600" b="0" i="0" dirty="0" err="1">
                <a:solidFill>
                  <a:srgbClr val="F5F5F0"/>
                </a:solidFill>
                <a:latin typeface="Calibri"/>
              </a:rPr>
              <a:t>sering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F5F0"/>
                </a:solidFill>
                <a:latin typeface="Calibri"/>
              </a:rPr>
              <a:t>terjadi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F5F0"/>
                </a:solidFill>
                <a:latin typeface="Calibri"/>
              </a:rPr>
              <a:t>pencurian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F5F0"/>
                </a:solidFill>
                <a:latin typeface="Calibri"/>
              </a:rPr>
              <a:t>ternak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, dan </a:t>
            </a:r>
            <a:r>
              <a:rPr sz="1600" b="0" i="0" dirty="0" err="1">
                <a:solidFill>
                  <a:srgbClr val="F5F5F0"/>
                </a:solidFill>
                <a:latin typeface="Calibri"/>
              </a:rPr>
              <a:t>sapi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F5F0"/>
                </a:solidFill>
                <a:latin typeface="Calibri"/>
              </a:rPr>
              <a:t>masuk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F5F0"/>
                </a:solidFill>
                <a:latin typeface="Calibri"/>
              </a:rPr>
              <a:t>ke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F5F0"/>
                </a:solidFill>
                <a:latin typeface="Calibri"/>
              </a:rPr>
              <a:t>kebun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orang lain.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59935" y="4114800"/>
            <a:ext cx="1097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39" y="2331720"/>
            <a:ext cx="3749039" cy="406908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4206239" y="2514600"/>
            <a:ext cx="374903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5A623"/>
                </a:solidFill>
                <a:latin typeface="Calibri"/>
              </a:rPr>
              <a:t>📡 Solusi IoT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1999" y="3063240"/>
            <a:ext cx="3017519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" name="TextBox 15"/>
          <p:cNvSpPr txBox="1"/>
          <p:nvPr/>
        </p:nvSpPr>
        <p:spPr>
          <a:xfrm>
            <a:off x="4389119" y="3246120"/>
            <a:ext cx="338327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Sapi dipasangi kalung GPS tahan air (solar powered). Peternak membuat 'pagar virtual' (Geofencing) lewat aplikasi HP. Jika sapi ditarik pencuri keluar kebun sawit, HP peternak akan berbunyi keras.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4" y="4114800"/>
            <a:ext cx="1097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8" y="2331720"/>
            <a:ext cx="3749039" cy="406908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8138158" y="2514600"/>
            <a:ext cx="374903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5A623"/>
                </a:solidFill>
                <a:latin typeface="Calibri"/>
              </a:rPr>
              <a:t>📊 Hasil Nyata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03918" y="3063240"/>
            <a:ext cx="3017519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1" name="TextBox 20"/>
          <p:cNvSpPr txBox="1"/>
          <p:nvPr/>
        </p:nvSpPr>
        <p:spPr>
          <a:xfrm>
            <a:off x="8321038" y="3246120"/>
            <a:ext cx="338327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Waktu pencarian sapi berkurang dari 3 jam menjadi 10 menit saja lewat panduan peta GPS di HP. Angka kehilangan ternak turun menjadi 0% dan produktivitas sapi terpantau stabil.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" y="6492240"/>
            <a:ext cx="11612880" cy="301752"/>
          </a:xfrm>
          <a:prstGeom prst="roundRect">
            <a:avLst>
              <a:gd name="adj" fmla="val 4000"/>
            </a:avLst>
          </a:prstGeom>
          <a:solidFill>
            <a:srgbClr val="D4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3" name="TextBox 22"/>
          <p:cNvSpPr txBox="1"/>
          <p:nvPr/>
        </p:nvSpPr>
        <p:spPr>
          <a:xfrm>
            <a:off x="457200" y="6519672"/>
            <a:ext cx="11247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💡 Peternak Cukup Memantau Lewat HP Sambil Mengerjakan Hal Lain — Sangat Hemat Waktu &amp; Tenaga!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06  |  Dampak Penerapan IoT di Peternakan — Data Global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417320"/>
            <a:ext cx="3749039" cy="22860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274320" y="1508760"/>
            <a:ext cx="374903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5A623"/>
                </a:solidFill>
                <a:latin typeface="Calibri"/>
              </a:rPr>
              <a:t>📉 40%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331720"/>
            <a:ext cx="35661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Penurunan Kematian Ternak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953512"/>
            <a:ext cx="347471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Kematian pedet/anak sapi berkurang berkat sensor suhu kandang &amp; alarm dini.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9663" y="1417320"/>
            <a:ext cx="3749039" cy="22860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4169663" y="1508760"/>
            <a:ext cx="374903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5A623"/>
                </a:solidFill>
                <a:latin typeface="Calibri"/>
              </a:rPr>
              <a:t>📈 25%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1103" y="2331720"/>
            <a:ext cx="35661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Kenaikan Produksi Susu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06823" y="2953512"/>
            <a:ext cx="347471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Hasil perahan sapi perah meningkat berkat monitoring pakan presisi otomatis.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6" y="1417320"/>
            <a:ext cx="3749039" cy="228600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8065006" y="1508760"/>
            <a:ext cx="374903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5A623"/>
                </a:solidFill>
                <a:latin typeface="Calibri"/>
              </a:rPr>
              <a:t>💰 30%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6446" y="2331720"/>
            <a:ext cx="35661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Efisiensi Pakan (FCR)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6" y="2953512"/>
            <a:ext cx="347471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Mengurangi pakan tercecer &amp; terbuang sia-sia dengan tempat pakan pintar.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867912"/>
            <a:ext cx="3749039" cy="228600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274320" y="3959352"/>
            <a:ext cx="374903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5A623"/>
                </a:solidFill>
                <a:latin typeface="Calibri"/>
              </a:rPr>
              <a:t>⏱️ 60%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782312"/>
            <a:ext cx="35661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Menghemat Waktu Kerja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5404104"/>
            <a:ext cx="347471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Peternak tidak perlu keliling kandang berjam-jam untuk pengecekan rutin harian.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9663" y="3867912"/>
            <a:ext cx="3749039" cy="22860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3" name="TextBox 22"/>
          <p:cNvSpPr txBox="1"/>
          <p:nvPr/>
        </p:nvSpPr>
        <p:spPr>
          <a:xfrm>
            <a:off x="4169663" y="3959352"/>
            <a:ext cx="374903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5A623"/>
                </a:solidFill>
                <a:latin typeface="Calibri"/>
              </a:rPr>
              <a:t>🌍 50%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61103" y="4782312"/>
            <a:ext cx="35661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Investasi Smart Farm Naik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06823" y="5404104"/>
            <a:ext cx="347471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Semua perusahaan peternakan besar di dunia mulai bermigrasi penuh ke IoT.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5006" y="3867912"/>
            <a:ext cx="3749039" cy="22860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7" name="TextBox 26"/>
          <p:cNvSpPr txBox="1"/>
          <p:nvPr/>
        </p:nvSpPr>
        <p:spPr>
          <a:xfrm>
            <a:off x="8065006" y="3959352"/>
            <a:ext cx="374903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5A623"/>
                </a:solidFill>
                <a:latin typeface="Calibri"/>
              </a:rPr>
              <a:t>🇮🇩 5×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56446" y="4782312"/>
            <a:ext cx="35661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Peluang Kaltim / IKN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2166" y="5404104"/>
            <a:ext cx="347471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Sebagai penyangga pangan IKN, Kaltim dituntut memproduksi ternak dengan cepat.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07 | Apa Saja Tantangan IoT &amp; Bagaimana Solusinya?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417320"/>
            <a:ext cx="3749039" cy="233172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274320" y="1463040"/>
            <a:ext cx="37490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 Emoji"/>
              </a:rPr>
              <a:t>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20240"/>
            <a:ext cx="35661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5A623"/>
                </a:solidFill>
                <a:latin typeface="Calibri"/>
              </a:rPr>
              <a:t>Koneksi Internet Minim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313432"/>
            <a:ext cx="35295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F5F0"/>
                </a:solidFill>
                <a:latin typeface="Calibri"/>
              </a:rPr>
              <a:t>Banyak kebun sawit/lahan gembala
di Kaltim belum memiliki sinyal 4G.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926080"/>
            <a:ext cx="338327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384048" y="2990088"/>
            <a:ext cx="35295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A623"/>
                </a:solidFill>
                <a:latin typeface="Calibri"/>
              </a:rPr>
              <a:t>Solusi: Pakai sinyal LoRa (alat khusus
yang memancar sinyal sendiri s/d 10 km).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9663" y="1417320"/>
            <a:ext cx="3749039" cy="233172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4169663" y="1463040"/>
            <a:ext cx="37490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 Emoji"/>
              </a:rPr>
              <a:t>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1103" y="1920240"/>
            <a:ext cx="35661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5A623"/>
                </a:solidFill>
                <a:latin typeface="Calibri"/>
              </a:rPr>
              <a:t>Biaya Investasi Awal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1" y="2313432"/>
            <a:ext cx="35295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F5F0"/>
                </a:solidFill>
                <a:latin typeface="Calibri"/>
              </a:rPr>
              <a:t>Harga sensor pintar impor dinilai
terlalu mahal untuk peternak kecil.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52543" y="2926080"/>
            <a:ext cx="338327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7" name="TextBox 16"/>
          <p:cNvSpPr txBox="1"/>
          <p:nvPr/>
        </p:nvSpPr>
        <p:spPr>
          <a:xfrm>
            <a:off x="4279391" y="2990088"/>
            <a:ext cx="35295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A623"/>
                </a:solidFill>
                <a:latin typeface="Calibri"/>
              </a:rPr>
              <a:t>Solusi: Beli secara kelompok/koperasi,
mulai dari 1 sensor utama di kandang.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5006" y="1417320"/>
            <a:ext cx="3749039" cy="233172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8065006" y="1463040"/>
            <a:ext cx="37490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 Emoji"/>
              </a:rPr>
              <a:t>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6" y="1920240"/>
            <a:ext cx="35661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5A623"/>
                </a:solidFill>
                <a:latin typeface="Calibri"/>
              </a:rPr>
              <a:t>Gagap Teknologi (Gaptek)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4" y="2313432"/>
            <a:ext cx="35295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F5F0"/>
                </a:solidFill>
                <a:latin typeface="Calibri"/>
              </a:rPr>
              <a:t>Peternak senior kesulitan memakai
aplikasi di HP pintar.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47886" y="2926080"/>
            <a:ext cx="338327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3" name="TextBox 22"/>
          <p:cNvSpPr txBox="1"/>
          <p:nvPr/>
        </p:nvSpPr>
        <p:spPr>
          <a:xfrm>
            <a:off x="8174734" y="2990088"/>
            <a:ext cx="35295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A623"/>
                </a:solidFill>
                <a:latin typeface="Calibri"/>
              </a:rPr>
              <a:t>Solusi: Mahasiswa UNMUL mendampingi
&amp; aplikasi dibuat sangat sederhana.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913632"/>
            <a:ext cx="3749039" cy="233172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5" name="TextBox 24"/>
          <p:cNvSpPr txBox="1"/>
          <p:nvPr/>
        </p:nvSpPr>
        <p:spPr>
          <a:xfrm>
            <a:off x="274320" y="3959352"/>
            <a:ext cx="37490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 Emoji"/>
              </a:rPr>
              <a:t>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416552"/>
            <a:ext cx="35661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5A623"/>
                </a:solidFill>
                <a:latin typeface="Calibri"/>
              </a:rPr>
              <a:t>Ketiadaan Listrik PLN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4809744"/>
            <a:ext cx="35295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F5F0"/>
                </a:solidFill>
                <a:latin typeface="Calibri"/>
              </a:rPr>
              <a:t>Kandang di tengah kebun sawit tidak
punya colokan listrik.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22392"/>
            <a:ext cx="338327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9" name="TextBox 28"/>
          <p:cNvSpPr txBox="1"/>
          <p:nvPr/>
        </p:nvSpPr>
        <p:spPr>
          <a:xfrm>
            <a:off x="384048" y="5486400"/>
            <a:ext cx="35295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A623"/>
                </a:solidFill>
                <a:latin typeface="Calibri"/>
              </a:rPr>
              <a:t>Solusi: Perangkat memakai baterai awet
atau solar panel mini bertenaga matahari.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69663" y="3913632"/>
            <a:ext cx="3749039" cy="233172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1" name="TextBox 30"/>
          <p:cNvSpPr txBox="1"/>
          <p:nvPr/>
        </p:nvSpPr>
        <p:spPr>
          <a:xfrm>
            <a:off x="4169663" y="3959352"/>
            <a:ext cx="37490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 Emoji"/>
              </a:rPr>
              <a:t>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61103" y="4416552"/>
            <a:ext cx="35661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5A623"/>
                </a:solidFill>
                <a:latin typeface="Calibri"/>
              </a:rPr>
              <a:t>Kondisi Kandang Kotor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79391" y="4809744"/>
            <a:ext cx="35295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F5F0"/>
                </a:solidFill>
                <a:latin typeface="Calibri"/>
              </a:rPr>
              <a:t>Udara kandang lembab, penuh debu,
dan berisiko terinjak kaki sapi.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52543" y="5422392"/>
            <a:ext cx="338327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5" name="TextBox 34"/>
          <p:cNvSpPr txBox="1"/>
          <p:nvPr/>
        </p:nvSpPr>
        <p:spPr>
          <a:xfrm>
            <a:off x="4279391" y="5486400"/>
            <a:ext cx="35295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A623"/>
                </a:solidFill>
                <a:latin typeface="Calibri"/>
              </a:rPr>
              <a:t>Solusi: Pasang sensor di tempat tinggi
dan pilih casing standar IP67 waterproof.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65006" y="3913632"/>
            <a:ext cx="3749039" cy="233172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7" name="TextBox 36"/>
          <p:cNvSpPr txBox="1"/>
          <p:nvPr/>
        </p:nvSpPr>
        <p:spPr>
          <a:xfrm>
            <a:off x="8065006" y="3959352"/>
            <a:ext cx="37490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 Emoji"/>
              </a:rPr>
              <a:t>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56446" y="4416552"/>
            <a:ext cx="35661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5A623"/>
                </a:solidFill>
                <a:latin typeface="Calibri"/>
              </a:rPr>
              <a:t>Pencurian Alat IoT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74734" y="4809744"/>
            <a:ext cx="35295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F5F0"/>
                </a:solidFill>
                <a:latin typeface="Calibri"/>
              </a:rPr>
              <a:t>Sensor yang terpasang di sapi
berisiko dilepas/dicuri orang.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47886" y="5422392"/>
            <a:ext cx="338327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1" name="TextBox 40"/>
          <p:cNvSpPr txBox="1"/>
          <p:nvPr/>
        </p:nvSpPr>
        <p:spPr>
          <a:xfrm>
            <a:off x="8174734" y="5486400"/>
            <a:ext cx="35295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A623"/>
                </a:solidFill>
                <a:latin typeface="Calibri"/>
              </a:rPr>
              <a:t>Solusi: Pasang sensor tersembunyi
yang mengirim alarm jika dilepas paksa.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07  |  Glosarium — Kamus Singkat Istilah IoT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Rounded Rectangle 6"/>
          <p:cNvSpPr/>
          <p:nvPr/>
        </p:nvSpPr>
        <p:spPr>
          <a:xfrm>
            <a:off x="347472" y="1536192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TextBox 7"/>
          <p:cNvSpPr txBox="1"/>
          <p:nvPr/>
        </p:nvSpPr>
        <p:spPr>
          <a:xfrm>
            <a:off x="347472" y="1554480"/>
            <a:ext cx="1417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Sensor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47088" y="1463040"/>
            <a:ext cx="3931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Alat fisik untuk mengukur kondisi lapangan (seperti termometer suhu kandang).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9048" y="1371600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Rounded Rectangle 10"/>
          <p:cNvSpPr/>
          <p:nvPr/>
        </p:nvSpPr>
        <p:spPr>
          <a:xfrm>
            <a:off x="6172200" y="1536192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" name="TextBox 11"/>
          <p:cNvSpPr txBox="1"/>
          <p:nvPr/>
        </p:nvSpPr>
        <p:spPr>
          <a:xfrm>
            <a:off x="6172200" y="1554480"/>
            <a:ext cx="1417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Aktuator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71816" y="1463040"/>
            <a:ext cx="3931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Alat untuk melakukan tindakan fisik (seperti pompa air otomatis menyala).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2267712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Rounded Rectangle 14"/>
          <p:cNvSpPr/>
          <p:nvPr/>
        </p:nvSpPr>
        <p:spPr>
          <a:xfrm>
            <a:off x="347472" y="2432304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" name="TextBox 15"/>
          <p:cNvSpPr txBox="1"/>
          <p:nvPr/>
        </p:nvSpPr>
        <p:spPr>
          <a:xfrm>
            <a:off x="347472" y="2450592"/>
            <a:ext cx="1417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Gateway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2359152"/>
            <a:ext cx="3931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Jembatan/alat penghubung yang mengirim data dari kandang ke internet.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9048" y="2267712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Rounded Rectangle 18"/>
          <p:cNvSpPr/>
          <p:nvPr/>
        </p:nvSpPr>
        <p:spPr>
          <a:xfrm>
            <a:off x="6172200" y="2432304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0" name="TextBox 19"/>
          <p:cNvSpPr txBox="1"/>
          <p:nvPr/>
        </p:nvSpPr>
        <p:spPr>
          <a:xfrm>
            <a:off x="6172200" y="2450592"/>
            <a:ext cx="1417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Cloud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71816" y="2359152"/>
            <a:ext cx="3931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Gudang penyimpanan data raksasa di internet, bisa diakses dari mana saja.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" y="3163824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3" name="Rounded Rectangle 22"/>
          <p:cNvSpPr/>
          <p:nvPr/>
        </p:nvSpPr>
        <p:spPr>
          <a:xfrm>
            <a:off x="347472" y="3328416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4" name="TextBox 23"/>
          <p:cNvSpPr txBox="1"/>
          <p:nvPr/>
        </p:nvSpPr>
        <p:spPr>
          <a:xfrm>
            <a:off x="347472" y="3346704"/>
            <a:ext cx="1417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Dashboard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47088" y="3255264"/>
            <a:ext cx="3931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Layar utama aplikasi HP Anda yang menyajikan semua data angka &amp; grafik.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9048" y="3163824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7" name="Rounded Rectangle 26"/>
          <p:cNvSpPr/>
          <p:nvPr/>
        </p:nvSpPr>
        <p:spPr>
          <a:xfrm>
            <a:off x="6172200" y="3328416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8" name="TextBox 27"/>
          <p:cNvSpPr txBox="1"/>
          <p:nvPr/>
        </p:nvSpPr>
        <p:spPr>
          <a:xfrm>
            <a:off x="6172200" y="3346704"/>
            <a:ext cx="1417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Real-time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71816" y="3255264"/>
            <a:ext cx="3931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Pengiriman data detik ini juga (langsung tanpa ditunda-tunda).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" y="4059936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1" name="Rounded Rectangle 30"/>
          <p:cNvSpPr/>
          <p:nvPr/>
        </p:nvSpPr>
        <p:spPr>
          <a:xfrm>
            <a:off x="347472" y="4224528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2" name="TextBox 31"/>
          <p:cNvSpPr txBox="1"/>
          <p:nvPr/>
        </p:nvSpPr>
        <p:spPr>
          <a:xfrm>
            <a:off x="347472" y="4242816"/>
            <a:ext cx="1417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Alert / Notif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47088" y="4151376"/>
            <a:ext cx="3931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Peringatan darurat yang masuk ke HP Anda (seperti alarm maling/sapi sakit).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99048" y="4059936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5" name="Rounded Rectangle 34"/>
          <p:cNvSpPr/>
          <p:nvPr/>
        </p:nvSpPr>
        <p:spPr>
          <a:xfrm>
            <a:off x="6172200" y="4224528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6" name="TextBox 35"/>
          <p:cNvSpPr txBox="1"/>
          <p:nvPr/>
        </p:nvSpPr>
        <p:spPr>
          <a:xfrm>
            <a:off x="6172200" y="4242816"/>
            <a:ext cx="1417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LoRa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71816" y="4151376"/>
            <a:ext cx="39319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Teknologi pemancar sinyal jarak jauh tanpa internet, sangat cocok untuk kebun sawit Kaltim.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" y="4956048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9" name="Rounded Rectangle 38"/>
          <p:cNvSpPr/>
          <p:nvPr/>
        </p:nvSpPr>
        <p:spPr>
          <a:xfrm>
            <a:off x="347472" y="5120640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0" name="TextBox 39"/>
          <p:cNvSpPr txBox="1"/>
          <p:nvPr/>
        </p:nvSpPr>
        <p:spPr>
          <a:xfrm>
            <a:off x="347472" y="5138928"/>
            <a:ext cx="1417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IP67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47088" y="5047488"/>
            <a:ext cx="3931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Sertifikasi ketahanan alat (artinya alat ini 100% tahan air hujan &amp; debu kandang).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9048" y="4956048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3" name="Rounded Rectangle 42"/>
          <p:cNvSpPr/>
          <p:nvPr/>
        </p:nvSpPr>
        <p:spPr>
          <a:xfrm>
            <a:off x="6172200" y="5120640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4" name="TextBox 43"/>
          <p:cNvSpPr txBox="1"/>
          <p:nvPr/>
        </p:nvSpPr>
        <p:spPr>
          <a:xfrm>
            <a:off x="6172200" y="5138928"/>
            <a:ext cx="1417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Plug &amp; Play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71816" y="5047488"/>
            <a:ext cx="3931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Alat yang tinggal colok dan langsung menyala tanpa perlu diprogram coding lagi.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  <a:latin typeface="Calibri"/>
              </a:rPr>
              <a:t>🎯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Kuis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Interaktif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: Mana yang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Menggunakan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Teknologi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 IoT?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25880"/>
            <a:ext cx="1143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6FBF73"/>
                </a:solidFill>
                <a:latin typeface="Calibri"/>
              </a:rPr>
              <a:t>Diskusikan bersama dosen &amp; teman kelas Anda, mana yang masuk kategori IoT: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920240"/>
            <a:ext cx="3749039" cy="438912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8" name="Rounded Rectangle 7"/>
          <p:cNvSpPr/>
          <p:nvPr/>
        </p:nvSpPr>
        <p:spPr>
          <a:xfrm>
            <a:off x="457200" y="2057400"/>
            <a:ext cx="3383279" cy="594360"/>
          </a:xfrm>
          <a:prstGeom prst="roundRect">
            <a:avLst>
              <a:gd name="adj" fmla="val 5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33832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B562E"/>
                </a:solidFill>
                <a:latin typeface="Calibri"/>
              </a:rPr>
              <a:t>KASUS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88920"/>
            <a:ext cx="338327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Lampu Kandang Otomatis Sensor Cahaya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66160"/>
            <a:ext cx="301751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2" name="TextBox 11"/>
          <p:cNvSpPr txBox="1"/>
          <p:nvPr/>
        </p:nvSpPr>
        <p:spPr>
          <a:xfrm>
            <a:off x="457200" y="3703320"/>
            <a:ext cx="338327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F5F5F0"/>
                </a:solidFill>
                <a:latin typeface="Calibri"/>
              </a:rPr>
              <a:t>Lampu menyala jika langit gelap menggunakan sensor fotoelektrik mekanik biasa di lampu.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983480"/>
            <a:ext cx="3383279" cy="1188720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TextBox 13"/>
          <p:cNvSpPr txBox="1"/>
          <p:nvPr/>
        </p:nvSpPr>
        <p:spPr>
          <a:xfrm>
            <a:off x="457200" y="5029200"/>
            <a:ext cx="33832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 err="1">
                <a:solidFill>
                  <a:srgbClr val="6FBF73"/>
                </a:solidFill>
                <a:latin typeface="Calibri"/>
              </a:rPr>
              <a:t>Jawaban</a:t>
            </a:r>
            <a:r>
              <a:rPr sz="2000" b="1" i="0" dirty="0">
                <a:solidFill>
                  <a:srgbClr val="6FBF73"/>
                </a:solidFill>
                <a:latin typeface="Calibri"/>
              </a:rPr>
              <a:t>: </a:t>
            </a:r>
            <a:r>
              <a:rPr sz="2000" b="1" i="0" dirty="0" err="1">
                <a:solidFill>
                  <a:srgbClr val="6FBF73"/>
                </a:solidFill>
                <a:latin typeface="Calibri"/>
              </a:rPr>
              <a:t>Bukan</a:t>
            </a:r>
            <a:r>
              <a:rPr sz="2000" b="1" i="0" dirty="0">
                <a:solidFill>
                  <a:srgbClr val="6FBF73"/>
                </a:solidFill>
                <a:latin typeface="Calibri"/>
              </a:rPr>
              <a:t> IoT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413248"/>
            <a:ext cx="32918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 err="1">
                <a:solidFill>
                  <a:srgbClr val="F5F5F0"/>
                </a:solidFill>
                <a:latin typeface="Calibri"/>
              </a:rPr>
              <a:t>Sebab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data sensor </a:t>
            </a:r>
            <a:r>
              <a:rPr sz="1600" b="0" i="0" dirty="0" err="1">
                <a:solidFill>
                  <a:srgbClr val="F5F5F0"/>
                </a:solidFill>
                <a:latin typeface="Calibri"/>
              </a:rPr>
              <a:t>cahaya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F5F0"/>
                </a:solidFill>
                <a:latin typeface="Calibri"/>
              </a:rPr>
              <a:t>tidak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F5F0"/>
                </a:solidFill>
                <a:latin typeface="Calibri"/>
              </a:rPr>
              <a:t>dikirim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F5F0"/>
                </a:solidFill>
                <a:latin typeface="Calibri"/>
              </a:rPr>
              <a:t>ke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internet / HP Anda.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39" y="1920240"/>
            <a:ext cx="3749039" cy="438912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7" name="Rounded Rectangle 16"/>
          <p:cNvSpPr/>
          <p:nvPr/>
        </p:nvSpPr>
        <p:spPr>
          <a:xfrm>
            <a:off x="4389119" y="2057400"/>
            <a:ext cx="3383279" cy="594360"/>
          </a:xfrm>
          <a:prstGeom prst="roundRect">
            <a:avLst>
              <a:gd name="adj" fmla="val 5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8" name="TextBox 17"/>
          <p:cNvSpPr txBox="1"/>
          <p:nvPr/>
        </p:nvSpPr>
        <p:spPr>
          <a:xfrm>
            <a:off x="4389119" y="2103120"/>
            <a:ext cx="33832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B562E"/>
                </a:solidFill>
                <a:latin typeface="Calibri"/>
              </a:rPr>
              <a:t>KASUS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19" y="2788920"/>
            <a:ext cx="338327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Kamera Kandang Kirim Foto ke HP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1999" y="3566160"/>
            <a:ext cx="301751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1" name="TextBox 20"/>
          <p:cNvSpPr txBox="1"/>
          <p:nvPr/>
        </p:nvSpPr>
        <p:spPr>
          <a:xfrm>
            <a:off x="4389119" y="3703320"/>
            <a:ext cx="3383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F5F5F0"/>
                </a:solidFill>
                <a:latin typeface="Calibri"/>
              </a:rPr>
              <a:t>Kamera mendeteksi sapi melahirkan → mengirim foto alert secara otomatis ke WhatsApp Anda.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19" y="4983480"/>
            <a:ext cx="3383279" cy="1188720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TextBox 22"/>
          <p:cNvSpPr txBox="1"/>
          <p:nvPr/>
        </p:nvSpPr>
        <p:spPr>
          <a:xfrm>
            <a:off x="4389119" y="5029200"/>
            <a:ext cx="33832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Jawaban: IoT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39" y="5413248"/>
            <a:ext cx="329183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Sebab ada proses sensor (kamera), koneksi internet, &amp; pengiriman data ke HP.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58" y="1920240"/>
            <a:ext cx="3749039" cy="438912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6" name="Rounded Rectangle 25"/>
          <p:cNvSpPr/>
          <p:nvPr/>
        </p:nvSpPr>
        <p:spPr>
          <a:xfrm>
            <a:off x="8321038" y="2057400"/>
            <a:ext cx="3383279" cy="594360"/>
          </a:xfrm>
          <a:prstGeom prst="roundRect">
            <a:avLst>
              <a:gd name="adj" fmla="val 5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7" name="TextBox 26"/>
          <p:cNvSpPr txBox="1"/>
          <p:nvPr/>
        </p:nvSpPr>
        <p:spPr>
          <a:xfrm>
            <a:off x="8321038" y="2103120"/>
            <a:ext cx="33832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B562E"/>
                </a:solidFill>
                <a:latin typeface="Calibri"/>
              </a:rPr>
              <a:t>KASUS 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38" y="2788920"/>
            <a:ext cx="338327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Bak Air dengan Kran Pelampung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03918" y="3566160"/>
            <a:ext cx="301751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0" name="TextBox 29"/>
          <p:cNvSpPr txBox="1"/>
          <p:nvPr/>
        </p:nvSpPr>
        <p:spPr>
          <a:xfrm>
            <a:off x="8321038" y="3703320"/>
            <a:ext cx="3383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F5F5F0"/>
                </a:solidFill>
                <a:latin typeface="Calibri"/>
              </a:rPr>
              <a:t>Bak minum sapi terisi sendiri menggunakan pelampung bola plastik (jika air turun, kran terbuka).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21038" y="4983480"/>
            <a:ext cx="3383279" cy="1188720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2" name="TextBox 31"/>
          <p:cNvSpPr txBox="1"/>
          <p:nvPr/>
        </p:nvSpPr>
        <p:spPr>
          <a:xfrm>
            <a:off x="8321038" y="5029200"/>
            <a:ext cx="33832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6FBF73"/>
                </a:solidFill>
                <a:latin typeface="Calibri"/>
              </a:rPr>
              <a:t>Jawaban: Bukan IoT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58" y="5413248"/>
            <a:ext cx="32918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Sifatnya mekanik biasa. Anda tidak bisa mengecek sisa air dari layar HP.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6473952"/>
            <a:ext cx="11612880" cy="320040"/>
          </a:xfrm>
          <a:prstGeom prst="roundRect">
            <a:avLst>
              <a:gd name="adj" fmla="val 4000"/>
            </a:avLst>
          </a:prstGeom>
          <a:solidFill>
            <a:srgbClr val="D4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5" name="TextBox 34"/>
          <p:cNvSpPr txBox="1"/>
          <p:nvPr/>
        </p:nvSpPr>
        <p:spPr>
          <a:xfrm>
            <a:off x="457200" y="6501384"/>
            <a:ext cx="11247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💬 Tips Dosen: IoT wajib memiliki unsur SENSOR + KONEKSI INTERNET + DATA DI LAYAR HP/KOMPUTER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23" grpId="0"/>
      <p:bldP spid="24" grpId="0"/>
      <p:bldP spid="32" grpId="0"/>
      <p:bldP spid="3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08  |  Peluang Karir Lulusan Peternakan di Era IoT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5486400" cy="52578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120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Segoe UI Emoji"/>
              </a:rPr>
              <a:t>🎯  Profesi Baru Sarjana Peternakan Modern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5120640" cy="43550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dirty="0" err="1">
                <a:solidFill>
                  <a:srgbClr val="F5F5F0"/>
                </a:solidFill>
                <a:latin typeface="Segoe UI Emoji"/>
              </a:rPr>
              <a:t>Konsultan</a:t>
            </a:r>
            <a:r>
              <a:rPr dirty="0">
                <a:solidFill>
                  <a:srgbClr val="F5F5F0"/>
                </a:solidFill>
                <a:latin typeface="Segoe UI Emoji"/>
              </a:rPr>
              <a:t> Smart Farming (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membantu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peternak</a:t>
            </a:r>
            <a:r>
              <a:rPr dirty="0">
                <a:solidFill>
                  <a:srgbClr val="F5F5F0"/>
                </a:solidFill>
                <a:latin typeface="Segoe UI Emoji"/>
              </a:rPr>
              <a:t> pasang IoT)</a:t>
            </a:r>
            <a:endParaRPr lang="en-US" dirty="0">
              <a:solidFill>
                <a:srgbClr val="F5F5F0"/>
              </a:solidFill>
              <a:latin typeface="Segoe UI Emoji"/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dirty="0">
                <a:solidFill>
                  <a:srgbClr val="F5F5F0"/>
                </a:solidFill>
                <a:latin typeface="Segoe UI Emoji"/>
              </a:rPr>
              <a:t>Analis Data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Ternak</a:t>
            </a:r>
            <a:r>
              <a:rPr dirty="0">
                <a:solidFill>
                  <a:srgbClr val="F5F5F0"/>
                </a:solidFill>
                <a:latin typeface="Segoe UI Emoji"/>
              </a:rPr>
              <a:t> (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membaca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produktivitas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dari</a:t>
            </a:r>
            <a:r>
              <a:rPr dirty="0">
                <a:solidFill>
                  <a:srgbClr val="F5F5F0"/>
                </a:solidFill>
                <a:latin typeface="Segoe UI Emoji"/>
              </a:rPr>
              <a:t> sensor)</a:t>
            </a:r>
            <a:endParaRPr lang="en-US" dirty="0">
              <a:solidFill>
                <a:srgbClr val="F5F5F0"/>
              </a:solidFill>
              <a:latin typeface="Segoe UI Emoji"/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dirty="0" err="1">
                <a:solidFill>
                  <a:srgbClr val="F5F5F0"/>
                </a:solidFill>
                <a:latin typeface="Segoe UI Emoji"/>
              </a:rPr>
              <a:t>Manajer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Kandang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Presisi</a:t>
            </a:r>
            <a:r>
              <a:rPr dirty="0">
                <a:solidFill>
                  <a:srgbClr val="F5F5F0"/>
                </a:solidFill>
                <a:latin typeface="Segoe UI Emoji"/>
              </a:rPr>
              <a:t> (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mengelola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kandang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berbasis</a:t>
            </a:r>
            <a:r>
              <a:rPr dirty="0">
                <a:solidFill>
                  <a:srgbClr val="F5F5F0"/>
                </a:solidFill>
                <a:latin typeface="Segoe UI Emoji"/>
              </a:rPr>
              <a:t> data)</a:t>
            </a:r>
            <a:endParaRPr lang="en-US" dirty="0">
              <a:solidFill>
                <a:srgbClr val="F5F5F0"/>
              </a:solidFill>
              <a:latin typeface="Segoe UI Emoji"/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dirty="0" err="1">
                <a:solidFill>
                  <a:srgbClr val="F5F5F0"/>
                </a:solidFill>
                <a:latin typeface="Segoe UI Emoji"/>
              </a:rPr>
              <a:t>Spesialis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Nutrisi</a:t>
            </a:r>
            <a:r>
              <a:rPr dirty="0">
                <a:solidFill>
                  <a:srgbClr val="F5F5F0"/>
                </a:solidFill>
                <a:latin typeface="Segoe UI Emoji"/>
              </a:rPr>
              <a:t> Digital (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pemberian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pakan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otomatis</a:t>
            </a:r>
            <a:r>
              <a:rPr dirty="0">
                <a:solidFill>
                  <a:srgbClr val="F5F5F0"/>
                </a:solidFill>
                <a:latin typeface="Segoe UI Emoji"/>
              </a:rPr>
              <a:t>)</a:t>
            </a:r>
            <a:endParaRPr lang="en-US" dirty="0">
              <a:solidFill>
                <a:srgbClr val="F5F5F0"/>
              </a:solidFill>
              <a:latin typeface="Segoe UI Emoji"/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dirty="0" err="1">
                <a:solidFill>
                  <a:srgbClr val="F5F5F0"/>
                </a:solidFill>
                <a:latin typeface="Segoe UI Emoji"/>
              </a:rPr>
              <a:t>Pendiri</a:t>
            </a:r>
            <a:r>
              <a:rPr dirty="0">
                <a:solidFill>
                  <a:srgbClr val="F5F5F0"/>
                </a:solidFill>
                <a:latin typeface="Segoe UI Emoji"/>
              </a:rPr>
              <a:t> Startup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AgriTech</a:t>
            </a:r>
            <a:r>
              <a:rPr dirty="0">
                <a:solidFill>
                  <a:srgbClr val="F5F5F0"/>
                </a:solidFill>
                <a:latin typeface="Segoe UI Emoji"/>
              </a:rPr>
              <a:t> (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membangun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solusi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peternakan</a:t>
            </a:r>
            <a:r>
              <a:rPr dirty="0">
                <a:solidFill>
                  <a:srgbClr val="F5F5F0"/>
                </a:solidFill>
                <a:latin typeface="Segoe UI Emoji"/>
              </a:rPr>
              <a:t>)</a:t>
            </a:r>
            <a:endParaRPr lang="en-US" dirty="0">
              <a:solidFill>
                <a:srgbClr val="F5F5F0"/>
              </a:solidFill>
              <a:latin typeface="Segoe UI Emoji"/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dirty="0" err="1">
                <a:solidFill>
                  <a:srgbClr val="F5F5F0"/>
                </a:solidFill>
                <a:latin typeface="Segoe UI Emoji"/>
              </a:rPr>
              <a:t>Penyuluh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Peternakan</a:t>
            </a:r>
            <a:r>
              <a:rPr dirty="0">
                <a:solidFill>
                  <a:srgbClr val="F5F5F0"/>
                </a:solidFill>
                <a:latin typeface="Segoe UI Emoji"/>
              </a:rPr>
              <a:t> Modern (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mengedukasi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petani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desa</a:t>
            </a:r>
            <a:r>
              <a:rPr dirty="0">
                <a:solidFill>
                  <a:srgbClr val="F5F5F0"/>
                </a:solidFill>
                <a:latin typeface="Segoe UI Emoji"/>
              </a:rPr>
              <a:t>)</a:t>
            </a:r>
            <a:endParaRPr lang="en-US" dirty="0">
              <a:solidFill>
                <a:srgbClr val="F5F5F0"/>
              </a:solidFill>
              <a:latin typeface="Segoe UI Emoji"/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dirty="0">
                <a:solidFill>
                  <a:srgbClr val="F5F5F0"/>
                </a:solidFill>
                <a:latin typeface="Segoe UI Emoji"/>
              </a:rPr>
              <a:t>Dosen &amp;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Peneliti</a:t>
            </a:r>
            <a:r>
              <a:rPr dirty="0">
                <a:solidFill>
                  <a:srgbClr val="F5F5F0"/>
                </a:solidFill>
                <a:latin typeface="Segoe UI Emoji"/>
              </a:rPr>
              <a:t> (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mengembangkan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teknologi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lokal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Kaltim</a:t>
            </a:r>
            <a:r>
              <a:rPr dirty="0">
                <a:solidFill>
                  <a:srgbClr val="F5F5F0"/>
                </a:solidFill>
                <a:latin typeface="Segoe UI Emoji"/>
              </a:rPr>
              <a:t>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371600"/>
            <a:ext cx="5989320" cy="52578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TextBox 9"/>
          <p:cNvSpPr txBox="1"/>
          <p:nvPr/>
        </p:nvSpPr>
        <p:spPr>
          <a:xfrm>
            <a:off x="6126480" y="1463040"/>
            <a:ext cx="55778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Segoe UI Emoji"/>
              </a:rPr>
              <a:t>🚀  Teknologi Masa Depan Peternakan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148840"/>
            <a:ext cx="6400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FFFFFF"/>
                </a:solidFill>
                <a:latin typeface="Segoe UI Emoji"/>
              </a:rPr>
              <a:t>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2148840"/>
            <a:ext cx="4846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5A623"/>
                </a:solidFill>
                <a:latin typeface="Calibri"/>
              </a:rPr>
              <a:t>Drone Penggembala Sapi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514600"/>
            <a:ext cx="48463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Drone terbang memantau kawanan sapi potong
di padang rumput tanpa perlu berkuda.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154680"/>
            <a:ext cx="5029200" cy="18288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6126480" y="3246120"/>
            <a:ext cx="6400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FFFFFF"/>
                </a:solidFill>
                <a:latin typeface="Segoe UI Emoji"/>
              </a:rPr>
              <a:t>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3246120"/>
            <a:ext cx="4846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5A623"/>
                </a:solidFill>
                <a:latin typeface="Calibri"/>
              </a:rPr>
              <a:t>Kamera AI Pendeteksi Sakit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3611880"/>
            <a:ext cx="48463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Kamera memindai wajah &amp; jalan sapi untuk
mendeteksi sapi pincang / sakit otomatis.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4251960"/>
            <a:ext cx="5029200" cy="18288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6126480" y="4343400"/>
            <a:ext cx="6400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FFFFFF"/>
                </a:solidFill>
                <a:latin typeface="Segoe UI Emoji"/>
              </a:rPr>
              <a:t>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4343400"/>
            <a:ext cx="4846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5A623"/>
                </a:solidFill>
                <a:latin typeface="Calibri"/>
              </a:rPr>
              <a:t>Smart Agro-Silvopasture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4709160"/>
            <a:ext cx="48463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Integrasi kandang, pakan sawit, &amp; limbah
yang dipantau otomatis lewat satu layar.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5349240"/>
            <a:ext cx="5029200" cy="18288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3" name="TextBox 22"/>
          <p:cNvSpPr txBox="1"/>
          <p:nvPr/>
        </p:nvSpPr>
        <p:spPr>
          <a:xfrm>
            <a:off x="6126480" y="5440680"/>
            <a:ext cx="6400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FFFFFF"/>
                </a:solidFill>
                <a:latin typeface="Segoe UI Emoji"/>
              </a:rPr>
              <a:t>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5440680"/>
            <a:ext cx="4846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5A623"/>
                </a:solidFill>
                <a:latin typeface="Calibri"/>
              </a:rPr>
              <a:t>Satelit GPS Ternak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5806440"/>
            <a:ext cx="48463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Pelacakan sapi skala besar menggunakan sinyal
satelit langsung, tak tergantung menara HP.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08 | Bagaimana Cara Kita Memulai Belajar?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258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FBF73"/>
                </a:solidFill>
                <a:latin typeface="Calibri"/>
              </a:rPr>
              <a:t>Langkah mudah yang bisa dilakukan mahasiswa Fapet UNMUL sekarang: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874519"/>
            <a:ext cx="2788920" cy="466344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1938528"/>
            <a:ext cx="27889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 Emoji"/>
              </a:rPr>
              <a:t>1️⃣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5176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  <a:latin typeface="Calibri"/>
              </a:rPr>
              <a:t>Pelajari Teori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108960"/>
            <a:ext cx="233172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4048" y="3182112"/>
            <a:ext cx="256946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5F5F0"/>
                </a:solidFill>
                <a:latin typeface="Calibri"/>
              </a:rPr>
              <a:t>Cari video di YouTube
tentang smart farming.
Pahami konsep, bukan coding.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4407408"/>
            <a:ext cx="2606040" cy="1920240"/>
          </a:xfrm>
          <a:prstGeom prst="roundRect">
            <a:avLst>
              <a:gd name="adj" fmla="val 4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4480560"/>
            <a:ext cx="2423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FBF73"/>
                </a:solidFill>
                <a:latin typeface="Calibri"/>
              </a:rPr>
              <a:t>🔍 Kata kunci pencarian:
• 'Smart Farming Sawit Kaltim'
• 'Internet of Things Livestock'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54680" y="1874519"/>
            <a:ext cx="2788920" cy="466344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54680" y="1938528"/>
            <a:ext cx="27889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 Emoji"/>
              </a:rPr>
              <a:t>2️⃣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65176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  <a:latin typeface="Calibri"/>
              </a:rPr>
              <a:t>Pakai Aplikasi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3108960"/>
            <a:ext cx="233172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64408" y="3182112"/>
            <a:ext cx="256946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5F5F0"/>
                </a:solidFill>
                <a:latin typeface="Calibri"/>
              </a:rPr>
              <a:t>Unduh aplikasi rekam data
ternak gratis di Play Store
atau pakai Google Sheets.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46120" y="4407408"/>
            <a:ext cx="2606040" cy="1920240"/>
          </a:xfrm>
          <a:prstGeom prst="roundRect">
            <a:avLst>
              <a:gd name="adj" fmla="val 4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37560" y="4480560"/>
            <a:ext cx="2423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FBF73"/>
                </a:solidFill>
                <a:latin typeface="Calibri"/>
              </a:rPr>
              <a:t>📱 Aplikasi disarankan:
• iCow (manajemen sapi)
• Google Sheets (catat bobot)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1874519"/>
            <a:ext cx="2788920" cy="466344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35040" y="1938528"/>
            <a:ext cx="27889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 Emoji"/>
              </a:rPr>
              <a:t>3️⃣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265176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  <a:latin typeface="Calibri"/>
              </a:rPr>
              <a:t>Kolaborasi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108960"/>
            <a:ext cx="233172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44768" y="3182112"/>
            <a:ext cx="256946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5F5F0"/>
                </a:solidFill>
                <a:latin typeface="Calibri"/>
              </a:rPr>
              <a:t>Cari teman Fakultas Teknik/
Fasilkomti UNMUL untuk
membuat tugas akhir.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6480" y="4407408"/>
            <a:ext cx="2606040" cy="1920240"/>
          </a:xfrm>
          <a:prstGeom prst="roundRect">
            <a:avLst>
              <a:gd name="adj" fmla="val 4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17920" y="4480560"/>
            <a:ext cx="2423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FBF73"/>
                </a:solidFill>
                <a:latin typeface="Calibri"/>
              </a:rPr>
              <a:t>🤝 Pembagian Tugas:
• Anak Teknik: merakit alat
• Anak Fapet: memimpin riset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15400" y="1874519"/>
            <a:ext cx="2788920" cy="466344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915400" y="1938528"/>
            <a:ext cx="27889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 Emoji"/>
              </a:rPr>
              <a:t>4️⃣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265176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  <a:latin typeface="Calibri"/>
              </a:rPr>
              <a:t>Tugas Akhir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0" y="3108960"/>
            <a:ext cx="233172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025128" y="3182112"/>
            <a:ext cx="256946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F5F5F0"/>
                </a:solidFill>
                <a:latin typeface="Calibri"/>
              </a:rPr>
              <a:t>Gunakan topik IoT sebagai
tema proposal penelitian
atau judul skripsi Anda.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06840" y="4407408"/>
            <a:ext cx="2606040" cy="1920240"/>
          </a:xfrm>
          <a:prstGeom prst="roundRect">
            <a:avLst>
              <a:gd name="adj" fmla="val 4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098280" y="4480560"/>
            <a:ext cx="2423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FBF73"/>
                </a:solidFill>
                <a:latin typeface="Calibri"/>
              </a:rPr>
              <a:t>📝 Ide Judul Skripsi:
• 'Pengaruh Monitor Suhu IoT
   Terhadap Produktivitas Sapi'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757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237744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📱  Monitoring via Telegram Bot — HP Kamu Jadi Dashboard Kandang!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5029200" cy="5212080"/>
          </a:xfrm>
          <a:prstGeom prst="roundRect">
            <a:avLst>
              <a:gd name="adj" fmla="val 4000"/>
            </a:avLst>
          </a:prstGeom>
          <a:solidFill>
            <a:srgbClr val="0757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49EDA"/>
                </a:solidFill>
                <a:latin typeface="Calibri"/>
              </a:rPr>
              <a:t>🤖  Apa itu Telegram Bot?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✅  Program otomatis di dalam aplikasi Telegram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✅  Bisa kirim pesan, foto, dan notifikasi ke HP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✅  Dibuat gratis menggunakan @BotFather di Telegram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✅  Tidak perlu beli server — semuanya lewat internet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✅  ESP32 (otak IoT) terhubung ke bot via WiFi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5F5F0"/>
                </a:solidFill>
                <a:latin typeface="Calibri"/>
              </a:rPr>
              <a:t>✅  Mahasiswa Fapet bisa memantau kandang dari mana saja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0" y="1371600"/>
            <a:ext cx="3657600" cy="5212080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23560" y="14630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49EDA"/>
                </a:solidFill>
                <a:latin typeface="Calibri"/>
              </a:rPr>
              <a:t>📲  Contoh Notifikasi di HP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0" y="196596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52160" y="2039112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 Emoji"/>
              </a:rPr>
              <a:t>🚨 BAHAYA KRITIS!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77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5F5F0"/>
                </a:solidFill>
                <a:latin typeface="Calibri"/>
              </a:rPr>
              <a:t>Suhu kandang: 37.2°C
SANGAT PANAS! Segera
nyalakan pendingin!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15000" y="310896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52160" y="3182112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 Emoji"/>
              </a:rPr>
              <a:t>⚠️ PERINGATAN SUHU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3520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5F5F0"/>
                </a:solidFill>
                <a:latin typeface="Calibri"/>
              </a:rPr>
              <a:t>Suhu kandang: 31.5°C
Melewati batas 30°C.
Nyalakan kipas!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5000" y="425196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852160" y="4325112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 Emoji"/>
              </a:rPr>
              <a:t>✅ KANDANG NORMAL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4663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5F5F0"/>
                </a:solidFill>
                <a:latin typeface="Calibri"/>
              </a:rPr>
              <a:t>Suhu: 26.8°C | Lembab: 72%
Kondisi kandang aman.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15000" y="539496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0757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52160" y="5468112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 Emoji"/>
              </a:rPr>
              <a:t>📊 Laporan Berkala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5806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5F5F0"/>
                </a:solidFill>
                <a:latin typeface="Calibri"/>
              </a:rPr>
              <a:t>Suhu: 28°C | Lembab: 75%
Status: AMAN
Bacaan ke-10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81160" y="1371600"/>
            <a:ext cx="2651760" cy="521208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18320" y="146304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A623"/>
                </a:solidFill>
                <a:latin typeface="Calibri"/>
              </a:rPr>
              <a:t>🌟  Manfaat
Bagi Peternak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18320" y="2148840"/>
            <a:ext cx="2331720" cy="749808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464040" y="22402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Segoe UI Emoji"/>
              </a:rPr>
              <a:t>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21240" y="2240280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Pantau 24 jam
nonstop dari HP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18320" y="3035808"/>
            <a:ext cx="2331720" cy="749808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464040" y="3127248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Segoe UI Emoji"/>
              </a:rPr>
              <a:t>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3127248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Monitor dari
rumah/kota lain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18320" y="3922776"/>
            <a:ext cx="2331720" cy="749808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464040" y="4014216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Segoe UI Emoji"/>
              </a:rPr>
              <a:t>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21240" y="4014216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Alert instan
saat ada bahaya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18320" y="4809744"/>
            <a:ext cx="2331720" cy="749808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464040" y="4901184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Segoe UI Emoji"/>
              </a:rPr>
              <a:t>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21240" y="4901184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Hemat biaya
kunjungan kandang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418320" y="5696712"/>
            <a:ext cx="2331720" cy="749808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464040" y="5788152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Segoe UI Emoji"/>
              </a:rPr>
              <a:t>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21240" y="5788152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Data tercatat
otomatis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4320" y="6492240"/>
            <a:ext cx="11612880" cy="301752"/>
          </a:xfrm>
          <a:prstGeom prst="roundRect">
            <a:avLst>
              <a:gd name="adj" fmla="val 4000"/>
            </a:avLst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7200" y="6519672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282828"/>
                </a:solidFill>
                <a:latin typeface="Calibri"/>
              </a:rPr>
              <a:t>💡  Tidak perlu coding rumit! ESP32 + 50 baris kode = kandang terpantau 24 jam via Telegram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757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237744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🔧  Setup Telegram Bot — 4 Langkah Mudah (Untuk Hardware Nyata)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89888"/>
            <a:ext cx="2880360" cy="5074920"/>
          </a:xfrm>
          <a:prstGeom prst="roundRect">
            <a:avLst>
              <a:gd name="adj" fmla="val 4000"/>
            </a:avLst>
          </a:prstGeom>
          <a:solidFill>
            <a:srgbClr val="0757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11480" y="1527048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1554480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1499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Segoe UI Emoji"/>
              </a:rPr>
              <a:t>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249EDA"/>
                </a:solidFill>
                <a:latin typeface="Calibri"/>
              </a:rPr>
              <a:t>Buat Bot di Telegram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03120"/>
            <a:ext cx="2514600" cy="22860"/>
          </a:xfrm>
          <a:prstGeom prst="rect">
            <a:avLst/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19456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50">
                <a:solidFill>
                  <a:srgbClr val="F5F5F0"/>
                </a:solidFill>
                <a:latin typeface="Calibri"/>
              </a:rPr>
              <a:t>→  Buka Telegram → cari @BotFather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F5F5F0"/>
                </a:solidFill>
                <a:latin typeface="Calibri"/>
              </a:rPr>
              <a:t>→  Kirim pesan: /newbot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F5F5F0"/>
                </a:solidFill>
                <a:latin typeface="Calibri"/>
              </a:rPr>
              <a:t>→  Beri nama bot: KandangSapiBot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F5F5F0"/>
                </a:solidFill>
                <a:latin typeface="Calibri"/>
              </a:rPr>
              <a:t>→  BotFather memberi TOKEN (simpan baik-baik!)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5916168"/>
            <a:ext cx="2606040" cy="43891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75488" y="5943601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FA7B"/>
                </a:solidFill>
                <a:latin typeface="Segoe UI Emoji"/>
              </a:rPr>
              <a:t>💡 Token = 'kunci' bot kamu. Jangan dibagikan!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73552" y="1389888"/>
            <a:ext cx="2880360" cy="507492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410712" y="1527048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10712" y="1554480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9552" y="1499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Segoe UI Emoji"/>
              </a:rPr>
              <a:t>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86784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249EDA"/>
                </a:solidFill>
                <a:latin typeface="Calibri"/>
              </a:rPr>
              <a:t>Dapatkan Chat ID Kamu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56432" y="2103120"/>
            <a:ext cx="2514600" cy="22860"/>
          </a:xfrm>
          <a:prstGeom prst="rect">
            <a:avLst/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56432" y="219456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50">
                <a:solidFill>
                  <a:srgbClr val="F5F5F0"/>
                </a:solidFill>
                <a:latin typeface="Calibri"/>
              </a:rPr>
              <a:t>→  Cari @userinfobot di Telegram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F5F5F0"/>
                </a:solidFill>
                <a:latin typeface="Calibri"/>
              </a:rPr>
              <a:t>→  Kirim pesan /start ke bot tersebut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F5F5F0"/>
                </a:solidFill>
                <a:latin typeface="Calibri"/>
              </a:rPr>
              <a:t>→  Bot akan balas dengan ID angka kamu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F5F5F0"/>
                </a:solidFill>
                <a:latin typeface="Calibri"/>
              </a:rPr>
              <a:t>→  Catat angka itu — itulah CHAT_ID kamu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10712" y="5916168"/>
            <a:ext cx="2606040" cy="43891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74720" y="5943601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FA7B"/>
                </a:solidFill>
                <a:latin typeface="Segoe UI Emoji"/>
              </a:rPr>
              <a:t>💡 Chat ID = 'alamat' HP kamu untuk bot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72784" y="1389888"/>
            <a:ext cx="2880360" cy="5074920"/>
          </a:xfrm>
          <a:prstGeom prst="roundRect">
            <a:avLst>
              <a:gd name="adj" fmla="val 4000"/>
            </a:avLst>
          </a:prstGeom>
          <a:solidFill>
            <a:srgbClr val="0757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409944" y="1527048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9944" y="1554480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58784" y="1499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Segoe UI Emoji"/>
              </a:rPr>
              <a:t>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6016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249EDA"/>
                </a:solidFill>
                <a:latin typeface="Calibri"/>
              </a:rPr>
              <a:t>Isi Token di Kode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55664" y="2103120"/>
            <a:ext cx="2514600" cy="22860"/>
          </a:xfrm>
          <a:prstGeom prst="rect">
            <a:avLst/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55664" y="219456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50">
                <a:solidFill>
                  <a:srgbClr val="F5F5F0"/>
                </a:solidFill>
                <a:latin typeface="Calibri"/>
              </a:rPr>
              <a:t>→  Buka sketch_telegram.ino di Arduino IDE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F5F5F0"/>
                </a:solidFill>
                <a:latin typeface="Calibri"/>
              </a:rPr>
              <a:t>→  Isi WIFI_SSID dengan nama WiFi kandangmu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F5F5F0"/>
                </a:solidFill>
                <a:latin typeface="Calibri"/>
              </a:rPr>
              <a:t>→  Isi BOT_TOKEN dengan token dari BotFather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F5F5F0"/>
                </a:solidFill>
                <a:latin typeface="Calibri"/>
              </a:rPr>
              <a:t>→  Isi CHAT_ID dengan ID angka dari langkah 02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9944" y="5916168"/>
            <a:ext cx="2606040" cy="43891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73952" y="5943601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FA7B"/>
                </a:solidFill>
                <a:latin typeface="Segoe UI Emoji"/>
              </a:rPr>
              <a:t>💡 Aktifkan baris yang dikomentari (//) di kode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72016" y="1389888"/>
            <a:ext cx="2880360" cy="507492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9409176" y="1527048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409176" y="1554480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58016" y="1499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Segoe UI Emoji"/>
              </a:rPr>
              <a:t>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85248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 i="0">
                <a:solidFill>
                  <a:srgbClr val="249EDA"/>
                </a:solidFill>
                <a:latin typeface="Calibri"/>
              </a:rPr>
              <a:t>Upload &amp; Coba!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454896" y="2103120"/>
            <a:ext cx="2514600" cy="22860"/>
          </a:xfrm>
          <a:prstGeom prst="rect">
            <a:avLst/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454896" y="219456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50">
                <a:solidFill>
                  <a:srgbClr val="F5F5F0"/>
                </a:solidFill>
                <a:latin typeface="Calibri"/>
              </a:rPr>
              <a:t>→  Hubungkan ESP32 ke laptop via kabel USB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F5F5F0"/>
                </a:solidFill>
                <a:latin typeface="Calibri"/>
              </a:rPr>
              <a:t>→  Upload kode dari Arduino IDE ke ESP32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F5F5F0"/>
                </a:solidFill>
                <a:latin typeface="Calibri"/>
              </a:rPr>
              <a:t>→  Buka Telegram → cari nama bot kamu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F5F5F0"/>
                </a:solidFill>
                <a:latin typeface="Calibri"/>
              </a:rPr>
              <a:t>→  Kirim /start → bot akan membalas otomatis!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409176" y="5916168"/>
            <a:ext cx="2606040" cy="43891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473184" y="5943601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FA7B"/>
                </a:solidFill>
                <a:latin typeface="Segoe UI Emoji"/>
              </a:rPr>
              <a:t>💡 Panaskan sensor → lihat notifikasi masuk ke HP!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74320" y="6455664"/>
            <a:ext cx="11612880" cy="338328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57200" y="6483096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0FA7B"/>
                </a:solidFill>
                <a:latin typeface="Courier New"/>
              </a:rPr>
              <a:t>const char* WIFI_SSID = "WiFiKamu";   const String BOT_TOKEN = "123456:ABCDEF";   const String CHAT_ID = "987654321";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FB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50FA7B"/>
                </a:solidFill>
                <a:latin typeface="Calibri"/>
              </a:rPr>
              <a:t>🧪  Praktikum IoT: Simulasi di Wokwi (Tanpa Hardware!)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5212080" cy="5212080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50FA7B"/>
                </a:solidFill>
                <a:latin typeface="Calibri"/>
              </a:rPr>
              <a:t>🌐  Apa itu Wokwi?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50">
                <a:solidFill>
                  <a:srgbClr val="F5F5F0"/>
                </a:solidFill>
                <a:latin typeface="Segoe UI Emoji"/>
              </a:rPr>
              <a:t>✅  Simulator IoT/Arduino GRATIS berbasis browser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F5F5F0"/>
                </a:solidFill>
                <a:latin typeface="Segoe UI Emoji"/>
              </a:rPr>
              <a:t>✅  Tidak perlu beli hardware apapun sama sekali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F5F5F0"/>
                </a:solidFill>
                <a:latin typeface="Segoe UI Emoji"/>
              </a:rPr>
              <a:t>✅  Tersedia sensor, motor, layar LCD, dan LED virtual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F5F5F0"/>
                </a:solidFill>
                <a:latin typeface="Segoe UI Emoji"/>
              </a:rPr>
              <a:t>✅  Kode bisa ditulis &amp; dijalankan langsung di situs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F5F5F0"/>
                </a:solidFill>
                <a:latin typeface="Segoe UI Emoji"/>
              </a:rPr>
              <a:t>✅  Proyek bisa dibagikan via link ke teman/dosen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F5F5F0"/>
                </a:solidFill>
                <a:latin typeface="Segoe UI Emoji"/>
              </a:rPr>
              <a:t>✅  Dipakai oleh jutaan pelajar &amp; insinyur di seluruh dunia</a:t>
            </a:r>
          </a:p>
          <a:p>
            <a:pPr>
              <a:spcAft>
                <a:spcPts val="500"/>
              </a:spcAft>
            </a:pPr>
            <a:r>
              <a:rPr sz="1450">
                <a:solidFill>
                  <a:srgbClr val="F5F5F0"/>
                </a:solidFill>
                <a:latin typeface="Segoe UI Emoji"/>
              </a:rPr>
              <a:t>✅  Akses dari HP atau laptop — tidak perlu install apapun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1371600"/>
            <a:ext cx="6217920" cy="24231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52160" y="1463040"/>
            <a:ext cx="5852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B86C"/>
                </a:solidFill>
                <a:latin typeface="Segoe UI Emoji"/>
              </a:rPr>
              <a:t>🎯  Kenapa Cocok untuk Mahasiswa Peternakan?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2011680"/>
            <a:ext cx="5852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50">
                <a:solidFill>
                  <a:srgbClr val="F5F5F0"/>
                </a:solidFill>
                <a:latin typeface="Calibri"/>
              </a:rPr>
              <a:t>→  Tidak perlu modal beli sensor &amp; alat elektronika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F5F5F0"/>
                </a:solidFill>
                <a:latin typeface="Calibri"/>
              </a:rPr>
              <a:t>→  Bisa dicoba berkali-kali tanpa takut alat rusak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F5F5F0"/>
                </a:solidFill>
                <a:latin typeface="Calibri"/>
              </a:rPr>
              <a:t>→  Bisa langsung eksperimen ubah nilai suhu kandang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F5F5F0"/>
                </a:solidFill>
                <a:latin typeface="Calibri"/>
              </a:rPr>
              <a:t>→  Cocok dikerjakan dari rumah atau kos mahasiswa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931920"/>
            <a:ext cx="6217920" cy="1051560"/>
          </a:xfrm>
          <a:prstGeom prst="roundRect">
            <a:avLst>
              <a:gd name="adj" fmla="val 5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52160" y="4005072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82828"/>
                </a:solidFill>
                <a:latin typeface="Calibri"/>
              </a:rPr>
              <a:t>🔗  Alamat Website: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315968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282828"/>
                </a:solidFill>
                <a:latin typeface="Calibri"/>
              </a:rPr>
              <a:t>wokwi.com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5120640"/>
            <a:ext cx="6217920" cy="1417320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852160" y="5193792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8BE9FD"/>
                </a:solidFill>
                <a:latin typeface="Segoe UI Emoji"/>
              </a:rPr>
              <a:t>⚙️  Komponen Virtual yang Tersedia di Wokwi: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5623560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5F5F0"/>
                </a:solidFill>
                <a:latin typeface="Segoe UI Emoji"/>
              </a:rPr>
              <a:t>🌡️ Sensor Suhu DHT22    📺 Layar LCD    💡 LED Alarm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5989320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5F5F0"/>
                </a:solidFill>
                <a:latin typeface="Segoe UI Emoji"/>
              </a:rPr>
              <a:t>📍 GPS Module    🔊 Buzzer    ⚖️ Load Cell (Timbangan)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FB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50FA7B"/>
                </a:solidFill>
                <a:latin typeface="Calibri"/>
              </a:rPr>
              <a:t>🐄  Proyek Simulasi: Monitor Suhu &amp; Kelembaban Kandang Sapi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11612880" cy="658368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4447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B86C"/>
                </a:solidFill>
                <a:latin typeface="Segoe UI Emoji"/>
              </a:rPr>
              <a:t>🎯  Tujuan: Membuat alat virtual yang menampilkan suhu kandang dan menyalakan lampu merah jika terlalu panas (&gt; 30°C)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2148840"/>
            <a:ext cx="3200400" cy="4434840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24028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BE9FD"/>
                </a:solidFill>
                <a:latin typeface="Segoe UI Emoji"/>
              </a:rPr>
              <a:t>🔧  Komponen Virtual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743200"/>
            <a:ext cx="2880360" cy="658368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28529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Segoe UI Emoji"/>
              </a:rPr>
              <a:t>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816352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B86C"/>
                </a:solidFill>
                <a:latin typeface="Calibri"/>
              </a:rPr>
              <a:t>Arduino Uno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127248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Otak pengontrol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493008"/>
            <a:ext cx="2880360" cy="658368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360273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Segoe UI Emoji"/>
              </a:rPr>
              <a:t>🌡️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56616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B86C"/>
                </a:solidFill>
                <a:latin typeface="Calibri"/>
              </a:rPr>
              <a:t>Sensor DHT22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877056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Baca suhu &amp; lembab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4242816"/>
            <a:ext cx="2880360" cy="658368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2920" y="435254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Segoe UI Emoji"/>
              </a:rPr>
              <a:t>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315968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B86C"/>
                </a:solidFill>
                <a:latin typeface="Calibri"/>
              </a:rPr>
              <a:t>LCD 16x2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626864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Tampilkan angka 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992624"/>
            <a:ext cx="2880360" cy="658368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510235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Segoe UI Emoji"/>
              </a:rPr>
              <a:t>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065776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B86C"/>
                </a:solidFill>
                <a:latin typeface="Calibri"/>
              </a:rPr>
              <a:t>LED Merah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5376672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Lampu alarm panas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5742432"/>
            <a:ext cx="2880360" cy="658368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585216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Segoe UI Emoji"/>
              </a:rPr>
              <a:t>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815584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B86C"/>
                </a:solidFill>
                <a:latin typeface="Calibri"/>
              </a:rPr>
              <a:t>Resistor 220Ω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6126480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Pengaman LED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11880" y="2148840"/>
            <a:ext cx="4937760" cy="4434840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794760" y="2240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BE9FD"/>
                </a:solidFill>
                <a:latin typeface="Segoe UI Emoji"/>
              </a:rPr>
              <a:t>⚙️  Cara Kerjanya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49039" y="274320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749039" y="2761488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2743200"/>
            <a:ext cx="4160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Sensor DHT22 membaca
suhu &amp; kelembaban kandang
setiap 2 detik sekali.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58768" y="318211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B86C"/>
                </a:solidFill>
                <a:latin typeface="Calibri"/>
              </a:rPr>
              <a:t>↓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749039" y="362102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749039" y="3639312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06240" y="3621024"/>
            <a:ext cx="4160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Hasilnya ditampilkan
di layar LCD:
"Suhu: 33.0°C | Lembab: 75.0 %"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58768" y="4059936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B86C"/>
                </a:solidFill>
                <a:latin typeface="Calibri"/>
              </a:rPr>
              <a:t>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749039" y="449884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749039" y="4517136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4498848"/>
            <a:ext cx="4160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Program cek:
Apakah suhu &gt; 30°C?
JIKA IYA → LED MERAH MENYALA
JIKA TIDAK → LED tetap mati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58768" y="493776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B86C"/>
                </a:solidFill>
                <a:latin typeface="Calibri"/>
              </a:rPr>
              <a:t>↓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749039" y="537667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749039" y="5394960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6240" y="5376672"/>
            <a:ext cx="4160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Proses diulang terus
setiap 2 detik.
Seperti sensor kandang asli!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686800" y="2148840"/>
            <a:ext cx="3246120" cy="4434840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869680" y="2240280"/>
            <a:ext cx="2880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BE9FD"/>
                </a:solidFill>
                <a:latin typeface="Segoe UI Emoji"/>
              </a:rPr>
              <a:t>&lt;/&gt;  Cuplikan Kode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9680" y="2743200"/>
            <a:ext cx="288036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</a:pPr>
            <a:r>
              <a:rPr sz="1100" b="0">
                <a:solidFill>
                  <a:srgbClr val="50FA7B"/>
                </a:solidFill>
                <a:latin typeface="Courier New"/>
              </a:rPr>
              <a:t>// Batas suhu aman kandang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8BE9FD"/>
                </a:solidFill>
                <a:latin typeface="Courier New"/>
              </a:rPr>
              <a:t>#define BATAS_SUHU 30.0</a:t>
            </a:r>
          </a:p>
          <a:p>
            <a:pPr>
              <a:spcAft>
                <a:spcPts val="100"/>
              </a:spcAft>
            </a:pPr>
            <a:endParaRPr sz="1100" b="0">
              <a:solidFill>
                <a:srgbClr val="8BE9FD"/>
              </a:solidFill>
              <a:latin typeface="Courier New"/>
            </a:endParaRP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50FA7B"/>
                </a:solidFill>
                <a:latin typeface="Courier New"/>
              </a:rPr>
              <a:t>// Baca data dari sensor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F5F5F0"/>
                </a:solidFill>
                <a:latin typeface="Courier New"/>
              </a:rPr>
              <a:t>float suhu =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FFB86C"/>
                </a:solidFill>
                <a:latin typeface="Courier New"/>
              </a:rPr>
              <a:t>  dht.readTemperature();</a:t>
            </a:r>
          </a:p>
          <a:p>
            <a:pPr>
              <a:spcAft>
                <a:spcPts val="100"/>
              </a:spcAft>
            </a:pPr>
            <a:endParaRPr sz="1100" b="0">
              <a:solidFill>
                <a:srgbClr val="FFB86C"/>
              </a:solidFill>
              <a:latin typeface="Courier New"/>
            </a:endParaRP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50FA7B"/>
                </a:solidFill>
                <a:latin typeface="Courier New"/>
              </a:rPr>
              <a:t>// Cek kondisi suhu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F5F5F0"/>
                </a:solidFill>
                <a:latin typeface="Courier New"/>
              </a:rPr>
              <a:t>if (suhu &gt; BATAS_SUHU) {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50FA7B"/>
                </a:solidFill>
                <a:latin typeface="Courier New"/>
              </a:rPr>
              <a:t>  // Nyalakan LED alarm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FF5555"/>
                </a:solidFill>
                <a:latin typeface="Courier New"/>
              </a:rPr>
              <a:t>  digitalWrite(LED,HIGH);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F5F5F0"/>
                </a:solidFill>
                <a:latin typeface="Courier New"/>
              </a:rPr>
              <a:t>} else {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50FA7B"/>
                </a:solidFill>
                <a:latin typeface="Courier New"/>
              </a:rPr>
              <a:t>  digitalWrite(LED,LOW);</a:t>
            </a: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F5F5F0"/>
                </a:solidFill>
                <a:latin typeface="Courier New"/>
              </a:rPr>
              <a:t>}</a:t>
            </a:r>
          </a:p>
          <a:p>
            <a:pPr>
              <a:spcAft>
                <a:spcPts val="100"/>
              </a:spcAft>
            </a:pPr>
            <a:endParaRPr sz="1100" b="0">
              <a:solidFill>
                <a:srgbClr val="F5F5F0"/>
              </a:solidFill>
              <a:latin typeface="Courier New"/>
            </a:endParaRPr>
          </a:p>
          <a:p>
            <a:pPr>
              <a:spcAft>
                <a:spcPts val="100"/>
              </a:spcAft>
            </a:pPr>
            <a:r>
              <a:rPr sz="1100" b="0">
                <a:solidFill>
                  <a:srgbClr val="50FA7B"/>
                </a:solidFill>
                <a:latin typeface="Courier New"/>
              </a:rPr>
              <a:t>delay(2000); // tunggu 2 detik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74320" y="6492240"/>
            <a:ext cx="11612880" cy="301752"/>
          </a:xfrm>
          <a:prstGeom prst="roundRect">
            <a:avLst>
              <a:gd name="adj" fmla="val 4000"/>
            </a:avLst>
          </a:prstGeom>
          <a:solidFill>
            <a:srgbClr val="FFB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57200" y="6519672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82828"/>
                </a:solidFill>
                <a:latin typeface="Segoe UI Emoji"/>
              </a:rPr>
              <a:t>🔥  Tantangan: Ubah nilai BATAS_SUHU dari 30 menjadi 25. Lihat kapan LED alarm menyala!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FB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50FA7B"/>
                </a:solidFill>
                <a:latin typeface="Calibri"/>
              </a:rPr>
              <a:t>📋  Cara Menggunakan Wokwi — Panduan Langkah Demi Langkah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417320"/>
            <a:ext cx="3794760" cy="22860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11480" y="155448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1581912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82828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50876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B86C"/>
                </a:solidFill>
                <a:latin typeface="Segoe UI Emoji"/>
              </a:rPr>
              <a:t>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581912"/>
            <a:ext cx="2880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B86C"/>
                </a:solidFill>
                <a:latin typeface="Calibri"/>
              </a:rPr>
              <a:t>Buka Browser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057400"/>
            <a:ext cx="3429000" cy="22860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148840"/>
            <a:ext cx="3429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Buka Google Chrome / Firefox di
laptop atau HP kamu.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264408"/>
            <a:ext cx="3520440" cy="34747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282696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FA7B"/>
                </a:solidFill>
                <a:latin typeface="Segoe UI Emoji"/>
              </a:rPr>
              <a:t>💡 Tidak perlu install aplikasi apapun!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1417320"/>
            <a:ext cx="3794760" cy="22860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389120" y="155448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89120" y="1581912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82828"/>
                </a:solidFill>
                <a:latin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150876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B86C"/>
                </a:solidFill>
                <a:latin typeface="Segoe UI Emoji"/>
              </a:rPr>
              <a:t>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1581912"/>
            <a:ext cx="2880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B86C"/>
                </a:solidFill>
                <a:latin typeface="Calibri"/>
              </a:rPr>
              <a:t>Kunjungi Wokwi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34840" y="2057400"/>
            <a:ext cx="3429000" cy="22860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34840" y="2148840"/>
            <a:ext cx="3429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Ketik di address bar browser:
wokwi.com
lalu tekan Enter.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3264408"/>
            <a:ext cx="3520440" cy="34747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34840" y="3282696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FA7B"/>
                </a:solidFill>
                <a:latin typeface="Segoe UI Emoji"/>
              </a:rPr>
              <a:t>💡 Gratis, tidak perlu daftar!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1417320"/>
            <a:ext cx="3794760" cy="228600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8366760" y="155448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66760" y="1581912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82828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84280" y="150876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B86C"/>
                </a:solidFill>
                <a:latin typeface="Segoe UI Emoji"/>
              </a:rPr>
              <a:t>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1581912"/>
            <a:ext cx="2880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B86C"/>
                </a:solidFill>
                <a:latin typeface="Calibri"/>
              </a:rPr>
              <a:t>Buat Proyek Baru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2057400"/>
            <a:ext cx="3429000" cy="22860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80" y="2148840"/>
            <a:ext cx="3429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Klik 'New Project'
lalu pilih 'Arduino Uno'
sebagai platform.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66760" y="3264408"/>
            <a:ext cx="3520440" cy="34747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12480" y="3282696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FA7B"/>
                </a:solidFill>
                <a:latin typeface="Segoe UI Emoji"/>
              </a:rPr>
              <a:t>💡 Editor kode akan terbuka.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3931920"/>
            <a:ext cx="3794760" cy="22860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411480" y="406908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11480" y="4096512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82828"/>
                </a:solidFill>
                <a:latin typeface="Calibri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29000" y="402336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B86C"/>
                </a:solidFill>
                <a:latin typeface="Segoe UI Emoji"/>
              </a:rPr>
              <a:t>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" y="4096512"/>
            <a:ext cx="2880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B86C"/>
                </a:solidFill>
                <a:latin typeface="Calibri"/>
              </a:rPr>
              <a:t>Tempel Kode Program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572000"/>
            <a:ext cx="3429000" cy="22860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7200" y="4663440"/>
            <a:ext cx="3429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Pilih semua teks di tab sketch.ino
(Ctrl+A), hapus, lalu tempel
kode yang diberikan dosen.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5779008"/>
            <a:ext cx="3520440" cy="34747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7200" y="5797296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FA7B"/>
                </a:solidFill>
                <a:latin typeface="Segoe UI Emoji"/>
              </a:rPr>
              <a:t>💡 File kode ada di folder praktikum.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51960" y="3931920"/>
            <a:ext cx="3794760" cy="22860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4389120" y="406908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389120" y="4096512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82828"/>
                </a:solidFill>
                <a:latin typeface="Calibri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06640" y="402336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B86C"/>
                </a:solidFill>
                <a:latin typeface="Segoe UI Emoji"/>
              </a:rPr>
              <a:t>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83480" y="4096512"/>
            <a:ext cx="2880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B86C"/>
                </a:solidFill>
                <a:latin typeface="Calibri"/>
              </a:rPr>
              <a:t>Tempel Rangkaian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34840" y="4572000"/>
            <a:ext cx="3429000" cy="22860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434840" y="4663440"/>
            <a:ext cx="3429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Klik tab diagram.json, pilih
semua (Ctrl+A), hapus, lalu
tempel isi diagram.json dari dosen.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89120" y="5779008"/>
            <a:ext cx="3520440" cy="34747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434840" y="5797296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FA7B"/>
                </a:solidFill>
                <a:latin typeface="Segoe UI Emoji"/>
              </a:rPr>
              <a:t>💡 Komponen virtual akan muncul!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229600" y="3931920"/>
            <a:ext cx="3794760" cy="228600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8366760" y="406908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366760" y="4096512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82828"/>
                </a:solidFill>
                <a:latin typeface="Calibri"/>
              </a:rPr>
              <a:t>06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84280" y="402336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B86C"/>
                </a:solidFill>
                <a:latin typeface="Segoe UI Emoji"/>
              </a:rPr>
              <a:t>▶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1120" y="4096512"/>
            <a:ext cx="2880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B86C"/>
                </a:solidFill>
                <a:latin typeface="Calibri"/>
              </a:rPr>
              <a:t>Jalankan &amp; Eksplorasi!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412480" y="4572000"/>
            <a:ext cx="3429000" cy="22860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412480" y="4663440"/>
            <a:ext cx="34290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5F5F0"/>
                </a:solidFill>
                <a:latin typeface="Calibri"/>
              </a:rPr>
              <a:t>Klik tombol ▶ (Play hijau) di
pojok atas. Tunggu loading,
lalu lihat LCD dan LED virtual!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366760" y="5779008"/>
            <a:ext cx="3520440" cy="34747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412480" y="5797296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FA7B"/>
                </a:solidFill>
                <a:latin typeface="Segoe UI Emoji"/>
              </a:rPr>
              <a:t>💡 Klik DHT22 → ubah suhu → lihat hasil!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74320" y="6473952"/>
            <a:ext cx="11612880" cy="338328"/>
          </a:xfrm>
          <a:prstGeom prst="roundRect">
            <a:avLst>
              <a:gd name="adj" fmla="val 4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57200" y="6501384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82828"/>
                </a:solidFill>
                <a:latin typeface="Segoe UI Emoji"/>
              </a:rPr>
              <a:t>🌐  Mulai sekarang di: wokwi.com   |   File kode: sketch.ino &amp; diagram.json (dari dosen)   |   Tidak perlu daftar!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💡  Kesimpulan Materi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554480"/>
            <a:ext cx="11612880" cy="10515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4048" y="1691640"/>
            <a:ext cx="685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64208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623"/>
                </a:solidFill>
                <a:latin typeface="Calibri"/>
              </a:rPr>
              <a:t>IoT Bukan untuk Programmer Saja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075687"/>
            <a:ext cx="10561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5F5F0"/>
                </a:solidFill>
                <a:latin typeface="Calibri"/>
              </a:rPr>
              <a:t>IoT adalah alat bantu peternak. Kita tidak perlu bisa membuat, kita hanya perlu tahu cara menggunakannya.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2697480"/>
            <a:ext cx="11612880" cy="10515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4048" y="2834640"/>
            <a:ext cx="685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07208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623"/>
                </a:solidFill>
                <a:latin typeface="Calibri"/>
              </a:rPr>
              <a:t>Efisiensi Meningkat Pesat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218687"/>
            <a:ext cx="10561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5F5F0"/>
                </a:solidFill>
                <a:latin typeface="Calibri"/>
              </a:rPr>
              <a:t>Monitor suhu kandang, pemberian pakan presisi, &amp; pelacakan ternak terbukti memotong biaya operasional hingga 30%.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3840480"/>
            <a:ext cx="11612880" cy="10515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84048" y="3977640"/>
            <a:ext cx="685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950208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623"/>
                </a:solidFill>
                <a:latin typeface="Calibri"/>
              </a:rPr>
              <a:t>Kaltim Punya Peluang Emas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361687"/>
            <a:ext cx="10561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5F5F0"/>
                </a:solidFill>
                <a:latin typeface="Calibri"/>
              </a:rPr>
              <a:t>IKN membutuhkan pasokan daging sapi berkualitas tinggi. Integrasi sapi sawit (SISKA) berbasis IoT adalah solusi terbaik.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4983480"/>
            <a:ext cx="11612880" cy="10515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84048" y="5120640"/>
            <a:ext cx="685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FFFFF"/>
                </a:solidFill>
                <a:latin typeface="Segoe UI Emoji"/>
              </a:rPr>
              <a:t>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5093208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623"/>
                </a:solidFill>
                <a:latin typeface="Calibri"/>
              </a:rPr>
              <a:t>Kunci Sukses: Kolaborasi Multidisiplin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504687"/>
            <a:ext cx="10561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5F5F0"/>
                </a:solidFill>
                <a:latin typeface="Calibri"/>
              </a:rPr>
              <a:t>Bekerjasamalah dengan anak IT/Elektro UNMUL. Kolaborasi melahirkan inovasi peternakan bernilai tinggi.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731520" y="-731520"/>
            <a:ext cx="4114800" cy="4114800"/>
          </a:xfrm>
          <a:prstGeom prst="ellipse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988552" y="3474720"/>
            <a:ext cx="3200400" cy="3200400"/>
          </a:xfrm>
          <a:prstGeom prst="ellipse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349240" y="685800"/>
            <a:ext cx="1463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0" b="0" i="0">
                <a:solidFill>
                  <a:srgbClr val="FFFFFF"/>
                </a:solidFill>
                <a:latin typeface="Segoe UI Emoji"/>
              </a:rPr>
              <a:t>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10332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Terima Kasih!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97480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6FBF73"/>
                </a:solidFill>
                <a:latin typeface="Calibri"/>
              </a:rPr>
              <a:t>"Peternak masa depan bukan lagi mereka yang hanya memegang cangkul dan arit,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54680"/>
            <a:ext cx="10332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6FBF73"/>
                </a:solidFill>
                <a:latin typeface="Calibri"/>
              </a:rPr>
              <a:t>tapi mereka yang mengendalikan kesehatan ternak dari genggaman jempolnya!"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94760" y="3749039"/>
            <a:ext cx="4572000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8862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5A623"/>
                </a:solidFill>
                <a:latin typeface="Segoe UI Emoji"/>
              </a:rPr>
              <a:t>❓  Ada Pertanyaan?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5262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5F5F0"/>
                </a:solidFill>
                <a:latin typeface="Calibri"/>
              </a:rPr>
              <a:t>Mari Kita Mulai Diskusi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5166360"/>
            <a:ext cx="6675120" cy="86868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26080" y="5230368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A623"/>
                </a:solidFill>
                <a:latin typeface="Calibri"/>
              </a:rPr>
              <a:t>Fakultas Peternakan  ·  Universitas Mulawarman  ·  Samarinda, Kalimantan Timur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5577840"/>
            <a:ext cx="6309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unmul.ac.id  ·  Smart Livestock Farming Project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3305</Words>
  <Application>Microsoft Office PowerPoint</Application>
  <PresentationFormat>Custom</PresentationFormat>
  <Paragraphs>455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Courier New</vt:lpstr>
      <vt:lpstr>Segoe UI Emoji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Anton Prafanto</cp:lastModifiedBy>
  <cp:revision>2</cp:revision>
  <dcterms:created xsi:type="dcterms:W3CDTF">2013-01-27T09:14:16Z</dcterms:created>
  <dcterms:modified xsi:type="dcterms:W3CDTF">2026-05-21T21:59:31Z</dcterms:modified>
  <cp:category/>
</cp:coreProperties>
</file>