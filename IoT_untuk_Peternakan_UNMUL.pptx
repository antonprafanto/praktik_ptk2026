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7" r:id="rId18"/>
    <p:sldId id="273" r:id="rId19"/>
    <p:sldId id="274" r:id="rId20"/>
    <p:sldId id="275" r:id="rId21"/>
    <p:sldId id="271" r:id="rId22"/>
    <p:sldId id="272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Oval 6"/>
          <p:cNvSpPr/>
          <p:nvPr/>
        </p:nvSpPr>
        <p:spPr>
          <a:xfrm>
            <a:off x="8531352" y="-457200"/>
            <a:ext cx="3657600" cy="36576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Oval 7"/>
          <p:cNvSpPr/>
          <p:nvPr/>
        </p:nvSpPr>
        <p:spPr>
          <a:xfrm>
            <a:off x="9445752" y="457200"/>
            <a:ext cx="2743200" cy="27432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FAKULTAS PETERNAKAN  |  UNIVERSITAS MULAWARMAN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914400"/>
            <a:ext cx="8229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6FBF73"/>
                </a:solidFill>
                <a:latin typeface="Segoe UI Emoji"/>
              </a:rPr>
              <a:t>🌐  📡  🐄  💻  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9144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INTERNET of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A623"/>
                </a:solidFill>
                <a:latin typeface="Calibri"/>
              </a:rPr>
              <a:t>(IoT)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 dirty="0" err="1">
                <a:solidFill>
                  <a:srgbClr val="6FBF73"/>
                </a:solidFill>
                <a:latin typeface="Calibri"/>
              </a:rPr>
              <a:t>Teknologi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Pintar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untuk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Peternakan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Modern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Kaltim</a:t>
            </a:r>
            <a:endParaRPr sz="3200" b="0" i="0" dirty="0">
              <a:solidFill>
                <a:srgbClr val="6FBF73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77240" y="3886200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777240" y="4005072"/>
            <a:ext cx="9144000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b="0">
                <a:solidFill>
                  <a:srgbClr val="F5F5F0"/>
                </a:solidFill>
                <a:latin typeface="Calibri"/>
              </a:rPr>
              <a:t>Materi Pengenalan Praktis &amp; Populer untuk Mahasiswa</a:t>
            </a:r>
          </a:p>
          <a:p>
            <a:pPr algn="l">
              <a:spcAft>
                <a:spcPts val="400"/>
              </a:spcAft>
            </a:pPr>
            <a:r>
              <a:rPr b="0">
                <a:solidFill>
                  <a:srgbClr val="F5F5F0"/>
                </a:solidFill>
                <a:latin typeface="Calibri"/>
              </a:rPr>
              <a:t>TIDAK memerlukan latar belakang IT, coding, atau elektronika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17920"/>
            <a:ext cx="2743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rgbClr val="F5A623"/>
                </a:solidFill>
                <a:latin typeface="Calibri"/>
              </a:rPr>
              <a:t>Samarinda</a:t>
            </a:r>
            <a:r>
              <a:rPr sz="2400" b="1" i="0" dirty="0">
                <a:solidFill>
                  <a:srgbClr val="F5A623"/>
                </a:solidFill>
                <a:latin typeface="Calibri"/>
              </a:rPr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📋  Agenda Materi Kuliah — IoT untuk Peternakan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600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211328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211328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6592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960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Mitos vs Fakta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960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Mahasiswa Fapet
harus bisa coding?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4104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ounded Rectangle 13"/>
          <p:cNvSpPr/>
          <p:nvPr/>
        </p:nvSpPr>
        <p:spPr>
          <a:xfrm>
            <a:off x="4243832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243832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9096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8464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Apa itu IoT?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8464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Sensor → Cloud
→ HP kamu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6608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ounded Rectangle 19"/>
          <p:cNvSpPr/>
          <p:nvPr/>
        </p:nvSpPr>
        <p:spPr>
          <a:xfrm>
            <a:off x="8276336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8276336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31600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0968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IoT di Peternakan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0968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6 aplikasi nyata
di kandang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211328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211328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6592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🗺️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960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Studi Kasus Kaltim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5960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SISKA, GPS Collar
Sapi Bali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4104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ounded Rectangle 31"/>
          <p:cNvSpPr/>
          <p:nvPr/>
        </p:nvSpPr>
        <p:spPr>
          <a:xfrm>
            <a:off x="4243832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4243832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9096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8464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Kuis Interaktif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8464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Tebak yang pakai
IoT vs bukan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6608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Rounded Rectangle 37"/>
          <p:cNvSpPr/>
          <p:nvPr/>
        </p:nvSpPr>
        <p:spPr>
          <a:xfrm>
            <a:off x="8276336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9" name="TextBox 38"/>
          <p:cNvSpPr txBox="1"/>
          <p:nvPr/>
        </p:nvSpPr>
        <p:spPr>
          <a:xfrm>
            <a:off x="8276336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31600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0968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Peluang Karir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60968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Profesi baru
lulusan Fapet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600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Rounded Rectangle 43"/>
          <p:cNvSpPr/>
          <p:nvPr/>
        </p:nvSpPr>
        <p:spPr>
          <a:xfrm>
            <a:off x="211328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211328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6592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960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Telegram Bot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5960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HP = Dashboard
kandang 24 jam!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1328" y="5531104"/>
            <a:ext cx="868680" cy="22860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0" name="TextBox 49"/>
          <p:cNvSpPr txBox="1"/>
          <p:nvPr/>
        </p:nvSpPr>
        <p:spPr>
          <a:xfrm>
            <a:off x="211328" y="5540248"/>
            <a:ext cx="8503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82828"/>
                </a:solidFill>
                <a:latin typeface="Calibri"/>
              </a:rPr>
              <a:t>✨ BARU!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34104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Rounded Rectangle 51"/>
          <p:cNvSpPr/>
          <p:nvPr/>
        </p:nvSpPr>
        <p:spPr>
          <a:xfrm>
            <a:off x="4243832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3" name="TextBox 52"/>
          <p:cNvSpPr txBox="1"/>
          <p:nvPr/>
        </p:nvSpPr>
        <p:spPr>
          <a:xfrm>
            <a:off x="4243832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9096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8464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Praktikum Wokwi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28464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Simulasi IoT
tanpa hardware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43832" y="5531104"/>
            <a:ext cx="868680" cy="22860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8" name="TextBox 57"/>
          <p:cNvSpPr txBox="1"/>
          <p:nvPr/>
        </p:nvSpPr>
        <p:spPr>
          <a:xfrm>
            <a:off x="4243832" y="5540248"/>
            <a:ext cx="8503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82828"/>
                </a:solidFill>
                <a:latin typeface="Calibri"/>
              </a:rPr>
              <a:t>✨ BARU!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66608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Rounded Rectangle 59"/>
          <p:cNvSpPr/>
          <p:nvPr/>
        </p:nvSpPr>
        <p:spPr>
          <a:xfrm>
            <a:off x="8276336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1" name="TextBox 60"/>
          <p:cNvSpPr txBox="1"/>
          <p:nvPr/>
        </p:nvSpPr>
        <p:spPr>
          <a:xfrm>
            <a:off x="8276336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31600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60968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Kesimpulan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60968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Poin penting &amp;
langkah selanjutnya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65"/>
          <p:cNvSpPr txBox="1"/>
          <p:nvPr/>
        </p:nvSpPr>
        <p:spPr>
          <a:xfrm>
            <a:off x="457200" y="6519672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F14"/>
                </a:solidFill>
                <a:latin typeface="Calibri"/>
              </a:rPr>
              <a:t>📊 Total: 22 Slide  |  🧪 Termasuk Wokwi Simulator  |  📱 Termasuk Telegram Bot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01 |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Penting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Apakah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Mahasiswa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Peternakan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Harus Bisa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Segoe UI Emoji"/>
              </a:rPr>
              <a:t>❌  Mitos yang 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12064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jago</a:t>
            </a:r>
            <a:r>
              <a:rPr dirty="0">
                <a:solidFill>
                  <a:srgbClr val="F5F5F0"/>
                </a:solidFill>
                <a:latin typeface="Calibri"/>
              </a:rPr>
              <a:t> coding program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komputer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rumit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mengerti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elektronika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menyolder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membuat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merakit</a:t>
            </a:r>
            <a:r>
              <a:rPr dirty="0">
                <a:solidFill>
                  <a:srgbClr val="F5F5F0"/>
                </a:solidFill>
                <a:latin typeface="Calibri"/>
              </a:rPr>
              <a:t> sensor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nol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Hanya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anak</a:t>
            </a:r>
            <a:r>
              <a:rPr dirty="0">
                <a:solidFill>
                  <a:srgbClr val="F5F5F0"/>
                </a:solidFill>
                <a:latin typeface="Calibri"/>
              </a:rPr>
              <a:t> Teknik Elektro/IT yang </a:t>
            </a:r>
            <a:r>
              <a:rPr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memakai</a:t>
            </a:r>
            <a:r>
              <a:rPr dirty="0">
                <a:solidFill>
                  <a:srgbClr val="F5F5F0"/>
                </a:solidFill>
                <a:latin typeface="Calibri"/>
              </a:rPr>
              <a:t> IoT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Mengoperasikan</a:t>
            </a:r>
            <a:r>
              <a:rPr dirty="0">
                <a:solidFill>
                  <a:srgbClr val="F5F5F0"/>
                </a:solidFill>
                <a:latin typeface="Calibri"/>
              </a:rPr>
              <a:t> IoT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pusing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banyak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tombol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43600" cy="51663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508760"/>
            <a:ext cx="5577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Segoe UI Emoji"/>
              </a:rPr>
              <a:t>✅  Fakta Sebenarnya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7280" y="2194560"/>
            <a:ext cx="557784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IoT modern </a:t>
            </a:r>
            <a:r>
              <a:rPr dirty="0" err="1">
                <a:solidFill>
                  <a:srgbClr val="F5F5F0"/>
                </a:solidFill>
                <a:latin typeface="Calibri"/>
              </a:rPr>
              <a:t>sifatnya</a:t>
            </a:r>
            <a:r>
              <a:rPr dirty="0">
                <a:solidFill>
                  <a:srgbClr val="F5F5F0"/>
                </a:solidFill>
                <a:latin typeface="Calibri"/>
              </a:rPr>
              <a:t> 'Plug and Play' (Tinggal Pakai)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disediakan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pabrik</a:t>
            </a:r>
            <a:r>
              <a:rPr dirty="0">
                <a:solidFill>
                  <a:srgbClr val="F5F5F0"/>
                </a:solidFill>
                <a:latin typeface="Calibri"/>
              </a:rPr>
              <a:t>,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perlu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merakit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Memakainya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semudah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dirty="0">
                <a:solidFill>
                  <a:srgbClr val="F5F5F0"/>
                </a:solidFill>
                <a:latin typeface="Calibri"/>
              </a:rPr>
              <a:t> WhatsApp/TikTok di HP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Tugas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utama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adalah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memahami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membaca</a:t>
            </a:r>
            <a:r>
              <a:rPr dirty="0">
                <a:solidFill>
                  <a:srgbClr val="F5F5F0"/>
                </a:solidFill>
                <a:latin typeface="Calibri"/>
              </a:rPr>
              <a:t> data di HP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Anak IT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membuat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alatnya</a:t>
            </a:r>
            <a:r>
              <a:rPr dirty="0">
                <a:solidFill>
                  <a:srgbClr val="F5F5F0"/>
                </a:solidFill>
                <a:latin typeface="Calibri"/>
              </a:rPr>
              <a:t>,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Peternakan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menggunakannya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untuk</a:t>
            </a:r>
            <a:r>
              <a:rPr dirty="0">
                <a:solidFill>
                  <a:srgbClr val="F5F5F0"/>
                </a:solidFill>
                <a:latin typeface="Calibri"/>
              </a:rPr>
              <a:t> profit!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02  |  Apa itu IoT?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11521440" cy="13716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A623"/>
                </a:solidFill>
                <a:latin typeface="Calibri"/>
              </a:rPr>
              <a:t>IoT = Internet of Things  ( "Internet dari Benda-Benda"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1106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 err="1">
                <a:solidFill>
                  <a:srgbClr val="F5F5F0"/>
                </a:solidFill>
                <a:latin typeface="Calibri"/>
              </a:rPr>
              <a:t>Teknologi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memasang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sensor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pintar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pada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fisik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(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seperti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kalung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tempat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)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sehingga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tersebut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data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kamu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lewat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8036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562E"/>
                </a:solidFill>
                <a:latin typeface="Calibri"/>
              </a:rPr>
              <a:t>Analogi Termometer Kandang Sapi: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Termometer Tradisional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Peternak harus jalan ke
kandang, melihat angka,
lalu mencatat manual di kertas.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16052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Termometer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Sensor kirim data suhu otomatis
lewat internet ke server/HP kamu
setiap 5 menit sekali.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00100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Keuntungan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F5F5F0"/>
                </a:solidFill>
                <a:latin typeface="Calibri"/>
              </a:rPr>
              <a:t>Kamu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pantau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lewat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rumah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kuliah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mana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saja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5072" y="4572000"/>
            <a:ext cx="2560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4572000"/>
            <a:ext cx="2560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 Emoji"/>
              </a:rPr>
              <a:t>💡  Benda Biasa  +  Sensor Pintar  +  Koneksi Internet  =  Benda 'Pintar' Pelapor Data!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02 | Bagaimana Alur Kerja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FBF73"/>
                </a:solidFill>
                <a:latin typeface="Calibri"/>
              </a:rPr>
              <a:t>Alur data bekerja otomatis tanpa perlu campur tangan peternak setiap saat: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5A623"/>
                </a:solidFill>
                <a:latin typeface="Calibri"/>
              </a:rPr>
              <a:t>1. SENSOR
(</a:t>
            </a:r>
            <a:r>
              <a:rPr sz="2000" b="1" i="0" dirty="0" err="1">
                <a:solidFill>
                  <a:srgbClr val="F5A623"/>
                </a:solidFill>
                <a:latin typeface="Calibri"/>
              </a:rPr>
              <a:t>Mengukur</a:t>
            </a:r>
            <a:r>
              <a:rPr sz="2000" b="1" i="0" dirty="0">
                <a:solidFill>
                  <a:srgbClr val="F5A623"/>
                </a:solidFill>
                <a:latin typeface="Calibri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11480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di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Contoh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mengukur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udara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detak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3136392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2. KONEKSI
(Mengirim)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3273552" y="3593592"/>
            <a:ext cx="2514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Mengirimkan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Wi-Fi,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kartu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SIM
4G/5G,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gelombang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LoRa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internet.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98464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5998464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☁️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3. CLOUD / SERVER
(Mengolah)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6135624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Pusat penyimpanan pintar.
Data disimpan, dianalisis,
dan disiapkan untuk dikirim
ke smartphone.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0536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8860536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4. APLIKASI / HP
(Menampilkan)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34856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8997696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Tampilan untuk peternak.
Memunculkan data, grafik,
dan notifikasi bahaya secara
langsung di HP.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 Emoji"/>
              </a:rPr>
              <a:t>Sensor (Kandang)  →  Sinyal (Kirim)  →  Server (Simpan)  →  HP Peternak (Baca) 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03  |  IoT di Kehidupan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1B562E"/>
                </a:solidFill>
                <a:latin typeface="Calibri"/>
              </a:rPr>
              <a:t>Kalian kemungkinan besar sudah menggunakan IoT tanpa menyadarinya: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Smartwatch / Jam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Mendeteksi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denyut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langkah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kaki,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kemudian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laporannya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1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4233671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1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Lampu Pintar (Smart Bulb)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399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Lampu kamar yang bisa dimatikan lewat HP
atau menyala otomatis saat jam 6 sore.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2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147302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2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Aplikasi Cuaca di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0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real-time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ribuan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cuaca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luar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ruangan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untuk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 Anda.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320040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dirty="0">
                <a:solidFill>
                  <a:srgbClr val="FFFFFF"/>
                </a:solidFill>
                <a:latin typeface="Segoe UI Emoji"/>
              </a:rPr>
              <a:t>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Pelacak GPS Kendaraan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Mengirimkan koordinat lokasi motor/mobil
sehingga Anda bisa melacaknya dari jauh.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3671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4233671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1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Pelacak Kurir 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399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Melihat lokasi kurir Shopee/Gojek secara
real-time bergerak mendekati rumah.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2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147302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2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Pompa Air Otomatis Rumah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0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5F5F0"/>
                </a:solidFill>
                <a:latin typeface="Calibri"/>
              </a:rPr>
              <a:t>Tandon air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mati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penuh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dan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hidup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04 |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Perbandingan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Peternakan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Tradisional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vs Smart Farming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4068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Calibri"/>
              </a:rPr>
              <a:t>❌  Cara Tradisional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0749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Cek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setiap</a:t>
            </a:r>
            <a:r>
              <a:rPr dirty="0">
                <a:solidFill>
                  <a:srgbClr val="F5F5F0"/>
                </a:solidFill>
                <a:latin typeface="Calibri"/>
              </a:rPr>
              <a:t> jam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secara</a:t>
            </a:r>
            <a:r>
              <a:rPr dirty="0">
                <a:solidFill>
                  <a:srgbClr val="F5F5F0"/>
                </a:solidFill>
                <a:latin typeface="Calibri"/>
              </a:rPr>
              <a:t> manual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Penyakit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terdeteksi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setelah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parah</a:t>
            </a:r>
            <a:r>
              <a:rPr dirty="0">
                <a:solidFill>
                  <a:srgbClr val="F5F5F0"/>
                </a:solidFill>
                <a:latin typeface="Calibri"/>
              </a:rPr>
              <a:t> /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mati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Hewan </a:t>
            </a:r>
            <a:r>
              <a:rPr dirty="0" err="1">
                <a:solidFill>
                  <a:srgbClr val="F5F5F0"/>
                </a:solidFill>
                <a:latin typeface="Calibri"/>
              </a:rPr>
              <a:t>lepas</a:t>
            </a:r>
            <a:r>
              <a:rPr dirty="0">
                <a:solidFill>
                  <a:srgbClr val="F5F5F0"/>
                </a:solidFill>
                <a:latin typeface="Calibri"/>
              </a:rPr>
              <a:t> /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dicuri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ketahuan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langsung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Pakan &amp; air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karena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lupa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cek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Mencatat</a:t>
            </a:r>
            <a:r>
              <a:rPr dirty="0">
                <a:solidFill>
                  <a:srgbClr val="F5F5F0"/>
                </a:solidFill>
                <a:latin typeface="Calibri"/>
              </a:rPr>
              <a:t> data </a:t>
            </a:r>
            <a:r>
              <a:rPr dirty="0" err="1">
                <a:solidFill>
                  <a:srgbClr val="F5F5F0"/>
                </a:solidFill>
                <a:latin typeface="Calibri"/>
              </a:rPr>
              <a:t>bobot</a:t>
            </a:r>
            <a:r>
              <a:rPr dirty="0">
                <a:solidFill>
                  <a:srgbClr val="F5F5F0"/>
                </a:solidFill>
                <a:latin typeface="Calibri"/>
              </a:rPr>
              <a:t>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buku</a:t>
            </a:r>
            <a:r>
              <a:rPr dirty="0">
                <a:solidFill>
                  <a:srgbClr val="F5F5F0"/>
                </a:solidFill>
                <a:latin typeface="Calibri"/>
              </a:rPr>
              <a:t> (</a:t>
            </a:r>
            <a:r>
              <a:rPr dirty="0" err="1">
                <a:solidFill>
                  <a:srgbClr val="F5F5F0"/>
                </a:solidFill>
                <a:latin typeface="Calibri"/>
              </a:rPr>
              <a:t>mudah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robek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hilang</a:t>
            </a:r>
            <a:r>
              <a:rPr dirty="0">
                <a:solidFill>
                  <a:srgbClr val="F5F5F0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Keputusan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berdasarkan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intuisi</a:t>
            </a:r>
            <a:r>
              <a:rPr dirty="0">
                <a:solidFill>
                  <a:srgbClr val="F5F5F0"/>
                </a:solidFill>
                <a:latin typeface="Calibri"/>
              </a:rPr>
              <a:t>/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perkiraan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Risiko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kematian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tinggi</a:t>
            </a:r>
            <a:r>
              <a:rPr dirty="0">
                <a:solidFill>
                  <a:srgbClr val="F5F5F0"/>
                </a:solidFill>
                <a:latin typeface="Calibri"/>
              </a:rPr>
              <a:t>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musim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pancaroba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Calibri"/>
              </a:rPr>
              <a:t>✅  Dengan IoT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562356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terpantau</a:t>
            </a:r>
            <a:r>
              <a:rPr dirty="0">
                <a:solidFill>
                  <a:srgbClr val="F5F5F0"/>
                </a:solidFill>
                <a:latin typeface="Calibri"/>
              </a:rPr>
              <a:t> 24/7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layar</a:t>
            </a:r>
            <a:r>
              <a:rPr dirty="0">
                <a:solidFill>
                  <a:srgbClr val="F5F5F0"/>
                </a:solidFill>
                <a:latin typeface="Calibri"/>
              </a:rPr>
              <a:t> HP Anda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detak</a:t>
            </a:r>
            <a:r>
              <a:rPr dirty="0">
                <a:solidFill>
                  <a:srgbClr val="F5F5F0"/>
                </a:solidFill>
                <a:latin typeface="Calibri"/>
              </a:rPr>
              <a:t> abnormal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kirim</a:t>
            </a:r>
            <a:r>
              <a:rPr dirty="0">
                <a:solidFill>
                  <a:srgbClr val="F5F5F0"/>
                </a:solidFill>
                <a:latin typeface="Calibri"/>
              </a:rPr>
              <a:t> alert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dini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GPS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mendeteksi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keluar</a:t>
            </a:r>
            <a:r>
              <a:rPr dirty="0">
                <a:solidFill>
                  <a:srgbClr val="F5F5F0"/>
                </a:solidFill>
                <a:latin typeface="Calibri"/>
              </a:rPr>
              <a:t> batas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pagar</a:t>
            </a:r>
            <a:r>
              <a:rPr dirty="0">
                <a:solidFill>
                  <a:srgbClr val="F5F5F0"/>
                </a:solidFill>
                <a:latin typeface="Calibri"/>
              </a:rPr>
              <a:t> virtual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Dispenser air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mengisi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habis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Timbangan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rekam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harian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server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Manajemen</a:t>
            </a:r>
            <a:r>
              <a:rPr dirty="0">
                <a:solidFill>
                  <a:srgbClr val="F5F5F0"/>
                </a:solidFill>
                <a:latin typeface="Calibri"/>
              </a:rPr>
              <a:t> farm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presisi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berdasarkan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grafik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riwayat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Respons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kilat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mengurangi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kerugian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finansial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05  |  6 Aplikasi IoT Paling Populer di Peternakan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Smart Thermostat Kandang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Sensor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menghidupkan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kipas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blow-up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melewati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30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derajat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Celsius.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🏷️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Ear-Tag / Kalung Ternak Pintar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1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Tag di telinga/leher mendeteksi gerakan ruminasi,
detak jantung, &amp; mendeteksi masa berahi sapi.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🍽️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6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Automatic Feeder (Pakan Pintar)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4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Alat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menimbang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wadah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dan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menuangkan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baru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sesuai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jadwal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porsi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274320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Pagar Virtual (Geofencing)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GPS pada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mengirimkan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alarm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menyeberang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keluar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batas area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169663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Smart Milking (Perah Otomatis)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1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Mendeteksi volume, warna, &amp; kualitas susu sapi
secara otomatis saat sapi sedang diperah.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8065006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6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5A623"/>
                </a:solidFill>
                <a:latin typeface="Calibri"/>
              </a:rPr>
              <a:t>Automatic Water Tank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4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Memonitor sisa volume air minum di bak kandang
dan menyalakan pompa air secara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06 | Kasus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Nyata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Kaltim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Melacak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Sapi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Bali (SISKA) via GPS Collar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7772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Segoe UI Emoji"/>
              </a:rPr>
              <a:t>🌴  Skenario: Integrasi Sapi di Kebun Kelapa Sawit (SISKA) Kutai Kartanegara / Paser Kaltim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274320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📍 Masalah Utama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33832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Bali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dilepasliarkan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sawit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luasnya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ratusan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hektar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.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kesulitan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mencari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posisi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sore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hari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terjadi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pencurian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dan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masuk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orang 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5" y="4114800"/>
            <a:ext cx="109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39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4206239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📡 Solusi IoT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9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4389119" y="3246120"/>
            <a:ext cx="33832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F5F5F0"/>
                </a:solidFill>
                <a:latin typeface="Calibri"/>
              </a:rPr>
              <a:t>Sapi dipasangi kalung GPS tahan air (solar powered). Peternak membuat 'pagar virtual' (Geofencing) lewat aplikasi HP. Jika sapi ditarik pencuri keluar kebun sawit, HP peternak akan berbunyi keras.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4" y="4114800"/>
            <a:ext cx="109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8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138158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📊 Hasil Nyata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18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8321038" y="3246120"/>
            <a:ext cx="33832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F5F5F0"/>
                </a:solidFill>
                <a:latin typeface="Calibri"/>
              </a:rPr>
              <a:t>Waktu pencarian sapi berkurang dari 3 jam menjadi 10 menit saja lewat panduan peta GPS di HP. Angka kehilangan ternak turun menjadi 0% dan produktivitas sapi terpantau stabil.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💡 Peternak Cukup Memantau Lewat HP Sambil Mengerjakan Hal Lain — Sangat Hemat Waktu &amp; Tenaga!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06  |  Dampak Penerapan IoT di Peternakan — Data Global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📉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Penurunan Kematian Ternak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Kematian pedet/anak sapi berkurang berkat sensor suhu kandang &amp; alarm dini.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📈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3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Kenaikan Produksi Susu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3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Hasil perahan sapi perah meningkat berkat monitoring pakan presisi otomatis.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💰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6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Efisiensi Pakan (FCR)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6" y="2953512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Mengurangi pakan tercecer &amp; terbuang sia-sia dengan tempat pakan pintar.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274320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⏱️ 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Menghemat Waktu Kerja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Peternak tidak perlu keliling kandang berjam-jam untuk pengecekan rutin harian.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169663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🌍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3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Investasi Smart Farm Naik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3" y="5404104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Semua perusahaan peternakan besar di dunia mulai bermigrasi penuh ke IoT.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065006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🇮🇩 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6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Peluang Kaltim / IKN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6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Sebagai penyangga pangan IKN, Kaltim dituntut memproduksi ternak dengan cepat.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07 | Apa Saja Tantangan IoT &amp; Bagaimana Solusinya?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Koneksi Internet Minim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Banyak kebun sawit/lahan gembala
di Kaltim belum memiliki sinyal 4G.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384048" y="2990088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Pakai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sinyal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LoRa (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alat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khusus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yang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memancar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sinyal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sendiri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s/d 10 km).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417320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4169663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3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Biaya Investasi Awal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1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Harga sensor pintar impor dinilai
terlalu mahal untuk peternak kecil.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3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4279391" y="2990088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Beli secara kelompok/koperasi,
mulai dari 1 sensor utama di kandang.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6" y="1417319"/>
            <a:ext cx="3749039" cy="2403765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065006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6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Gagap Teknologi (Gaptek)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4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Peternak senior kesulitan memakai
aplikasi di HP pintar.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6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174734" y="2990088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Mahasiswa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UNMUL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mendampingi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&amp;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aplikasi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dibuat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sangat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sederhana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274320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Ketiadaan Listrik PLN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Kandang di tengah kebun sawit tidak
punya colokan listrik.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384048" y="5486400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Perangkat memakai baterai awet
atau solar panel mini bertenaga matahari.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9663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4169663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3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Kondisi Kandang Kotor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Udara kandang lembab, penuh debu,
dan berisiko terinjak kaki sapi.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3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279391" y="5486400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Pasang sensor di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tempat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tinggi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dan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pilih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casing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standar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IP67 waterproof.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6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7" name="TextBox 36"/>
          <p:cNvSpPr txBox="1"/>
          <p:nvPr/>
        </p:nvSpPr>
        <p:spPr>
          <a:xfrm>
            <a:off x="8065006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6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Pencurian Alat IoT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4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Sensor yang terpasang di sapi
berisiko dilepas/dicuri orang.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6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174734" y="5486400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Pasang sensor tersembunyi
yang mengirim alarm jika dilepas paksa.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07  |  Glosarium — Kamus Singkat Istilah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347472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347472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fisik untuk mengukur kondisi lapangan (seperti termometer suhu kandang).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6172200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Aktuator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untuk melakukan tindakan fisik (seperti pompa air otomatis menyala).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ounded Rectangle 14"/>
          <p:cNvSpPr/>
          <p:nvPr/>
        </p:nvSpPr>
        <p:spPr>
          <a:xfrm>
            <a:off x="347472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Jembatan/alat penghubung yang mengirim data dari kandang ke internet.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ounded Rectangle 18"/>
          <p:cNvSpPr/>
          <p:nvPr/>
        </p:nvSpPr>
        <p:spPr>
          <a:xfrm>
            <a:off x="6172200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172200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Gudang penyimpanan data raksasa di internet, bisa diakses dari mana saja.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347472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347472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Layar utama aplikasi HP Anda yang menyajikan semua data angka &amp; grafik.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ounded Rectangle 26"/>
          <p:cNvSpPr/>
          <p:nvPr/>
        </p:nvSpPr>
        <p:spPr>
          <a:xfrm>
            <a:off x="6172200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6172200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Pengiriman data detik ini juga (langsung tanpa ditunda-tunda).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ounded Rectangle 30"/>
          <p:cNvSpPr/>
          <p:nvPr/>
        </p:nvSpPr>
        <p:spPr>
          <a:xfrm>
            <a:off x="347472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347472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Alert / Notif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7088" y="4151376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Peringatan darurat yang masuk ke HP Anda (seperti alarm maling/sapi sakit).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ounded Rectangle 34"/>
          <p:cNvSpPr/>
          <p:nvPr/>
        </p:nvSpPr>
        <p:spPr>
          <a:xfrm>
            <a:off x="6172200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6172200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LoRa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6" y="4151376"/>
            <a:ext cx="3931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Teknologi pemancar sinyal jarak jauh tanpa internet, sangat cocok untuk kebun sawit Kaltim.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Rounded Rectangle 38"/>
          <p:cNvSpPr/>
          <p:nvPr/>
        </p:nvSpPr>
        <p:spPr>
          <a:xfrm>
            <a:off x="347472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47472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IP67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7088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Sertifikasi ketahanan alat (artinya alat ini 100% tahan air hujan &amp; debu kandang).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Rounded Rectangle 42"/>
          <p:cNvSpPr/>
          <p:nvPr/>
        </p:nvSpPr>
        <p:spPr>
          <a:xfrm>
            <a:off x="6172200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6172200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Plug &amp; 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yang tinggal colok dan langsung menyala tanpa perlu diprogram coding lagi.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🎯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Kuis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Interaktif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Mana yang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Menggunakan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Teknologi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FBF73"/>
                </a:solidFill>
                <a:latin typeface="Calibri"/>
              </a:rPr>
              <a:t>Diskusikan bersama dosen &amp; teman kelas Anda, mana yang masuk kategori IoT: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Lampu Kandang Otomatis Sensor Cahaya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383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Lampu menyala jika langit gelap menggunakan sensor fotoelektrik mekanik biasa di lampu.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6FBF73"/>
                </a:solidFill>
                <a:latin typeface="Calibri"/>
              </a:rPr>
              <a:t>Jawaban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: </a:t>
            </a:r>
            <a:r>
              <a:rPr sz="2000" b="1" i="0" dirty="0" err="1">
                <a:solidFill>
                  <a:srgbClr val="6FBF73"/>
                </a:solidFill>
                <a:latin typeface="Calibri"/>
              </a:rPr>
              <a:t>Bukan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 IoT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 err="1">
                <a:solidFill>
                  <a:srgbClr val="F5F5F0"/>
                </a:solidFill>
                <a:latin typeface="Calibri"/>
              </a:rPr>
              <a:t>Sebab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data sensor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cahaya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dikirim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internet / HP Anda.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39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ed Rectangle 16"/>
          <p:cNvSpPr/>
          <p:nvPr/>
        </p:nvSpPr>
        <p:spPr>
          <a:xfrm>
            <a:off x="4389119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4389119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Kamera Kandang Kirim Foto ke HP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Kamera mendeteksi sapi melahirkan → mengirim foto alert secara otomatis ke WhatsApp Anda.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389119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Jawaban: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5413248"/>
            <a:ext cx="32918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Sebab ada proses sensor (kamera), koneksi internet, &amp; pengiriman data ke HP.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8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ounded Rectangle 25"/>
          <p:cNvSpPr/>
          <p:nvPr/>
        </p:nvSpPr>
        <p:spPr>
          <a:xfrm>
            <a:off x="8321038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8321038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Bak Air dengan Kran Pelampung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8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8321038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Bak minum sapi terisi sendiri menggunakan pelampung bola plastik (jika air turun, kran terbuka).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38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8321038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8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Sifatnya mekanik biasa. Anda tidak bisa mengecek sisa air dari layar HP.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6473952"/>
            <a:ext cx="11612880" cy="320040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57200" y="6501384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💬 Tips Dosen: IoT wajib memiliki unsur SENSOR + KONEKSI INTERNET + DATA DI LAYAR HP/KOMPUTER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3" grpId="0"/>
      <p:bldP spid="24" grpId="0"/>
      <p:bldP spid="32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08  |  Peluang Karir Lulusan Peternakan di Era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🎯  Profesi Baru Sarjana Peternakan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355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Konsultan</a:t>
            </a:r>
            <a:r>
              <a:rPr dirty="0">
                <a:solidFill>
                  <a:srgbClr val="F5F5F0"/>
                </a:solidFill>
                <a:latin typeface="Segoe UI Emoji"/>
              </a:rPr>
              <a:t> Smart Farming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membantu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pasang IoT)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Analis Data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membaca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produktivitas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dari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sensor)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Manajer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Presisi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mengelola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berbasis</a:t>
            </a:r>
            <a:r>
              <a:rPr dirty="0">
                <a:solidFill>
                  <a:srgbClr val="F5F5F0"/>
                </a:solidFill>
                <a:latin typeface="Segoe UI Emoji"/>
              </a:rPr>
              <a:t> data)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Spesialis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Nutrisi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Digital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pemberian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otomatis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Pendiri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Startup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AgriTech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membangun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solusi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Penyuluh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Modern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mengedukasi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petani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desa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Dosen &amp;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Peneliti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mengembangkan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teknologi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lokal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Kaltim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🚀  Teknologi Masa Depan Peternakan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14884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Drone Penggembala Sapi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1460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Drone terbang memantau kawanan sapi potong
di padang rumput tanpa perlu berkuda.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5468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126480" y="324612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4612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Kamera AI Pendeteksi Sakit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1188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Kamera memindai wajah &amp; jalan sapi untuk
mendeteksi sapi pincang / sakit otomatis.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5196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126480" y="434340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4340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Smart Agro-Silvopasture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0916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Integrasi kandang, pakan sawit, &amp; limbah
yang dipantau otomatis lewat satu layar.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4924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6126480" y="544068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44068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Satelit GPS Ternak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80644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Pelacakan sapi skala besar menggunakan sinyal
satelit langsung, tak tergantung menara 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08 | Bagaimana Cara Kita Memulai Belajar?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6FBF73"/>
                </a:solidFill>
                <a:latin typeface="Calibri"/>
              </a:rPr>
              <a:t>Langkah mudah yang bisa dilakukan mahasiswa Fapet UNMUL sekarang: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7432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Pelajari Teori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25694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Cari video di YouTube
tentang smart farming.
Pahami konsep, bukan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4231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FBF73"/>
                </a:solidFill>
                <a:latin typeface="Calibri"/>
              </a:rPr>
              <a:t>🔍 Kata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kunci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pencarian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:
</a:t>
            </a:r>
            <a:r>
              <a:rPr lang="id-ID" sz="1600" b="0" i="0" dirty="0">
                <a:solidFill>
                  <a:srgbClr val="6FBF73"/>
                </a:solidFill>
                <a:latin typeface="Calibri"/>
              </a:rPr>
              <a:t>• 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'Smart Farming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Sawit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Kaltim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
• 'Internet of Things Livestock'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15468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Pakai Aplikasi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326440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Unduh aplikasi rekam data
ternak gratis di Play Store
atau pakai Google Sheets.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333756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FBF73"/>
                </a:solidFill>
                <a:latin typeface="Calibri"/>
              </a:rPr>
              <a:t>📱 Aplikasi disarankan:
• iCow (manajemen sapi)
• Google Sheets (catat bobot)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03504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3️⃣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Kolaborasi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/>
          <p:cNvSpPr txBox="1"/>
          <p:nvPr/>
        </p:nvSpPr>
        <p:spPr>
          <a:xfrm>
            <a:off x="614476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Cari teman Fakultas Teknik/
Fasilkomti UNMUL untuk
membuat tugas akhir.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FBF73"/>
                </a:solidFill>
                <a:latin typeface="Calibri"/>
              </a:rPr>
              <a:t>🤝 Pembagian Tugas:
• Anak Teknik: merakit alat
• Anak Fapet: memimpin riset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891540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4️⃣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Tugas Akhir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902512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Gunakan topik IoT sebagai
tema proposal penelitian
atau judul skripsi Anda.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FBF73"/>
                </a:solidFill>
                <a:latin typeface="Calibri"/>
              </a:rPr>
              <a:t>📝 Ide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Judul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Skripsi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:
• '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Pengaruh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Monitor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Suhu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IoT</a:t>
            </a:r>
            <a:r>
              <a:rPr lang="en-US" sz="160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Terhadap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Produktivitas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Sapi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📱  Monitoring via Telegram Bot — HP Kamu Jadi Dashboard Kandang!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029200" cy="521208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663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9EDA"/>
                </a:solidFill>
                <a:latin typeface="Calibri"/>
              </a:rPr>
              <a:t>🤖  Apa itu Telegram Bot?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66344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Program otomatis di dalam aplikasi Telegram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Bisa kirim pesan, foto, dan notifikasi ke HP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Dibuat gratis menggunakan @BotFather di Telegram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Tidak perlu beli server — semuanya lewat internet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ESP32 (otak IoT) terhubung ke bot via WiFi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Mahasiswa Fapet bisa memantau kandang dari mana saja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1371600"/>
            <a:ext cx="365760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5623560" y="1463040"/>
            <a:ext cx="3383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📲  Contoh Notifikasi di 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1965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5852160" y="2039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🚨 BAHAYA KRITIS!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77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: 37.2°C
SANGAT PANAS!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Segera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nyalakan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pendingin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3108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5852160" y="3182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⚠️ PERINGATAN SUHU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20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 kandang: 31.5°C
Melewati batas 30°C.
Nyalakan kipas!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4251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5852160" y="4325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✅ KANDANG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663440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Suhu: 26.8°C | Lembab: 72%
Kondisi kandang aman.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5394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5852160" y="5468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📊 Laporan Berkala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806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Suhu: 28°C | Lembab: 75%
Status: AMAN
Bacaan ke-10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81160" y="1371600"/>
            <a:ext cx="2651760" cy="5212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TextBox 24"/>
          <p:cNvSpPr txBox="1"/>
          <p:nvPr/>
        </p:nvSpPr>
        <p:spPr>
          <a:xfrm>
            <a:off x="9418320" y="1463040"/>
            <a:ext cx="2377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🌟  Manfaat
Bagi Peternak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2148840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9464040" y="2240280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240280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Pantau 24 jam
nonstop dari HP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3035808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0" name="TextBox 29"/>
          <p:cNvSpPr txBox="1"/>
          <p:nvPr/>
        </p:nvSpPr>
        <p:spPr>
          <a:xfrm>
            <a:off x="9464040" y="3127248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127248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Monitor dari
rumah/kota lain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3922776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9464040" y="4014216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014216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Alert instan
saat ada bahaya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4809744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9464040" y="4901184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901184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Hemat biaya
kunjungan kandang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5696712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9" name="TextBox 38"/>
          <p:cNvSpPr txBox="1"/>
          <p:nvPr/>
        </p:nvSpPr>
        <p:spPr>
          <a:xfrm>
            <a:off x="9464040" y="5788152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5788152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Data tercatat
otomatis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457200" y="6519672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💡  Tidak perlu coding rumit! ESP32 + 50 baris kode = kandang terpantau 24 jam via Telegram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🔧  Setup Telegram Bot — 4 Langkah Mudah (Untuk Hardware Nyata)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411480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54480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Buat Bot di Telegram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2560320" cy="257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Telegram → </a:t>
            </a:r>
            <a:r>
              <a:rPr dirty="0" err="1">
                <a:solidFill>
                  <a:srgbClr val="F5F5F0"/>
                </a:solidFill>
                <a:latin typeface="Calibri"/>
              </a:rPr>
              <a:t>cari</a:t>
            </a:r>
            <a:r>
              <a:rPr dirty="0">
                <a:solidFill>
                  <a:srgbClr val="F5F5F0"/>
                </a:solidFill>
                <a:latin typeface="Calibri"/>
              </a:rPr>
              <a:t> @BotFather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pesan</a:t>
            </a:r>
            <a:r>
              <a:rPr dirty="0">
                <a:solidFill>
                  <a:srgbClr val="F5F5F0"/>
                </a:solidFill>
                <a:latin typeface="Calibri"/>
              </a:rPr>
              <a:t>: /</a:t>
            </a:r>
            <a:r>
              <a:rPr dirty="0" err="1">
                <a:solidFill>
                  <a:srgbClr val="F5F5F0"/>
                </a:solidFill>
                <a:latin typeface="Calibri"/>
              </a:rPr>
              <a:t>newbot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Beri nama bot: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KandangSapiBot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 err="1">
                <a:solidFill>
                  <a:srgbClr val="F5F5F0"/>
                </a:solidFill>
                <a:latin typeface="Calibri"/>
              </a:rPr>
              <a:t>BotFather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memberi</a:t>
            </a:r>
            <a:r>
              <a:rPr dirty="0">
                <a:solidFill>
                  <a:srgbClr val="F5F5F0"/>
                </a:solidFill>
                <a:latin typeface="Calibri"/>
              </a:rPr>
              <a:t> TOKEN (</a:t>
            </a:r>
            <a:r>
              <a:rPr dirty="0" err="1">
                <a:solidFill>
                  <a:srgbClr val="F5F5F0"/>
                </a:solidFill>
                <a:latin typeface="Calibri"/>
              </a:rPr>
              <a:t>simpan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baik-baik</a:t>
            </a:r>
            <a:r>
              <a:rPr dirty="0">
                <a:solidFill>
                  <a:srgbClr val="F5F5F0"/>
                </a:solidFill>
                <a:latin typeface="Calibri"/>
              </a:rPr>
              <a:t>!)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75488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Token = 'kunci' bot kamu. Jangan dibagikan!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3410712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3410712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4" y="1554480"/>
            <a:ext cx="2011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Dapatkan Chat ID Kamu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432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3456432" y="2194560"/>
            <a:ext cx="2560320" cy="2854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Cari @userinfobot di Telegram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pesan</a:t>
            </a:r>
            <a:r>
              <a:rPr dirty="0">
                <a:solidFill>
                  <a:srgbClr val="F5F5F0"/>
                </a:solidFill>
                <a:latin typeface="Calibri"/>
              </a:rPr>
              <a:t> /start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tersebut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balas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Catat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</a:t>
            </a:r>
            <a:r>
              <a:rPr dirty="0">
                <a:solidFill>
                  <a:srgbClr val="F5F5F0"/>
                </a:solidFill>
                <a:latin typeface="Calibri"/>
              </a:rPr>
              <a:t> —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itulah</a:t>
            </a:r>
            <a:r>
              <a:rPr dirty="0">
                <a:solidFill>
                  <a:srgbClr val="F5F5F0"/>
                </a:solidFill>
                <a:latin typeface="Calibri"/>
              </a:rPr>
              <a:t> CHAT_ID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410712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3474720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Chat ID = 'alamat' HP kamu untuk bot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6409944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6409944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1554480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Isi Token di Kode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55664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6455664" y="2194560"/>
            <a:ext cx="256032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</a:t>
            </a:r>
            <a:r>
              <a:rPr dirty="0" err="1">
                <a:solidFill>
                  <a:srgbClr val="F5F5F0"/>
                </a:solidFill>
                <a:latin typeface="Calibri"/>
              </a:rPr>
              <a:t>sketch_telegram.ino</a:t>
            </a:r>
            <a:r>
              <a:rPr dirty="0">
                <a:solidFill>
                  <a:srgbClr val="F5F5F0"/>
                </a:solidFill>
                <a:latin typeface="Calibri"/>
              </a:rPr>
              <a:t> di Arduino IDE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Isi WIFI_SSID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nama </a:t>
            </a:r>
            <a:r>
              <a:rPr dirty="0" err="1">
                <a:solidFill>
                  <a:srgbClr val="F5F5F0"/>
                </a:solidFill>
                <a:latin typeface="Calibri"/>
              </a:rPr>
              <a:t>WiFi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id-ID" dirty="0">
                <a:solidFill>
                  <a:srgbClr val="F5F5F0"/>
                </a:solidFill>
                <a:latin typeface="Calibri"/>
              </a:rPr>
              <a:t>Isi </a:t>
            </a:r>
            <a:r>
              <a:rPr dirty="0">
                <a:solidFill>
                  <a:srgbClr val="F5F5F0"/>
                </a:solidFill>
                <a:latin typeface="Calibri"/>
              </a:rPr>
              <a:t>BOT_TOKEN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token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BotFather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Isi CHAT_ID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langkah</a:t>
            </a:r>
            <a:r>
              <a:rPr dirty="0">
                <a:solidFill>
                  <a:srgbClr val="F5F5F0"/>
                </a:solidFill>
                <a:latin typeface="Calibri"/>
              </a:rPr>
              <a:t> 02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6473952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Aktifkan baris yang dikomentari (//) di kode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72016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ounded Rectangle 34"/>
          <p:cNvSpPr/>
          <p:nvPr/>
        </p:nvSpPr>
        <p:spPr>
          <a:xfrm>
            <a:off x="9409176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9409176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8016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1554480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Upload &amp; Coba!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54896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TextBox 39"/>
          <p:cNvSpPr txBox="1"/>
          <p:nvPr/>
        </p:nvSpPr>
        <p:spPr>
          <a:xfrm>
            <a:off x="9454896" y="2194560"/>
            <a:ext cx="2560320" cy="2854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 err="1">
                <a:solidFill>
                  <a:srgbClr val="F5F5F0"/>
                </a:solidFill>
                <a:latin typeface="Calibri"/>
              </a:rPr>
              <a:t>Hubungkan</a:t>
            </a:r>
            <a:r>
              <a:rPr dirty="0">
                <a:solidFill>
                  <a:srgbClr val="F5F5F0"/>
                </a:solidFill>
                <a:latin typeface="Calibri"/>
              </a:rPr>
              <a:t> ESP32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laptop via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r>
              <a:rPr dirty="0">
                <a:solidFill>
                  <a:srgbClr val="F5F5F0"/>
                </a:solidFill>
                <a:latin typeface="Calibri"/>
              </a:rPr>
              <a:t> USB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Upload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kode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Arduino IDE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ESP32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Telegram → </a:t>
            </a:r>
            <a:r>
              <a:rPr dirty="0" err="1">
                <a:solidFill>
                  <a:srgbClr val="F5F5F0"/>
                </a:solidFill>
                <a:latin typeface="Calibri"/>
              </a:rPr>
              <a:t>cari</a:t>
            </a:r>
            <a:r>
              <a:rPr dirty="0">
                <a:solidFill>
                  <a:srgbClr val="F5F5F0"/>
                </a:solidFill>
                <a:latin typeface="Calibri"/>
              </a:rPr>
              <a:t> nama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/start →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membalas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9176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9473184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Panaskan sensor → lihat notifikasi masuk ke HP!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6455664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TextBox 43"/>
          <p:cNvSpPr txBox="1"/>
          <p:nvPr/>
        </p:nvSpPr>
        <p:spPr>
          <a:xfrm>
            <a:off x="457200" y="6483096"/>
            <a:ext cx="11247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50FA7B"/>
                </a:solidFill>
                <a:latin typeface="Courier New"/>
              </a:rPr>
              <a:t>const char* WIFI_SSID = "</a:t>
            </a:r>
            <a:r>
              <a:rPr sz="1200" b="0" i="0" dirty="0" err="1">
                <a:solidFill>
                  <a:srgbClr val="50FA7B"/>
                </a:solidFill>
                <a:latin typeface="Courier New"/>
              </a:rPr>
              <a:t>WiFiKamu</a:t>
            </a:r>
            <a:r>
              <a:rPr sz="1200" b="0" i="0" dirty="0">
                <a:solidFill>
                  <a:srgbClr val="50FA7B"/>
                </a:solidFill>
                <a:latin typeface="Courier New"/>
              </a:rPr>
              <a:t>";   const String BOT_TOKEN = "123456:ABCDEF";   const String CHAT_ID = "987654321";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50FA7B"/>
                </a:solidFill>
                <a:latin typeface="Calibri"/>
              </a:rPr>
              <a:t>🧪  Praktikum IoT: Simulasi di Wokwi (Tanpa Hardware!)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21208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50FA7B"/>
                </a:solidFill>
                <a:latin typeface="Calibri"/>
              </a:rPr>
              <a:t>🌐  Apa itu Wokwi?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84632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Simulator IoT/Arduino GRATIS berbasis browser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Tidak perlu beli hardware apapun sama sekali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Tersedia sensor, motor, layar LCD, dan LED virtual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Kode bisa ditulis &amp; dijalankan langsung di situs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Proyek bisa dibagikan via link ke teman/dosen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Dipakai oleh jutaan pelajar &amp; insinyur di seluruh dunia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Akses dari HP atau laptop — tidak perlu install apapun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217920" cy="24231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5852160" y="1463040"/>
            <a:ext cx="5852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Segoe UI Emoji"/>
              </a:rPr>
              <a:t>🎯  Kenapa Cocok untuk Mahasiswa Peternakan?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11680"/>
            <a:ext cx="585216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Tidak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perlu</a:t>
            </a:r>
            <a:r>
              <a:rPr dirty="0">
                <a:solidFill>
                  <a:srgbClr val="F5F5F0"/>
                </a:solidFill>
                <a:latin typeface="Calibri"/>
              </a:rPr>
              <a:t> modal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beli</a:t>
            </a:r>
            <a:r>
              <a:rPr dirty="0">
                <a:solidFill>
                  <a:srgbClr val="F5F5F0"/>
                </a:solidFill>
                <a:latin typeface="Calibri"/>
              </a:rPr>
              <a:t> sensor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elektronika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Bisa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dicoba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berkali</a:t>
            </a:r>
            <a:r>
              <a:rPr dirty="0">
                <a:solidFill>
                  <a:srgbClr val="F5F5F0"/>
                </a:solidFill>
                <a:latin typeface="Calibri"/>
              </a:rPr>
              <a:t>-kali </a:t>
            </a:r>
            <a:r>
              <a:rPr dirty="0" err="1">
                <a:solidFill>
                  <a:srgbClr val="F5F5F0"/>
                </a:solidFill>
                <a:latin typeface="Calibri"/>
              </a:rPr>
              <a:t>tanpa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takut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rusak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Bisa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langsung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eksperimen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ubah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nilai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</a:t>
            </a:r>
            <a:r>
              <a:rPr dirty="0" err="1">
                <a:solidFill>
                  <a:srgbClr val="F5F5F0"/>
                </a:solidFill>
                <a:latin typeface="Calibri"/>
              </a:rPr>
              <a:t>Cocok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dikerjakan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rumah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dirty="0">
                <a:solidFill>
                  <a:srgbClr val="F5F5F0"/>
                </a:solidFill>
                <a:latin typeface="Calibri"/>
              </a:rPr>
              <a:t> kos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mahasiswa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69280" y="3931920"/>
            <a:ext cx="6217920" cy="1051560"/>
          </a:xfrm>
          <a:prstGeom prst="roundRect">
            <a:avLst>
              <a:gd name="adj" fmla="val 5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5852160" y="40050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2828"/>
                </a:solidFill>
                <a:latin typeface="Calibri"/>
              </a:rPr>
              <a:t>🔗  Alamat Website: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15968"/>
            <a:ext cx="585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82828"/>
                </a:solidFill>
                <a:latin typeface="Calibri"/>
              </a:rPr>
              <a:t>wokwi.com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120640"/>
            <a:ext cx="6217920" cy="141732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5852160" y="5193792"/>
            <a:ext cx="58521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⚙️  Komponen Virtual yang Tersedia di Wokwi: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623560"/>
            <a:ext cx="585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Segoe UI Emoji"/>
              </a:rPr>
              <a:t>🌡️ Sensor Suhu DHT22    📺 Layar LCD    💡 LED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989320"/>
            <a:ext cx="585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Segoe UI Emoji"/>
              </a:rPr>
              <a:t>📍 GPS Module    🔊 Buzzer    ⚖️ Load Cell (Timbangan)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🐄  Proyek Simulasi: Monitor Suhu &amp; Kelembaban Kandang Sapi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11612880" cy="65836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Segoe UI Emoji"/>
              </a:rPr>
              <a:t>🎯  Tujuan: Membuat alat virtual yang menampilkan suhu kandang dan menyalakan lampu merah jika terlalu panas (&gt; 30°C)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320040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834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🔧  Komponen Virtual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16352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Arduino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Otak pengontrol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Sensor DHT22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Baca suhu &amp; lembab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42816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502920" y="43525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LCD 16x2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26864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Tampilkan angka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92624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502920" y="51023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065776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LED Merah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Lampu alarm panas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742432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15584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Resistor 220Ω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126480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Pengaman 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148840"/>
            <a:ext cx="493776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TextBox 31"/>
          <p:cNvSpPr txBox="1"/>
          <p:nvPr/>
        </p:nvSpPr>
        <p:spPr>
          <a:xfrm>
            <a:off x="3794760" y="224028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⚙️  Cara Kerjanya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7432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TextBox 33"/>
          <p:cNvSpPr txBox="1"/>
          <p:nvPr/>
        </p:nvSpPr>
        <p:spPr>
          <a:xfrm>
            <a:off x="3749039" y="276148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2743200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Sensor DHT22 membaca
suhu &amp; kelembaban kandang
setiap 2 detik sekali.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182112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362102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TextBox 37"/>
          <p:cNvSpPr txBox="1"/>
          <p:nvPr/>
        </p:nvSpPr>
        <p:spPr>
          <a:xfrm>
            <a:off x="3749039" y="36393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621024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Hasilnya ditampilkan
di layar LCD:
"Suhu: 33.0°C | Lembab: 75.0 %"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059936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44988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3749039" y="451713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498848"/>
            <a:ext cx="4160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Program cek:
Apakah suhu &gt; 30°C?
JIKA IYA → LED MERAH MENYALA
JIKA TIDAK → LED tetap mati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4937760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39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TextBox 45"/>
          <p:cNvSpPr txBox="1"/>
          <p:nvPr/>
        </p:nvSpPr>
        <p:spPr>
          <a:xfrm>
            <a:off x="3749039" y="539496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376672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Proses diulang terus
setiap 2 detik.
Seperti sensor kandang asli!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2148840"/>
            <a:ext cx="324612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9" name="TextBox 48"/>
          <p:cNvSpPr txBox="1"/>
          <p:nvPr/>
        </p:nvSpPr>
        <p:spPr>
          <a:xfrm>
            <a:off x="8869680" y="2240280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&lt;/&gt;  Cuplikan Kode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743200"/>
            <a:ext cx="2973891" cy="32393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Batas suhu aman kandang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BE9FD"/>
                </a:solidFill>
                <a:latin typeface="Courier New"/>
              </a:rPr>
              <a:t>#define BATAS_SUHU 30.0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8BE9FD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Baca data dari sensor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float suhu =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FB86C"/>
                </a:solidFill>
                <a:latin typeface="Courier New"/>
              </a:rPr>
              <a:t>  dht.readTemperature();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FFB86C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Cek kondisi suhu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if (suhu &gt; BATAS_SUHU)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  // Nyalakan LED alarm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F5555"/>
                </a:solidFill>
                <a:latin typeface="Courier New"/>
              </a:rPr>
              <a:t>  digitalWrite(LED,HIGH);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} else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  digitalWrite(LED,LOW);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}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F5F5F0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delay(2000); // tunggu 2 detik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TextBox 51"/>
          <p:cNvSpPr txBox="1"/>
          <p:nvPr/>
        </p:nvSpPr>
        <p:spPr>
          <a:xfrm>
            <a:off x="457200" y="6519672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Segoe UI Emoji"/>
              </a:rPr>
              <a:t>🔥  Tantangan: Ubah nilai BATAS_SUHU dari 30 menjadi 25. Lihat kapan LED alarm menyala!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50FA7B"/>
                </a:solidFill>
                <a:latin typeface="Calibri"/>
              </a:rPr>
              <a:t>📋  Cara </a:t>
            </a:r>
            <a:r>
              <a:rPr sz="2800" b="1" i="0" dirty="0" err="1">
                <a:solidFill>
                  <a:srgbClr val="50FA7B"/>
                </a:solidFill>
                <a:latin typeface="Calibri"/>
              </a:rPr>
              <a:t>Menggunakan</a:t>
            </a:r>
            <a:r>
              <a:rPr sz="2800" b="1" i="0" dirty="0">
                <a:solidFill>
                  <a:srgbClr val="50FA7B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50FA7B"/>
                </a:solidFill>
                <a:latin typeface="Calibri"/>
              </a:rPr>
              <a:t>Wokwi</a:t>
            </a:r>
            <a:r>
              <a:rPr sz="2800" b="1" i="0" dirty="0">
                <a:solidFill>
                  <a:srgbClr val="50FA7B"/>
                </a:solidFill>
                <a:latin typeface="Calibri"/>
              </a:rPr>
              <a:t> — Panduan Langkah Demi Langkah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Buka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2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Buka Google Chrome / Firefox di
laptop atau HP kamu.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Tidak perlu install aplikasi apapun!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438912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438912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Kunjungi Wokwi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4434840" y="21488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Ketik di address bar browser:
wokwi.com
lalu tekan Enter.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443484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Gratis, tidak perlu daftar!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836676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Buat Proyek Baru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'New Project'
lalu pilih 'Arduino Uno'
sebagai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841248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Editor kode akan terbuka.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ounded Rectangle 34"/>
          <p:cNvSpPr/>
          <p:nvPr/>
        </p:nvSpPr>
        <p:spPr>
          <a:xfrm>
            <a:off x="41148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41148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Tempel Kode Program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TextBox 39"/>
          <p:cNvSpPr txBox="1"/>
          <p:nvPr/>
        </p:nvSpPr>
        <p:spPr>
          <a:xfrm>
            <a:off x="45720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Pilih semua teks di tab sketch.ino
(Ctrl+A), hapus, lalu tempel
kode yang diberikan dosen.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45720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File kode ada di folder praktikum.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Rounded Rectangle 43"/>
          <p:cNvSpPr/>
          <p:nvPr/>
        </p:nvSpPr>
        <p:spPr>
          <a:xfrm>
            <a:off x="438912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438912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Tempel Rangkaian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484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9" name="TextBox 48"/>
          <p:cNvSpPr txBox="1"/>
          <p:nvPr/>
        </p:nvSpPr>
        <p:spPr>
          <a:xfrm>
            <a:off x="443484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tab diagram.json, pilih
semua (Ctrl+A), hapus, lalu
tempel isi diagram.json dari dosen.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1" name="TextBox 50"/>
          <p:cNvSpPr txBox="1"/>
          <p:nvPr/>
        </p:nvSpPr>
        <p:spPr>
          <a:xfrm>
            <a:off x="443484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Komponen virtual akan muncul!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3" name="Rounded Rectangle 52"/>
          <p:cNvSpPr/>
          <p:nvPr/>
        </p:nvSpPr>
        <p:spPr>
          <a:xfrm>
            <a:off x="836676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TextBox 53"/>
          <p:cNvSpPr txBox="1"/>
          <p:nvPr/>
        </p:nvSpPr>
        <p:spPr>
          <a:xfrm>
            <a:off x="836676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Jalankan &amp; Eksplorasi!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8" name="TextBox 57"/>
          <p:cNvSpPr txBox="1"/>
          <p:nvPr/>
        </p:nvSpPr>
        <p:spPr>
          <a:xfrm>
            <a:off x="841248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tombol ▶ (Play hijau) di
pojok atas. Tunggu loading,
lalu lihat LCD dan LED virtual!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TextBox 59"/>
          <p:cNvSpPr txBox="1"/>
          <p:nvPr/>
        </p:nvSpPr>
        <p:spPr>
          <a:xfrm>
            <a:off x="841248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Klik DHT22 → ubah suhu → lihat hasil!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473952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457200" y="6501384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Segoe UI Emoji"/>
              </a:rPr>
              <a:t>🌐  Mulai sekarang di: wokwi.com   |   File kode: sketch.ino &amp; diagram.json (dari dosen)   |   Tidak perlu daftar!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💡  Kesimpulan Materi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384048" y="1691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IoT Bukan untuk Programmer Saja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IoT adalah alat bantu peternak. Kita tidak perlu bisa membuat, kita hanya perlu tahu cara menggunakannya.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697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384048" y="2834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07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Efisiensi Meningkat Pesat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Monitor suhu kandang, pemberian pakan presisi, &amp; pelacakan ternak terbukti memotong biaya operasional hingga 30%.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384048" y="3977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0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Kaltim Punya Peluang 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IKN membutuhkan pasokan daging sapi berkualitas tinggi. Integrasi sapi sawit (SISKA) berbasis IoT adalah solusi terbaik.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983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384048" y="5120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93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Kunci Sukses: Kolaborasi Multidisiplin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04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Bekerjasamalah dengan anak IT/Elektro UNMUL. Kolaborasi melahirkan inovasi peternakan bernilai tinggi.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4114800" cy="41148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Oval 3"/>
          <p:cNvSpPr/>
          <p:nvPr/>
        </p:nvSpPr>
        <p:spPr>
          <a:xfrm>
            <a:off x="8988552" y="3474720"/>
            <a:ext cx="3200400" cy="3200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5349240" y="685800"/>
            <a:ext cx="1463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Terima Kasih!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>
                <a:solidFill>
                  <a:srgbClr val="6FBF73"/>
                </a:solidFill>
                <a:latin typeface="Calibri"/>
              </a:rPr>
              <a:t>"Peternak masa depan bukan lagi mereka yang hanya memegang cangkul dan arit,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>
                <a:solidFill>
                  <a:srgbClr val="6FBF73"/>
                </a:solidFill>
                <a:latin typeface="Calibri"/>
              </a:rPr>
              <a:t>tapi mereka yang mengendalikan kesehatan ternak dari genggaman jempolnya!"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49039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A623"/>
                </a:solidFill>
                <a:latin typeface="Segoe UI Emoji"/>
              </a:rPr>
              <a:t>❓  Ada Pertanyaan?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F5F0"/>
                </a:solidFill>
                <a:latin typeface="Calibri"/>
              </a:rPr>
              <a:t>Mari Kita Mulai Diskusi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5166360"/>
            <a:ext cx="6675120" cy="8686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2926080" y="5230368"/>
            <a:ext cx="6309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Fakultas Peternakan  ·  Universitas Mulawarman  ·  Samarinda, Kalimantan Timur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577840"/>
            <a:ext cx="6309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unmul.ac.id  ·  Smart Livestock Farming Project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3316</Words>
  <Application>Microsoft Office PowerPoint</Application>
  <PresentationFormat>Custom</PresentationFormat>
  <Paragraphs>470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 Prafanto</cp:lastModifiedBy>
  <cp:revision>8</cp:revision>
  <dcterms:created xsi:type="dcterms:W3CDTF">2013-01-27T09:14:16Z</dcterms:created>
  <dcterms:modified xsi:type="dcterms:W3CDTF">2026-05-21T22:41:34Z</dcterms:modified>
  <cp:category/>
</cp:coreProperties>
</file>